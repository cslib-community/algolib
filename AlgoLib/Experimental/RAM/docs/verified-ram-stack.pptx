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1.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2.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3.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3d5f70913d648b4" /><Relationship Type="http://schemas.openxmlformats.org/officeDocument/2006/relationships/extended-properties" Target="/docProps/app.xml" Id="R2d2058e2bb484ceb" /><Relationship Type="http://schemas.openxmlformats.org/officeDocument/2006/relationships/officeDocument" Target="/ppt/presentation.xml" Id="R0fb45974256346e4"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155ce8bebc664a9f"/>
  </p:sldMasterIdLst>
  <p:notesMasterIdLst>
    <p:notesMasterId xmlns:r="http://schemas.openxmlformats.org/officeDocument/2006/relationships" r:id="R2efbffeefd354a66"/>
  </p:notesMasterIdLst>
  <p:sldIdLst>
    <p:sldId xmlns:r="http://schemas.openxmlformats.org/officeDocument/2006/relationships" id="256" r:id="R8f47fc419c1848a3"/>
    <p:sldId xmlns:r="http://schemas.openxmlformats.org/officeDocument/2006/relationships" id="257" r:id="Rad1b04fd18dc4473"/>
    <p:sldId xmlns:r="http://schemas.openxmlformats.org/officeDocument/2006/relationships" id="258" r:id="R715d9709abaa4a13"/>
    <p:sldId xmlns:r="http://schemas.openxmlformats.org/officeDocument/2006/relationships" id="259" r:id="R830bef0d7d5d4665"/>
    <p:sldId xmlns:r="http://schemas.openxmlformats.org/officeDocument/2006/relationships" id="260" r:id="Recb80dd7cea04d64"/>
    <p:sldId xmlns:r="http://schemas.openxmlformats.org/officeDocument/2006/relationships" id="261" r:id="R4aee96bad884470d"/>
    <p:sldId xmlns:r="http://schemas.openxmlformats.org/officeDocument/2006/relationships" id="262" r:id="R2b46073742454499"/>
    <p:sldId xmlns:r="http://schemas.openxmlformats.org/officeDocument/2006/relationships" id="263" r:id="Rf5c10f43855740d2"/>
    <p:sldId xmlns:r="http://schemas.openxmlformats.org/officeDocument/2006/relationships" id="264" r:id="Rfae099534c374325"/>
    <p:sldId xmlns:r="http://schemas.openxmlformats.org/officeDocument/2006/relationships" id="265" r:id="Ra3f4250a88c44a47"/>
    <p:sldId xmlns:r="http://schemas.openxmlformats.org/officeDocument/2006/relationships" id="266" r:id="Rb52d871376214636"/>
    <p:sldId xmlns:r="http://schemas.openxmlformats.org/officeDocument/2006/relationships" id="267" r:id="R43cda8aa75644d1d"/>
    <p:sldId xmlns:r="http://schemas.openxmlformats.org/officeDocument/2006/relationships" id="268" r:id="R3d6c47a63cee4193"/>
    <p:sldId xmlns:r="http://schemas.openxmlformats.org/officeDocument/2006/relationships" id="269" r:id="R9eff4fdc683d4923"/>
    <p:sldId xmlns:r="http://schemas.openxmlformats.org/officeDocument/2006/relationships" id="270" r:id="R582ca6f1d2ee4258"/>
    <p:sldId xmlns:r="http://schemas.openxmlformats.org/officeDocument/2006/relationships" id="271" r:id="R71cc96c8faf74216"/>
    <p:sldId xmlns:r="http://schemas.openxmlformats.org/officeDocument/2006/relationships" id="272" r:id="R3d2e868c4b1f4fd7"/>
    <p:sldId xmlns:r="http://schemas.openxmlformats.org/officeDocument/2006/relationships" id="273" r:id="R336249f5b16d4d2a"/>
    <p:sldId xmlns:r="http://schemas.openxmlformats.org/officeDocument/2006/relationships" id="274" r:id="R0ed34fad66654824"/>
    <p:sldId xmlns:r="http://schemas.openxmlformats.org/officeDocument/2006/relationships" id="275" r:id="Red2022ddc69b4cd5"/>
    <p:sldId xmlns:r="http://schemas.openxmlformats.org/officeDocument/2006/relationships" id="276" r:id="Rcc984ddb6409465c"/>
    <p:sldId xmlns:r="http://schemas.openxmlformats.org/officeDocument/2006/relationships" id="277" r:id="Rf4ab1cb32a4a4d97"/>
    <p:sldId xmlns:r="http://schemas.openxmlformats.org/officeDocument/2006/relationships" id="278" r:id="R4d32b657c6d34871"/>
    <p:sldId xmlns:r="http://schemas.openxmlformats.org/officeDocument/2006/relationships" id="279" r:id="R9a988072fbd7493b"/>
    <p:sldId xmlns:r="http://schemas.openxmlformats.org/officeDocument/2006/relationships" id="280" r:id="Re66cf6b5856b46c9"/>
    <p:sldId xmlns:r="http://schemas.openxmlformats.org/officeDocument/2006/relationships" id="281" r:id="Re71156507e474d62"/>
  </p:sldIdLst>
  <p:sldSz cx="12192000" cy="6858000"/>
  <p:notesSz cx="6858000" cy="9144000"/>
  <p:embeddedFontLst>
    <p:embeddedFont>
      <p:font typeface="OpenAI Sans"/>
      <p:regular xmlns:r="http://schemas.openxmlformats.org/officeDocument/2006/relationships" r:id="R8a08ddeb81444576"/>
      <p:bold xmlns:r="http://schemas.openxmlformats.org/officeDocument/2006/relationships" r:id="Re9b70f4e231a4b20"/>
      <p:italic xmlns:r="http://schemas.openxmlformats.org/officeDocument/2006/relationships" r:id="R49c289ae3bc3474a"/>
      <p:boldItalic xmlns:r="http://schemas.openxmlformats.org/officeDocument/2006/relationships" r:id="R39c8dc803a584931"/>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514efbb33ad4ea4" /><Relationship Type="http://schemas.openxmlformats.org/officeDocument/2006/relationships/slideMaster" Target="/ppt/slideMasters/slideMaster1.xml" Id="R155ce8bebc664a9f" /><Relationship Type="http://schemas.openxmlformats.org/officeDocument/2006/relationships/notesMaster" Target="/ppt/notesMasters/notesMaster1.xml" Id="R2efbffeefd354a66" /><Relationship Type="http://schemas.openxmlformats.org/officeDocument/2006/relationships/presProps" Target="/ppt/presProps.xml" Id="R0b5dc0dd8c884114" /><Relationship Type="http://schemas.openxmlformats.org/officeDocument/2006/relationships/viewProps" Target="/ppt/viewProps.xml" Id="R9eb86b4fba794ee2" /><Relationship Type="http://schemas.openxmlformats.org/officeDocument/2006/relationships/tableStyles" Target="/ppt/tableStyles.xml" Id="R3656642248a84129" /><Relationship Type="http://schemas.openxmlformats.org/officeDocument/2006/relationships/font" Target="/ppt/fonts/font.dat" Id="R8a08ddeb81444576" /><Relationship Type="http://schemas.openxmlformats.org/officeDocument/2006/relationships/font" Target="/ppt/fonts/font2.dat" Id="Re9b70f4e231a4b20" /><Relationship Type="http://schemas.openxmlformats.org/officeDocument/2006/relationships/font" Target="/ppt/fonts/font3.dat" Id="R49c289ae3bc3474a" /><Relationship Type="http://schemas.openxmlformats.org/officeDocument/2006/relationships/font" Target="/ppt/fonts/font4.dat" Id="R39c8dc803a584931" /><Relationship Type="http://schemas.openxmlformats.org/officeDocument/2006/relationships/slide" Target="/ppt/slides/slide1.xml" Id="R8f47fc419c1848a3" /><Relationship Type="http://schemas.openxmlformats.org/officeDocument/2006/relationships/slide" Target="/ppt/slides/slide2.xml" Id="Rad1b04fd18dc4473" /><Relationship Type="http://schemas.openxmlformats.org/officeDocument/2006/relationships/slide" Target="/ppt/slides/slide3.xml" Id="R715d9709abaa4a13" /><Relationship Type="http://schemas.openxmlformats.org/officeDocument/2006/relationships/slide" Target="/ppt/slides/slide4.xml" Id="R830bef0d7d5d4665" /><Relationship Type="http://schemas.openxmlformats.org/officeDocument/2006/relationships/slide" Target="/ppt/slides/slide5.xml" Id="Recb80dd7cea04d64" /><Relationship Type="http://schemas.openxmlformats.org/officeDocument/2006/relationships/slide" Target="/ppt/slides/slide6.xml" Id="R4aee96bad884470d" /><Relationship Type="http://schemas.openxmlformats.org/officeDocument/2006/relationships/slide" Target="/ppt/slides/slide7.xml" Id="R2b46073742454499" /><Relationship Type="http://schemas.openxmlformats.org/officeDocument/2006/relationships/slide" Target="/ppt/slides/slide8.xml" Id="Rf5c10f43855740d2" /><Relationship Type="http://schemas.openxmlformats.org/officeDocument/2006/relationships/slide" Target="/ppt/slides/slide9.xml" Id="Rfae099534c374325" /><Relationship Type="http://schemas.openxmlformats.org/officeDocument/2006/relationships/slide" Target="/ppt/slides/slide10.xml" Id="Ra3f4250a88c44a47" /><Relationship Type="http://schemas.openxmlformats.org/officeDocument/2006/relationships/slide" Target="/ppt/slides/slide11.xml" Id="Rb52d871376214636" /><Relationship Type="http://schemas.openxmlformats.org/officeDocument/2006/relationships/slide" Target="/ppt/slides/slide12.xml" Id="R43cda8aa75644d1d" /><Relationship Type="http://schemas.openxmlformats.org/officeDocument/2006/relationships/slide" Target="/ppt/slides/slide13.xml" Id="R3d6c47a63cee4193" /><Relationship Type="http://schemas.openxmlformats.org/officeDocument/2006/relationships/slide" Target="/ppt/slides/slide14.xml" Id="R9eff4fdc683d4923" /><Relationship Type="http://schemas.openxmlformats.org/officeDocument/2006/relationships/slide" Target="/ppt/slides/slide15.xml" Id="R582ca6f1d2ee4258" /><Relationship Type="http://schemas.openxmlformats.org/officeDocument/2006/relationships/slide" Target="/ppt/slides/slide16.xml" Id="R71cc96c8faf74216" /><Relationship Type="http://schemas.openxmlformats.org/officeDocument/2006/relationships/slide" Target="/ppt/slides/slide17.xml" Id="R3d2e868c4b1f4fd7" /><Relationship Type="http://schemas.openxmlformats.org/officeDocument/2006/relationships/slide" Target="/ppt/slides/slide18.xml" Id="R336249f5b16d4d2a" /><Relationship Type="http://schemas.openxmlformats.org/officeDocument/2006/relationships/slide" Target="/ppt/slides/slide19.xml" Id="R0ed34fad66654824" /><Relationship Type="http://schemas.openxmlformats.org/officeDocument/2006/relationships/slide" Target="/ppt/slides/slide20.xml" Id="Red2022ddc69b4cd5" /><Relationship Type="http://schemas.openxmlformats.org/officeDocument/2006/relationships/slide" Target="/ppt/slides/slide21.xml" Id="Rcc984ddb6409465c" /><Relationship Type="http://schemas.openxmlformats.org/officeDocument/2006/relationships/slide" Target="/ppt/slides/slide22.xml" Id="Rf4ab1cb32a4a4d97" /><Relationship Type="http://schemas.openxmlformats.org/officeDocument/2006/relationships/slide" Target="/ppt/slides/slide23.xml" Id="R4d32b657c6d34871" /><Relationship Type="http://schemas.openxmlformats.org/officeDocument/2006/relationships/slide" Target="/ppt/slides/slide24.xml" Id="R9a988072fbd7493b" /><Relationship Type="http://schemas.openxmlformats.org/officeDocument/2006/relationships/slide" Target="/ppt/slides/slide25.xml" Id="Re66cf6b5856b46c9" /><Relationship Type="http://schemas.openxmlformats.org/officeDocument/2006/relationships/slide" Target="/ppt/slides/slide26.xml" Id="Re71156507e474d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a02acbf110f4e0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f63a9925a94739" /><Relationship Type="http://schemas.openxmlformats.org/officeDocument/2006/relationships/notesMaster" Target="/ppt/notesMasters/notesMaster1.xml" Id="R75bbe0aa9bdf46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4e8c4d014d404e" /><Relationship Type="http://schemas.openxmlformats.org/officeDocument/2006/relationships/notesMaster" Target="/ppt/notesMasters/notesMaster1.xml" Id="R59260a5b5ca64c8d"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ac0d04ec354441" /><Relationship Type="http://schemas.openxmlformats.org/officeDocument/2006/relationships/notesMaster" Target="/ppt/notesMasters/notesMaster1.xml" Id="R9b057e6b965940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d6bb549e7dec4792" /><Relationship Type="http://schemas.openxmlformats.org/officeDocument/2006/relationships/notesMaster" Target="/ppt/notesMasters/notesMaster1.xml" Id="R44cc52bda2d148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ae55b634663c4a36" /><Relationship Type="http://schemas.openxmlformats.org/officeDocument/2006/relationships/notesMaster" Target="/ppt/notesMasters/notesMaster1.xml" Id="R384d914ebefa41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72472fd0fce9438a" /><Relationship Type="http://schemas.openxmlformats.org/officeDocument/2006/relationships/notesMaster" Target="/ppt/notesMasters/notesMaster1.xml" Id="Rd63979a4c7c5463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1d1a16760fc4c49" /><Relationship Type="http://schemas.openxmlformats.org/officeDocument/2006/relationships/notesMaster" Target="/ppt/notesMasters/notesMaster1.xml" Id="R792665caaa57416e" /></Relationships>
</file>

<file path=ppt/notesSlides/_rels/notesSlide8.xml.rels>&#65279;<?xml version="1.0" encoding="utf-8"?><Relationships xmlns="http://schemas.openxmlformats.org/package/2006/relationships"><Relationship Type="http://schemas.openxmlformats.org/officeDocument/2006/relationships/slide" Target="/ppt/slides/slide8.xml" Id="R9d36ad9653ce4187" /><Relationship Type="http://schemas.openxmlformats.org/officeDocument/2006/relationships/notesMaster" Target="/ppt/notesMasters/notesMaster1.xml" Id="Rcb0bc89ad5d8444f" /></Relationships>
</file>

<file path=ppt/notesSlides/_rels/notesSlide9.xml.rels>&#65279;<?xml version="1.0" encoding="utf-8"?><Relationships xmlns="http://schemas.openxmlformats.org/package/2006/relationships"><Relationship Type="http://schemas.openxmlformats.org/officeDocument/2006/relationships/slide" Target="/ppt/slides/slide9.xml" Id="Rb665e59f28ca4aca" /><Relationship Type="http://schemas.openxmlformats.org/officeDocument/2006/relationships/notesMaster" Target="/ppt/notesMasters/notesMaster1.xml" Id="R2794e0c3ad3f47d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4f4698659b34868" /><Relationship Type="http://schemas.openxmlformats.org/officeDocument/2006/relationships/notesMaster" Target="/ppt/notesMasters/notesMaster1.xml" Id="R1eb9ddabc90343a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132025d74b446f9" /><Relationship Type="http://schemas.openxmlformats.org/officeDocument/2006/relationships/notesMaster" Target="/ppt/notesMasters/notesMaster1.xml" Id="Rbd55695c7c264bb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94990ef00df4825" /><Relationship Type="http://schemas.openxmlformats.org/officeDocument/2006/relationships/notesMaster" Target="/ppt/notesMasters/notesMaster1.xml" Id="Rb0511cf27b30428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87a7e352a3f4c2e" /><Relationship Type="http://schemas.openxmlformats.org/officeDocument/2006/relationships/notesMaster" Target="/ppt/notesMasters/notesMaster1.xml" Id="R436129c29afa48a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8af3f360f204b6a" /><Relationship Type="http://schemas.openxmlformats.org/officeDocument/2006/relationships/notesMaster" Target="/ppt/notesMasters/notesMaster1.xml" Id="R721f8eb2864e41b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bee52d60e894b2a" /><Relationship Type="http://schemas.openxmlformats.org/officeDocument/2006/relationships/notesMaster" Target="/ppt/notesMasters/notesMaster1.xml" Id="R6854a6f7d51b407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3e18d31fe3f453f" /><Relationship Type="http://schemas.openxmlformats.org/officeDocument/2006/relationships/notesMaster" Target="/ppt/notesMasters/notesMaster1.xml" Id="R836af506cdb342d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a01f843f21c403c" /><Relationship Type="http://schemas.openxmlformats.org/officeDocument/2006/relationships/notesMaster" Target="/ppt/notesMasters/notesMaster1.xml" Id="R070bfcc556c6420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86a6ce153cb4a24" /><Relationship Type="http://schemas.openxmlformats.org/officeDocument/2006/relationships/notesMaster" Target="/ppt/notesMasters/notesMaster1.xml" Id="Rddafe0940afb430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6e28361b1a441f2" /><Relationship Type="http://schemas.openxmlformats.org/officeDocument/2006/relationships/notesMaster" Target="/ppt/notesMasters/notesMaster1.xml" Id="Ra3c5a00cacde462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d96a70e7ba6441f" /><Relationship Type="http://schemas.openxmlformats.org/officeDocument/2006/relationships/notesMaster" Target="/ppt/notesMasters/notesMaster1.xml" Id="Ra8724907903a483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7768a9b45fa4dbc" /><Relationship Type="http://schemas.openxmlformats.org/officeDocument/2006/relationships/notesMaster" Target="/ppt/notesMasters/notesMaster1.xml" Id="Rebf22c389e1a4ed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6ec630239854727" /><Relationship Type="http://schemas.openxmlformats.org/officeDocument/2006/relationships/notesMaster" Target="/ppt/notesMasters/notesMaster1.xml" Id="R2365144230fe4d2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dea902803d4482e" /><Relationship Type="http://schemas.openxmlformats.org/officeDocument/2006/relationships/notesMaster" Target="/ppt/notesMasters/notesMaster1.xml" Id="R800f436b49ba4b3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0b66861fc6c4971" /><Relationship Type="http://schemas.openxmlformats.org/officeDocument/2006/relationships/notesMaster" Target="/ppt/notesMasters/notesMaster1.xml" Id="R7823e9cf806e413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9c93708395a4625" /><Relationship Type="http://schemas.openxmlformats.org/officeDocument/2006/relationships/notesMaster" Target="/ppt/notesMasters/notesMaster1.xml" Id="R29a246b4ef014e4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984cdefe7404eaf" /><Relationship Type="http://schemas.openxmlformats.org/officeDocument/2006/relationships/notesMaster" Target="/ppt/notesMasters/notesMaster1.xml" Id="R154d95bdbb944b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public import: AlgoLib.Experimental.RAM. The two complete algorithms execute the compiled typed DSL.</a:t>
            </a:r>
            <a:endParaRPr/>
          </a:p>
          <a:p xmlns:a="http://schemas.openxmlformats.org/drawingml/2006/main">
            <a:r>
              <a:t/>
            </a:r>
            <a:endParaRPr/>
          </a:p>
          <a:p xmlns:a="http://schemas.openxmlformats.org/drawingml/2006/main">
            <a:r>
              <a:t>Source: https://github.com/cslib-community/AlgoLib/blob/experimental-RAM-model/AlgoLib/Experimental/RAM/README.md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refactor removes the shallow cost monad and specialized BFS frontend. Instruction certificates are internal proof tools.</a:t>
            </a:r>
            <a:endParaRPr/>
          </a:p>
          <a:p xmlns:a="http://schemas.openxmlformats.org/drawingml/2006/main">
            <a:r>
              <a:t/>
            </a:r>
            <a:endParaRPr/>
          </a:p>
          <a:p xmlns:a="http://schemas.openxmlformats.org/drawingml/2006/main">
            <a:r>
              <a:t>Source: https://github.com/cslib-community/AlgoLib/blob/experimental-RAM-model/AlgoLib/Experimental/RAM/docs/ARCHITECTURE.md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the repository reading routes shown near the end. All paths are relative to AlgoLib/Experimental/RAM.</a:t>
            </a:r>
          </a:p>
          <a:p xmlns:a="http://schemas.openxmlformats.org/drawingml/2006/main">
            <a:r>
              <a:t/>
            </a:r>
          </a:p>
          <a:p xmlns:a="http://schemas.openxmlformats.org/drawingml/2006/main">
            <a:r>
              <a:t>Source: https://github.com/cslib-community/AlgoLib/blob/experimental-RAM-model/AlgoLib/Experimental/RAM/README.md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Unit-cost natural RAM is an explicit modeling convention. Input encoding, host display, and bit costs are excluded.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https://github.com/cslib-community/AlgoLib/blob/experimental-RAM-model/AlgoLib/Experimental/RAM/Core/Machine.lean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Eval is independently defined. Compiler preservation proves observable-store equality and exact cost.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https://github.com/cslib-community/AlgoLib/blob/experimental-RAM-model/AlgoLib/Experimental/RAM/Language/Compiler.lean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Procedures have one typed parameter and one typed result variable. Calls are finite, inlined bodies; recursive procedures and allocation are not implemented.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https://github.com/cslib-community/AlgoLib/blob/experimental-RAM-model/AlgoLib/Experimental/RAM/Language/Basic.lean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Library.Sequences supplies fixed-capacity arrays for queues and stacks. GraphMemory supplies the linked representation used by BFS. Graph supplies a separate CSR interface; BFS is not yet ported to CSR.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https://github.com/cslib-community/AlgoLib/blob/experimental-RAM-model/AlgoLib/Experimental/RAM/Library/Sequences.lean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Ghost computations are unrestricted mathematical definitions but cannot occur as arbitrary host callbacks in Cmd or Instr.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https://github.com/cslib-community/AlgoLib/blob/experimental-RAM-model/AlgoLib/Experimental/RAM/Language/Basic.lean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source VCG includes guard costs. A strictly decreasing natural credit yields total correctness and hence a termination witness.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https://github.com/cslib-community/AlgoLib/blob/experimental-RAM-model/AlgoLib/Experimental/RAM/Language/VC.lean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VC.complete and Contract.vc let an existing semantic contract discharge the generated VCs. This is proof reuse, not automatic invariant inference.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https://github.com/cslib-community/AlgoLib/blob/experimental-RAM-model/AlgoLib/Experimental/RAM/Language/VC.lean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full demos currently use internal instruction certificates lifted to typed source. Normalization checks sequencing structure; lift_correct pays expression costs. Method.run still executes only the ordinary source compiler.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https://github.com/cslib-community/AlgoLib/blob/experimental-RAM-model/AlgoLib/Experimental/RAM/Language/Refinement.lean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Proof soundness depends on the Lean kernel and the imported mathematical library. Inspect the checked theorem statements and run the repository tests.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https://github.com/cslib-community/AlgoLib/blob/experimental-RAM-model/AlgoLib/Experimental/RAM/docs/PRINCIPLES.md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Array contracts include bounds and frames. Queue contracts include capacity and register separation. Pointer typing is not a separation logic or an automatic alias analysis.</a:t>
            </a:r>
          </a:p>
          <a:p xmlns:a="http://schemas.openxmlformats.org/drawingml/2006/main">
            <a:r>
              <a:t/>
            </a:r>
          </a:p>
          <a:p xmlns:a="http://schemas.openxmlformats.org/drawingml/2006/main">
            <a:r>
              <a:t>Source: https://github.com/cslib-community/AlgoLib/blob/experimental-RAM-model/AlgoLib/Experimental/RAM/Library/GraphMemory.lean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Exact declarations and namespaces are indexed in docs/ARCHITECTURE.md. The source compilation and runner theorems carry the exact cost; algorithm theorems supply upper bounds.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https://github.com/cslib-community/AlgoLib/blob/experimental-RAM-model/AlgoLib/Experimental/RAM/docs/ARCHITECTURE.md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complete algorithm sorts a suffix from right to left. Correctness includes sortedness, permutation, and frame. Bound: 20n²+40n+10; 70n² for n≥1.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https://github.com/cslib-community/AlgoLib/blob/experimental-RAM-model/AlgoLib/Experimental/RAM/Algorithms/InsertionSort.lean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BFS processes linked adjacency rows. The source is valid even when the graph is disconnected. It returns exactly the source component.</a:t>
            </a:r>
          </a:p>
          <a:p xmlns:a="http://schemas.openxmlformats.org/drawingml/2006/main">
            <a:r>
              <a:t/>
            </a:r>
          </a:p>
          <a:p xmlns:a="http://schemas.openxmlformats.org/drawingml/2006/main">
            <a:r>
              <a:t>Source: https://github.com/cslib-community/AlgoLib/blob/experimental-RAM-model/AlgoLib/Experimental/RAM/Proofs/BFS.lean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Runtime path: Cmd.compile produces Code; Runner uses a termination witness. Proof path: VC.sound establishes Eval, then Eval.compile establishes Exec. Public output decodes the final observable store.</a:t>
            </a:r>
          </a:p>
          <a:p xmlns:a="http://schemas.openxmlformats.org/drawingml/2006/main">
            <a:r>
              <a:t/>
            </a:r>
          </a:p>
          <a:p xmlns:a="http://schemas.openxmlformats.org/drawingml/2006/main">
            <a:r>
              <a:t>Source: https://github.com/cslib-community/AlgoLib/blob/experimental-RAM-model/AlgoLib/Experimental/RAM/Language/Verification.lean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Represents connects adjacency membership to Graph edges. GraphBridge proves equivalence with the repository’s graph reachability/connectivity relations. Loops and labelled parallel edges are supported.</a:t>
            </a:r>
          </a:p>
          <a:p xmlns:a="http://schemas.openxmlformats.org/drawingml/2006/main">
            <a:r>
              <a:t/>
            </a:r>
          </a:p>
          <a:p xmlns:a="http://schemas.openxmlformats.org/drawingml/2006/main">
            <a:r>
              <a:t>Source: https://github.com/cslib-community/AlgoLib/blob/experimental-RAM-model/AlgoLib/Experimental/RAM/Specification/GraphBridge.lean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Instruction potential is Σ over unprocessed vertices of (8 + 16 degree(v)). Initial total is 8n + 16 entries ≤ 8n + 32m. Initialization is added. The adapter yields source bound 65n + 160m + 45.</a:t>
            </a:r>
          </a:p>
          <a:p xmlns:a="http://schemas.openxmlformats.org/drawingml/2006/main">
            <a:r>
              <a:t/>
            </a:r>
          </a:p>
          <a:p xmlns:a="http://schemas.openxmlformats.org/drawingml/2006/main">
            <a:r>
              <a:t>Source: https://github.com/cslib-community/AlgoLib/blob/experimental-RAM-model/AlgoLib/Experimental/RAM/Proofs/BFS.lean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lifted primitive costs are move 2, binary operation 4, load 5, store 5. Certificate instruction costs are one each. This comparison describes the proof adapter; it is not a compiler optimization benchmark.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https://github.com/cslib-community/AlgoLib/blob/experimental-RAM-model/AlgoLib/Experimental/RAM/Language/Refinement.lean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Bounds computed at n=1,2,4,8: general [70,170,490,1610]; simplified [70,280,1120,4480]. No timing measurements are plotted.</a:t>
            </a:r>
          </a:p>
          <a:p xmlns:a="http://schemas.openxmlformats.org/drawingml/2006/main">
            <a:r>
              <a:t/>
            </a:r>
          </a:p>
          <a:p xmlns:a="http://schemas.openxmlformats.org/drawingml/2006/main">
            <a:r>
              <a:t>Source: https://github.com/cslib-community/AlgoLib/blob/experimental-RAM-model/AlgoLib/Experimental/RAM/Algorithms/InsertionSort.lean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Graphs: singleton (n=1,m=0), path (4,3), split (4,2), multigraph (3,5). General bounds [110,785,625,1040]; uniform [160,1120,960,1280]. Input encoding excluded.</a:t>
            </a:r>
          </a:p>
          <a:p xmlns:a="http://schemas.openxmlformats.org/drawingml/2006/main">
            <a:r>
              <a:t/>
            </a:r>
          </a:p>
          <a:p xmlns:a="http://schemas.openxmlformats.org/drawingml/2006/main">
            <a:r>
              <a:t>Source: https://github.com/cslib-community/AlgoLib/blob/experimental-RAM-model/AlgoLib/Experimental/RAM/Algorithms/BFS.lean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BFS always returns all reachable vertices. Its output equals the whole vertex set iff the graph is connected, assuming a valid source. Enumerating or testing all output flags has an additional linear host cost outside run.steps.</a:t>
            </a:r>
          </a:p>
          <a:p xmlns:a="http://schemas.openxmlformats.org/drawingml/2006/main">
            <a:r>
              <a:t/>
            </a:r>
          </a:p>
          <a:p xmlns:a="http://schemas.openxmlformats.org/drawingml/2006/main">
            <a:r>
              <a:t>Source: https://github.com/cslib-community/AlgoLib/blob/experimental-RAM-model/AlgoLib/Experimental/RAM/Algorithms/Examples.lean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Dependency spans express logical responsibilities, not project dates. Specifications support library representations; source VCs plus invariant proofs establish contracts; compiler and runner connect contracts to returned execution.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https://github.com/cslib-community/AlgoLib/blob/experimental-RAM-model/AlgoLib/Experimental/RAM/docs/ARCHITECTURE.md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Public programs: Algorithms/InsertionSort.lean and Algorithms/BFS.lean. Examples has executable clients; Tests includes exhaustive small graph checks and bounded sorting inputs. docs includes architecture, principles, and migration.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https://github.com/cslib-community/AlgoLib/blob/experimental-RAM-model/AlgoLib/Experimental/RAM/README.md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Import AlgoLib.Experimental.RAM and run lake build. Read README, Algorithms/Examples, then the matching correctness and ram_correct theorem.</a:t>
            </a:r>
            <a:endParaRPr/>
          </a:p>
          <a:p xmlns:a="http://schemas.openxmlformats.org/drawingml/2006/main">
            <a:r>
              <a:t/>
            </a:r>
            <a:endParaRPr/>
          </a:p>
          <a:p xmlns:a="http://schemas.openxmlformats.org/drawingml/2006/main">
            <a:r>
              <a:t>Source: https://github.com/cslib-community/AlgoLib/blob/experimental-RAM-model/AlgoLib/Experimental/RAM/README.md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ac8a9366d9c4e2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203a6fe491a4b5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0c88510cf4447d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e44099a84d24fb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2fdf00c135d4ba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0553a54f9f3476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b721fa383d5442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4f2ae6ce69bf4f81"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5cda33952f44cc4" /><Relationship Type="http://schemas.openxmlformats.org/officeDocument/2006/relationships/slideLayout" Target="/ppt/slideLayouts/slideLayout1.xml" Id="Re14d65055aa344af" /><Relationship Type="http://schemas.openxmlformats.org/officeDocument/2006/relationships/slideLayout" Target="/ppt/slideLayouts/slideLayout2.xml" Id="Rdf50716fe33b4f6a" /><Relationship Type="http://schemas.openxmlformats.org/officeDocument/2006/relationships/slideLayout" Target="/ppt/slideLayouts/slideLayout3.xml" Id="R77bc45c342684d77" /><Relationship Type="http://schemas.openxmlformats.org/officeDocument/2006/relationships/slideLayout" Target="/ppt/slideLayouts/slideLayout4.xml" Id="Re01d94aa08ce4b8a" /><Relationship Type="http://schemas.openxmlformats.org/officeDocument/2006/relationships/slideLayout" Target="/ppt/slideLayouts/slideLayout5.xml" Id="Raccc262acdfa4c80" /><Relationship Type="http://schemas.openxmlformats.org/officeDocument/2006/relationships/slideLayout" Target="/ppt/slideLayouts/slideLayout6.xml" Id="Rf6303e7f626242d7" /><Relationship Type="http://schemas.openxmlformats.org/officeDocument/2006/relationships/slideLayout" Target="/ppt/slideLayouts/slideLayout7.xml" Id="R7d9e688f236645b1" /><Relationship Type="http://schemas.openxmlformats.org/officeDocument/2006/relationships/slideLayout" Target="/ppt/slideLayouts/slideLayout8.xml" Id="R92524ae1d29f490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e14d65055aa344af"/>
    <p:sldLayoutId xmlns:r="http://schemas.openxmlformats.org/officeDocument/2006/relationships" id="2147483650" r:id="Rdf50716fe33b4f6a"/>
    <p:sldLayoutId xmlns:r="http://schemas.openxmlformats.org/officeDocument/2006/relationships" id="2147483651" r:id="R77bc45c342684d77"/>
    <p:sldLayoutId xmlns:r="http://schemas.openxmlformats.org/officeDocument/2006/relationships" id="2147483652" r:id="Re01d94aa08ce4b8a"/>
    <p:sldLayoutId xmlns:r="http://schemas.openxmlformats.org/officeDocument/2006/relationships" id="2147483653" r:id="Raccc262acdfa4c80"/>
    <p:sldLayoutId xmlns:r="http://schemas.openxmlformats.org/officeDocument/2006/relationships" id="2147483654" r:id="Rf6303e7f626242d7"/>
    <p:sldLayoutId xmlns:r="http://schemas.openxmlformats.org/officeDocument/2006/relationships" id="2147483655" r:id="R7d9e688f236645b1"/>
    <p:sldLayoutId xmlns:r="http://schemas.openxmlformats.org/officeDocument/2006/relationships" id="2147483656" r:id="R92524ae1d29f490f"/>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da137efc8e1403f" /><Relationship Type="http://schemas.openxmlformats.org/officeDocument/2006/relationships/image" Target="/ppt/media/image.png" Id="R25869d7839e0405f" /><Relationship Type="http://schemas.openxmlformats.org/officeDocument/2006/relationships/notesSlide" Target="/ppt/notesSlides/notesSlide1.xml" Id="Re57fe7246aee44d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a31f5d32e624e48" /><Relationship Type="http://schemas.openxmlformats.org/officeDocument/2006/relationships/notesSlide" Target="/ppt/notesSlides/notesSlide2.xml" Id="R3aafbfad91f941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ea3bfa72369479e" /><Relationship Type="http://schemas.openxmlformats.org/officeDocument/2006/relationships/notesSlide" Target="/ppt/notesSlides/notesSlide3.xml" Id="R84cc23721d0841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af704419e50542ea" /><Relationship Type="http://schemas.openxmlformats.org/officeDocument/2006/relationships/notesSlide" Target="/ppt/notesSlides/notesSlide4.xml" Id="Rfce439f6ec6c44b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6ec96b99c974277" /><Relationship Type="http://schemas.openxmlformats.org/officeDocument/2006/relationships/notesSlide" Target="/ppt/notesSlides/notesSlide5.xml" Id="R797b01dc40614c7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058532dbc6e4fe2" /><Relationship Type="http://schemas.openxmlformats.org/officeDocument/2006/relationships/notesSlide" Target="/ppt/notesSlides/notesSlide6.xml" Id="Rec733ef1aa6142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73a4991a2a24798" /><Relationship Type="http://schemas.openxmlformats.org/officeDocument/2006/relationships/notesSlide" Target="/ppt/notesSlides/notesSlide7.xml" Id="R789c7e133ab24cb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e455338d6264a48" /><Relationship Type="http://schemas.openxmlformats.org/officeDocument/2006/relationships/notesSlide" Target="/ppt/notesSlides/notesSlide8.xml" Id="Radfd1348557b47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e4d0d43a4c943a9" /><Relationship Type="http://schemas.openxmlformats.org/officeDocument/2006/relationships/notesSlide" Target="/ppt/notesSlides/notesSlide9.xml" Id="R118d85600b5c49c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c64af05c5894697" /><Relationship Type="http://schemas.openxmlformats.org/officeDocument/2006/relationships/notesSlide" Target="/ppt/notesSlides/notesSlide10.xml" Id="R8f4489c691744e4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6d277d46a4b4048" /><Relationship Type="http://schemas.openxmlformats.org/officeDocument/2006/relationships/notesSlide" Target="/ppt/notesSlides/notesSlide11.xml" Id="Rf16db24cf94d485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037aafe8e9a4be2" /><Relationship Type="http://schemas.openxmlformats.org/officeDocument/2006/relationships/notesSlide" Target="/ppt/notesSlides/notesSlide12.xml" Id="R55ad916f6234426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894352ff69e47b3" /><Relationship Type="http://schemas.openxmlformats.org/officeDocument/2006/relationships/notesSlide" Target="/ppt/notesSlides/notesSlide13.xml" Id="R375db8072170445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9c0431f9a6f4905" /><Relationship Type="http://schemas.openxmlformats.org/officeDocument/2006/relationships/notesSlide" Target="/ppt/notesSlides/notesSlide14.xml" Id="R8eebceaf676647f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bfc84c2aaab4f5e" /><Relationship Type="http://schemas.openxmlformats.org/officeDocument/2006/relationships/notesSlide" Target="/ppt/notesSlides/notesSlide15.xml" Id="R85d75fd39dcf44f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c8b1865b3734bf7" /><Relationship Type="http://schemas.openxmlformats.org/officeDocument/2006/relationships/notesSlide" Target="/ppt/notesSlides/notesSlide16.xml" Id="R8126ad20530e4e1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c83c2d99b0a4523" /><Relationship Type="http://schemas.openxmlformats.org/officeDocument/2006/relationships/notesSlide" Target="/ppt/notesSlides/notesSlide17.xml" Id="Rc06f8c03a0b0488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eae9c6240194ced" /><Relationship Type="http://schemas.openxmlformats.org/officeDocument/2006/relationships/notesSlide" Target="/ppt/notesSlides/notesSlide18.xml" Id="R7c5480506f37497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12a8d8eace94f2a" /><Relationship Type="http://schemas.openxmlformats.org/officeDocument/2006/relationships/notesSlide" Target="/ppt/notesSlides/notesSlide19.xml" Id="Ree265635c705445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6c0bc6f21c34353" /><Relationship Type="http://schemas.openxmlformats.org/officeDocument/2006/relationships/chart" Target="/ppt/slides/charts/chart1.xml" Id="R25118ee5e1b94721" /><Relationship Type="http://schemas.openxmlformats.org/officeDocument/2006/relationships/notesSlide" Target="/ppt/notesSlides/notesSlide20.xml" Id="R54d2ecb21d07482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54bd8587fe34ef6" /><Relationship Type="http://schemas.openxmlformats.org/officeDocument/2006/relationships/chart" Target="/ppt/slides/charts/chart2.xml" Id="Reb310718678f4bd6" /><Relationship Type="http://schemas.openxmlformats.org/officeDocument/2006/relationships/notesSlide" Target="/ppt/notesSlides/notesSlide21.xml" Id="R3c82bfbb35c841a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1cc26f569624378" /><Relationship Type="http://schemas.openxmlformats.org/officeDocument/2006/relationships/chart" Target="/ppt/slides/charts/chart3.xml" Id="R0a71455917714d2f" /><Relationship Type="http://schemas.openxmlformats.org/officeDocument/2006/relationships/notesSlide" Target="/ppt/notesSlides/notesSlide22.xml" Id="R0ac8ab7d641b424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1eeab2323434fad" /><Relationship Type="http://schemas.openxmlformats.org/officeDocument/2006/relationships/notesSlide" Target="/ppt/notesSlides/notesSlide23.xml" Id="Rc2d00f6ee45b4b3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f25e8bb3dbf4b55" /><Relationship Type="http://schemas.openxmlformats.org/officeDocument/2006/relationships/notesSlide" Target="/ppt/notesSlides/notesSlide24.xml" Id="Rc7804e3b36d146e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70f553698d146bc" /><Relationship Type="http://schemas.openxmlformats.org/officeDocument/2006/relationships/notesSlide" Target="/ppt/notesSlides/notesSlide25.xml" Id="R0dbcffe4dbef461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c5c4ebca89449f2" /><Relationship Type="http://schemas.openxmlformats.org/officeDocument/2006/relationships/notesSlide" Target="/ppt/notesSlides/notesSlide26.xml" Id="R1eab21f2ba58447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Certificate</c:v>
          </c:tx>
          <c:spPr>
            <a:solidFill xmlns:a="http://schemas.openxmlformats.org/drawingml/2006/main">
              <a:srgbClr val="66CBEB"/>
            </a:solidFill>
            <a:ln xmlns:a="http://schemas.openxmlformats.org/drawingml/2006/main" w="28575">
              <a:solidFill>
                <a:srgbClr val="66CBEB"/>
              </a:solidFill>
            </a:ln>
          </c:spPr>
          <c:cat>
            <c:strRef>
              <c:f>'Chart Data'!$A$2:$A$5</c:f>
              <c:strCache>
                <c:ptCount val="4"/>
                <c:pt idx="0">
                  <c:v>Move</c:v>
                </c:pt>
                <c:pt idx="1">
                  <c:v>Binary</c:v>
                </c:pt>
                <c:pt idx="2">
                  <c:v>Load</c:v>
                </c:pt>
                <c:pt idx="3">
                  <c:v>Store</c:v>
                </c:pt>
              </c:strCache>
            </c:strRef>
          </c:cat>
          <c:val>
            <c:numRef>
              <c:f>'Chart Data'!$B$2:$B$5</c:f>
              <c:numCache>
                <c:formatCode>0</c:formatCode>
                <c:ptCount val="4"/>
                <c:pt idx="0">
                  <c:v>1</c:v>
                </c:pt>
                <c:pt idx="1">
                  <c:v>1</c:v>
                </c:pt>
                <c:pt idx="2">
                  <c:v>1</c:v>
                </c:pt>
                <c:pt idx="3">
                  <c:v>1</c:v>
                </c:pt>
              </c:numCache>
            </c:numRef>
          </c:val>
        </c:ser>
        <c:ser>
          <c:idx val="1"/>
          <c:order val="1"/>
          <c:tx>
            <c:v>Typed source</c:v>
          </c:tx>
          <c:spPr>
            <a:solidFill xmlns:a="http://schemas.openxmlformats.org/drawingml/2006/main">
              <a:srgbClr val="E2F4FA"/>
            </a:solidFill>
            <a:ln xmlns:a="http://schemas.openxmlformats.org/drawingml/2006/main" w="28575">
              <a:solidFill>
                <a:srgbClr val="E2F4FA"/>
              </a:solidFill>
            </a:ln>
          </c:spPr>
          <c:cat>
            <c:strRef>
              <c:f>'Chart Data'!$C$2:$C$5</c:f>
              <c:strCache>
                <c:ptCount val="4"/>
                <c:pt idx="0">
                  <c:v>Move</c:v>
                </c:pt>
                <c:pt idx="1">
                  <c:v>Binary</c:v>
                </c:pt>
                <c:pt idx="2">
                  <c:v>Load</c:v>
                </c:pt>
                <c:pt idx="3">
                  <c:v>Store</c:v>
                </c:pt>
              </c:strCache>
            </c:strRef>
          </c:cat>
          <c:val>
            <c:numRef>
              <c:f>'Chart Data'!$D$2:$D$5</c:f>
              <c:numCache>
                <c:formatCode>0</c:formatCode>
                <c:ptCount val="4"/>
                <c:pt idx="0">
                  <c:v>2</c:v>
                </c:pt>
                <c:pt idx="1">
                  <c:v>4</c:v>
                </c:pt>
                <c:pt idx="2">
                  <c:v>5</c:v>
                </c:pt>
                <c:pt idx="3">
                  <c:v>5</c:v>
                </c:pt>
              </c:numCache>
            </c:numRef>
          </c:val>
        </c:ser>
        <c:dLbls>
          <c:txPr>
            <a:bodyPr xmlns:a="http://schemas.openxmlformats.org/drawingml/2006/main" anchorCtr="1"/>
            <a:lstStyle xmlns:a="http://schemas.openxmlformats.org/drawingml/2006/main"/>
            <a:p xmlns:a="http://schemas.openxmlformats.org/drawingml/2006/main">
              <a:pPr>
                <a:defRPr sz="1125">
                  <a:solidFill>
                    <a:srgbClr val="FFFFFF"/>
                  </a:solidFil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FFFFFF"/>
            </a:solidFill>
          </a:ln>
        </c:spPr>
        <c:txPr>
          <a:bodyPr xmlns:a="http://schemas.openxmlformats.org/drawingml/2006/main" anchorCtr="1"/>
          <a:lstStyle xmlns:a="http://schemas.openxmlformats.org/drawingml/2006/main"/>
          <a:p xmlns:a="http://schemas.openxmlformats.org/drawingml/2006/main">
            <a:pPr>
              <a:defRPr sz="1125">
                <a:solidFill>
                  <a:srgbClr val="FFFFFF"/>
                </a:solidFill>
              </a:defRPr>
            </a:pPr>
          </a:p>
        </c:txPr>
        <c:crossAx val="48672768"/>
      </c:catAx>
      <c:valAx>
        <c:axId val="48672768"/>
        <c:scaling>
          <c:orientation val="minMax"/>
          <c:max val="6"/>
          <c:min val="0"/>
        </c:scaling>
        <c:delete val="0"/>
        <c:axPos val="l"/>
        <c:majorGridlines>
          <c:spPr>
            <a:ln xmlns:a="http://schemas.openxmlformats.org/drawingml/2006/main" w="4763">
              <a:solidFill>
                <a:srgbClr val="444444"/>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FFFFFF"/>
                </a:solidFill>
              </a:defRPr>
            </a:pPr>
          </a:p>
        </c:txPr>
        <c:crossAx val="48650112"/>
        <c:crossBetween val="between"/>
        <c:majorUnit val="1"/>
      </c:valAx>
      <c:spPr>
        <a:solidFill xmlns:a="http://schemas.openxmlformats.org/drawingml/2006/main">
          <a:srgbClr val="000000"/>
        </a:solidFill>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FFFFFF"/>
              </a:solidFill>
              <a:latin typeface="Helvetica Neue"/>
              <a:ea typeface="Helvetica Neue"/>
              <a:cs typeface="Helvetica Neue"/>
            </a:defRPr>
          </a:pPr>
        </a:p>
      </c:txPr>
    </c:legend>
    <c:plotVisOnly val="1"/>
  </c:chart>
  <c:spPr>
    <a:solidFill xmlns:a="http://schemas.openxmlformats.org/drawingml/2006/main">
      <a:srgbClr val="000000"/>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20n² + 40n + 10</c:v>
          </c:tx>
          <c:spPr>
            <a:solidFill xmlns:a="http://schemas.openxmlformats.org/drawingml/2006/main">
              <a:srgbClr val="66CBEB"/>
            </a:solidFill>
            <a:ln xmlns:a="http://schemas.openxmlformats.org/drawingml/2006/main" w="28575">
              <a:solidFill>
                <a:srgbClr val="66CBEB"/>
              </a:solidFill>
            </a:ln>
          </c:spPr>
          <c:marker>
            <c:symbol val="circle"/>
            <c:size val="5"/>
            <c:spPr>
              <a:solidFill xmlns:a="http://schemas.openxmlformats.org/drawingml/2006/main">
                <a:srgbClr val="66CBEB"/>
              </a:solidFill>
            </c:spPr>
          </c:marker>
          <c:cat>
            <c:numRef>
              <c:f>'Chart Data'!$A$2:$A$5</c:f>
              <c:numCache>
                <c:formatCode>General</c:formatCode>
                <c:ptCount val="4"/>
                <c:pt idx="0">
                  <c:v>1</c:v>
                </c:pt>
                <c:pt idx="1">
                  <c:v>2</c:v>
                </c:pt>
                <c:pt idx="2">
                  <c:v>4</c:v>
                </c:pt>
                <c:pt idx="3">
                  <c:v>8</c:v>
                </c:pt>
              </c:numCache>
            </c:numRef>
          </c:cat>
          <c:val>
            <c:numRef>
              <c:f>'Chart Data'!$B$2:$B$5</c:f>
              <c:numCache>
                <c:formatCode>0</c:formatCode>
                <c:ptCount val="4"/>
                <c:pt idx="0">
                  <c:v>70</c:v>
                </c:pt>
                <c:pt idx="1">
                  <c:v>170</c:v>
                </c:pt>
                <c:pt idx="2">
                  <c:v>490</c:v>
                </c:pt>
                <c:pt idx="3">
                  <c:v>1610</c:v>
                </c:pt>
              </c:numCache>
            </c:numRef>
          </c:val>
        </c:ser>
        <c:ser>
          <c:idx val="1"/>
          <c:order val="1"/>
          <c:tx>
            <c:v>70n²</c:v>
          </c:tx>
          <c:spPr>
            <a:solidFill xmlns:a="http://schemas.openxmlformats.org/drawingml/2006/main">
              <a:srgbClr val="E2F4FA"/>
            </a:solidFill>
            <a:ln xmlns:a="http://schemas.openxmlformats.org/drawingml/2006/main" w="28575">
              <a:solidFill>
                <a:srgbClr val="E2F4FA"/>
              </a:solidFill>
            </a:ln>
          </c:spPr>
          <c:marker>
            <c:symbol val="circle"/>
            <c:size val="5"/>
            <c:spPr>
              <a:solidFill xmlns:a="http://schemas.openxmlformats.org/drawingml/2006/main">
                <a:srgbClr val="E2F4FA"/>
              </a:solidFill>
            </c:spPr>
          </c:marker>
          <c:cat>
            <c:numRef>
              <c:f>'Chart Data'!$C$2:$C$5</c:f>
              <c:numCache>
                <c:formatCode>General</c:formatCode>
                <c:ptCount val="4"/>
                <c:pt idx="0">
                  <c:v>1</c:v>
                </c:pt>
                <c:pt idx="1">
                  <c:v>2</c:v>
                </c:pt>
                <c:pt idx="2">
                  <c:v>4</c:v>
                </c:pt>
                <c:pt idx="3">
                  <c:v>8</c:v>
                </c:pt>
              </c:numCache>
            </c:numRef>
          </c:cat>
          <c:val>
            <c:numRef>
              <c:f>'Chart Data'!$D$2:$D$5</c:f>
              <c:numCache>
                <c:formatCode>0</c:formatCode>
                <c:ptCount val="4"/>
                <c:pt idx="0">
                  <c:v>70</c:v>
                </c:pt>
                <c:pt idx="1">
                  <c:v>280</c:v>
                </c:pt>
                <c:pt idx="2">
                  <c:v>1120</c:v>
                </c:pt>
                <c:pt idx="3">
                  <c:v>4480</c:v>
                </c:pt>
              </c:numCache>
            </c:numRef>
          </c:val>
        </c:ser>
        <c:dLbls>
          <c:txPr>
            <a:bodyPr xmlns:a="http://schemas.openxmlformats.org/drawingml/2006/main" anchorCtr="1"/>
            <a:lstStyle xmlns:a="http://schemas.openxmlformats.org/drawingml/2006/main"/>
            <a:p xmlns:a="http://schemas.openxmlformats.org/drawingml/2006/main">
              <a:pPr>
                <a:defRPr sz="1125">
                  <a:solidFill>
                    <a:srgbClr val="FFFFFF"/>
                  </a:solidFil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FFFFFF"/>
            </a:solidFill>
          </a:ln>
        </c:spPr>
        <c:txPr>
          <a:bodyPr xmlns:a="http://schemas.openxmlformats.org/drawingml/2006/main" anchorCtr="1"/>
          <a:lstStyle xmlns:a="http://schemas.openxmlformats.org/drawingml/2006/main"/>
          <a:p xmlns:a="http://schemas.openxmlformats.org/drawingml/2006/main">
            <a:pPr>
              <a:defRPr sz="1125">
                <a:solidFill>
                  <a:srgbClr val="FFFFFF"/>
                </a:solidFill>
              </a:defRPr>
            </a:pPr>
          </a:p>
        </c:txPr>
        <c:crossAx val="48672768"/>
      </c:catAx>
      <c:valAx>
        <c:axId val="48672768"/>
        <c:scaling>
          <c:orientation val="minMax"/>
          <c:max val="5000"/>
          <c:min val="0"/>
        </c:scaling>
        <c:delete val="0"/>
        <c:axPos val="l"/>
        <c:majorGridlines>
          <c:spPr>
            <a:ln xmlns:a="http://schemas.openxmlformats.org/drawingml/2006/main" w="4763">
              <a:solidFill>
                <a:srgbClr val="444444"/>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FFFFFF"/>
                </a:solidFill>
              </a:defRPr>
            </a:pPr>
          </a:p>
        </c:txPr>
        <c:crossAx val="48650112"/>
        <c:crossBetween val="between"/>
        <c:majorUnit val="1000"/>
      </c:valAx>
      <c:spPr>
        <a:solidFill xmlns:a="http://schemas.openxmlformats.org/drawingml/2006/main">
          <a:srgbClr val="000000"/>
        </a:solidFill>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FFFFFF"/>
              </a:solidFill>
              <a:latin typeface="Helvetica Neue"/>
              <a:ea typeface="Helvetica Neue"/>
              <a:cs typeface="Helvetica Neue"/>
            </a:defRPr>
          </a:pPr>
        </a:p>
      </c:txPr>
    </c:legend>
    <c:plotVisOnly val="1"/>
  </c:chart>
  <c:spPr>
    <a:solidFill xmlns:a="http://schemas.openxmlformats.org/drawingml/2006/main">
      <a:srgbClr val="000000"/>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65n + 160m + 45</c:v>
          </c:tx>
          <c:spPr>
            <a:solidFill xmlns:a="http://schemas.openxmlformats.org/drawingml/2006/main">
              <a:srgbClr val="66CBEB"/>
            </a:solidFill>
            <a:ln xmlns:a="http://schemas.openxmlformats.org/drawingml/2006/main" w="28575">
              <a:solidFill>
                <a:srgbClr val="66CBEB"/>
              </a:solidFill>
            </a:ln>
          </c:spPr>
          <c:cat>
            <c:strRef>
              <c:f>'Chart Data'!$A$2:$A$5</c:f>
              <c:strCache>
                <c:ptCount val="4"/>
                <c:pt idx="0">
                  <c:v>Singleton</c:v>
                </c:pt>
                <c:pt idx="1">
                  <c:v>Path</c:v>
                </c:pt>
                <c:pt idx="2">
                  <c:v>Split</c:v>
                </c:pt>
                <c:pt idx="3">
                  <c:v>Multi</c:v>
                </c:pt>
              </c:strCache>
            </c:strRef>
          </c:cat>
          <c:val>
            <c:numRef>
              <c:f>'Chart Data'!$B$2:$B$5</c:f>
              <c:numCache>
                <c:formatCode>0</c:formatCode>
                <c:ptCount val="4"/>
                <c:pt idx="0">
                  <c:v>110</c:v>
                </c:pt>
                <c:pt idx="1">
                  <c:v>785</c:v>
                </c:pt>
                <c:pt idx="2">
                  <c:v>625</c:v>
                </c:pt>
                <c:pt idx="3">
                  <c:v>1040</c:v>
                </c:pt>
              </c:numCache>
            </c:numRef>
          </c:val>
        </c:ser>
        <c:ser>
          <c:idx val="1"/>
          <c:order val="1"/>
          <c:tx>
            <c:v>160(n+m)</c:v>
          </c:tx>
          <c:spPr>
            <a:solidFill xmlns:a="http://schemas.openxmlformats.org/drawingml/2006/main">
              <a:srgbClr val="E2F4FA"/>
            </a:solidFill>
            <a:ln xmlns:a="http://schemas.openxmlformats.org/drawingml/2006/main" w="28575">
              <a:solidFill>
                <a:srgbClr val="E2F4FA"/>
              </a:solidFill>
            </a:ln>
          </c:spPr>
          <c:cat>
            <c:strRef>
              <c:f>'Chart Data'!$C$2:$C$5</c:f>
              <c:strCache>
                <c:ptCount val="4"/>
                <c:pt idx="0">
                  <c:v>Singleton</c:v>
                </c:pt>
                <c:pt idx="1">
                  <c:v>Path</c:v>
                </c:pt>
                <c:pt idx="2">
                  <c:v>Split</c:v>
                </c:pt>
                <c:pt idx="3">
                  <c:v>Multi</c:v>
                </c:pt>
              </c:strCache>
            </c:strRef>
          </c:cat>
          <c:val>
            <c:numRef>
              <c:f>'Chart Data'!$D$2:$D$5</c:f>
              <c:numCache>
                <c:formatCode>0</c:formatCode>
                <c:ptCount val="4"/>
                <c:pt idx="0">
                  <c:v>160</c:v>
                </c:pt>
                <c:pt idx="1">
                  <c:v>1120</c:v>
                </c:pt>
                <c:pt idx="2">
                  <c:v>960</c:v>
                </c:pt>
                <c:pt idx="3">
                  <c:v>1280</c:v>
                </c:pt>
              </c:numCache>
            </c:numRef>
          </c:val>
        </c:ser>
        <c:dLbls>
          <c:txPr>
            <a:bodyPr xmlns:a="http://schemas.openxmlformats.org/drawingml/2006/main" anchorCtr="1"/>
            <a:lstStyle xmlns:a="http://schemas.openxmlformats.org/drawingml/2006/main"/>
            <a:p xmlns:a="http://schemas.openxmlformats.org/drawingml/2006/main">
              <a:pPr>
                <a:defRPr sz="1125">
                  <a:solidFill>
                    <a:srgbClr val="FFFFFF"/>
                  </a:solidFill>
                </a:defRPr>
              </a:pPr>
            </a:p>
          </c:txPr>
          <c:dLblPos val="outEnd"/>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FFFFFF"/>
            </a:solidFill>
          </a:ln>
        </c:spPr>
        <c:txPr>
          <a:bodyPr xmlns:a="http://schemas.openxmlformats.org/drawingml/2006/main" anchorCtr="1"/>
          <a:lstStyle xmlns:a="http://schemas.openxmlformats.org/drawingml/2006/main"/>
          <a:p xmlns:a="http://schemas.openxmlformats.org/drawingml/2006/main">
            <a:pPr>
              <a:defRPr sz="1125">
                <a:solidFill>
                  <a:srgbClr val="FFFFFF"/>
                </a:solidFill>
              </a:defRPr>
            </a:pPr>
          </a:p>
        </c:txPr>
        <c:crossAx val="48672768"/>
      </c:catAx>
      <c:valAx>
        <c:axId val="48672768"/>
        <c:scaling>
          <c:orientation val="minMax"/>
          <c:max val="1400"/>
          <c:min val="0"/>
        </c:scaling>
        <c:delete val="0"/>
        <c:axPos val="l"/>
        <c:majorGridlines>
          <c:spPr>
            <a:ln xmlns:a="http://schemas.openxmlformats.org/drawingml/2006/main" w="4763">
              <a:solidFill>
                <a:srgbClr val="444444"/>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FFFFFF"/>
                </a:solidFill>
              </a:defRPr>
            </a:pPr>
          </a:p>
        </c:txPr>
        <c:crossAx val="48650112"/>
        <c:crossBetween val="between"/>
        <c:majorUnit val="200"/>
      </c:valAx>
      <c:spPr>
        <a:solidFill xmlns:a="http://schemas.openxmlformats.org/drawingml/2006/main">
          <a:srgbClr val="000000"/>
        </a:solidFill>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FFFFFF"/>
              </a:solidFill>
              <a:latin typeface="Helvetica Neue"/>
              <a:ea typeface="Helvetica Neue"/>
              <a:cs typeface="Helvetica Neue"/>
            </a:defRPr>
          </a:pPr>
        </a:p>
      </c:txPr>
    </c:legend>
    <c:plotVisOnly val="1"/>
  </c:chart>
  <c:spPr>
    <a:solidFill xmlns:a="http://schemas.openxmlformats.org/drawingml/2006/main">
      <a:srgbClr val="000000"/>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415733" y="1907316"/>
            <a:ext cx="7174888" cy="2491490"/>
          </a:xfrm>
        </p:spPr>
        <p:txBody>
          <a:bodyPr xmlns:a="http://schemas.openxmlformats.org/drawingml/2006/main" anchor="ctr">
            <a:noAutofit/>
          </a:bodyPr>
          <a:lstStyle xmlns:a="http://schemas.openxmlformats.org/drawingml/2006/main"/>
          <a:p xmlns:a="http://schemas.openxmlformats.org/drawingml/2006/main">
            <a:r>
              <a:rPr sz="6200"/>
              <a:t>Verified RAM</a:t>
            </a:r>
          </a:p>
          <a:p xmlns:a="http://schemas.openxmlformats.org/drawingml/2006/main">
            <a:r>
              <a:rPr sz="6200"/>
              <a:t>in Lean</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415733" y="5264722"/>
            <a:ext cx="6910483" cy="1080246"/>
          </a:xfrm>
        </p:spPr>
        <p:txBody>
          <a:bodyPr xmlns:a="http://schemas.openxmlformats.org/drawingml/2006/main" anchor="b">
            <a:noAutofit/>
          </a:bodyPr>
          <a:lstStyle xmlns:a="http://schemas.openxmlformats.org/drawingml/2006/main"/>
          <a:p xmlns:a="http://schemas.openxmlformats.org/drawingml/2006/main">
            <a:r>
              <a:rPr sz="1800"/>
              <a:t>A unified algorithm stack</a:t>
            </a:r>
          </a:p>
          <a:p xmlns:a="http://schemas.openxmlformats.org/drawingml/2006/main">
            <a:r>
              <a:rPr sz="1800"/>
              <a:t>AlgoLib · experimental-RAM-model</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415734"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800"/>
              <a:t>Design and repository guide</a:t>
            </a:r>
          </a:p>
        </p:txBody>
      </p:sp>
      <p:pic>
        <p:nvPicPr>
          <p:cNvPr id="11" name="Picture 6"/>
          <p:cNvPicPr>
            <a:picLocks xmlns:a="http://schemas.openxmlformats.org/drawingml/2006/main" noChangeAspect="1"/>
          </p:cNvPicPr>
          <p:nvPr/>
        </p:nvPicPr>
        <p:blipFill>
          <a:blip xmlns:r="http://schemas.openxmlformats.org/officeDocument/2006/relationships" xmlns:a="http://schemas.openxmlformats.org/drawingml/2006/main" r:embed="R25869d7839e0405f"/>
          <a:srcRect xmlns:a="http://schemas.openxmlformats.org/drawingml/2006/main" l="8269" t="0" r="8269" b="0"/>
          <a:stretch xmlns:a="http://schemas.openxmlformats.org/drawingml/2006/main"/>
        </p:blipFill>
        <p:spPr>
          <a:xfrm xmlns:a="http://schemas.openxmlformats.org/drawingml/2006/main">
            <a:off x="7899094" y="0"/>
            <a:ext cx="4292906" cy="6858000"/>
          </a:xfrm>
          <a:prstGeom xmlns:a="http://schemas.openxmlformats.org/drawingml/2006/main" prst="rect">
            <a:avLst/>
          </a:prstGeom>
        </p:spPr>
      </p:pic>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59A8DA10-BC74-F432-B483-CF813D4319AD}"/>
              </a:ext>
            </a:extLst>
          </p:cNvPr>
          <p:cNvSpPr>
            <a:spLocks xmlns:a="http://schemas.openxmlformats.org/drawingml/2006/main" noGrp="1"/>
          </p:cNvSpPr>
          <p:nvPr>
            <p:ph type="ctrTitle" idx="0"/>
          </p:nvPr>
        </p:nvSpPr>
        <p:spPr>
          <a:xfrm xmlns:a="http://schemas.openxmlformats.org/drawingml/2006/main">
            <a:off x="393700" y="3712696"/>
            <a:ext cx="9448800" cy="2491490"/>
          </a:xfrm>
        </p:spPr>
        <p:txBody>
          <a:bodyPr xmlns:a="http://schemas.openxmlformats.org/drawingml/2006/main">
            <a:noAutofit/>
          </a:bodyPr>
          <a:lstStyle xmlns:a="http://schemas.openxmlformats.org/drawingml/2006/main"/>
          <a:p xmlns:a="http://schemas.openxmlformats.org/drawingml/2006/main">
            <a:r>
              <a:rPr sz="7200"/>
              <a:t>One source program</a:t>
            </a:r>
          </a:p>
          <a:p xmlns:a="http://schemas.openxmlformats.org/drawingml/2006/main">
            <a:r>
              <a:rPr sz="7200"/>
              <a:t>One execution theorem</a:t>
            </a:r>
          </a:p>
        </p:txBody>
      </p:sp>
      <p:sp>
        <p:nvSpPr>
          <p:cNvPr id="6" name="Subtitle 4">
            <a:extLst xmlns:a="http://schemas.openxmlformats.org/drawingml/2006/main">
              <a:ext uri="{FF2B5EF4-FFF2-40B4-BE49-F238E27FC236}">
                <a16:creationId xmlns:a16="http://schemas.microsoft.com/office/drawing/2014/main" id="{47DF5305-453D-AB88-8DE6-9846FEB1B651}"/>
              </a:ext>
            </a:extLst>
          </p:cNvPr>
          <p:cNvSpPr>
            <a:spLocks xmlns:a="http://schemas.openxmlformats.org/drawingml/2006/main" noGrp="1"/>
          </p:cNvSpPr>
          <p:nvPr/>
        </p:nvSpPr>
        <p:spPr>
          <a:xfrm xmlns:a="http://schemas.openxmlformats.org/drawingml/2006/main">
            <a:off x="393699" y="392241"/>
            <a:ext cx="6157826"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800"/>
              <a:t>Architecture</a:t>
            </a:r>
          </a:p>
        </p:txBody>
      </p:sp>
      <p:sp>
        <p:nvSpPr>
          <p:cNvPr id="8" name="Subtitle 4">
            <a:extLst xmlns:a="http://schemas.openxmlformats.org/drawingml/2006/main">
              <a:ext uri="{FF2B5EF4-FFF2-40B4-BE49-F238E27FC236}">
                <a16:creationId xmlns:a16="http://schemas.microsoft.com/office/drawing/2014/main" id="{4AE41470-6E36-D08D-AC35-CBDFACEF3DBC}"/>
              </a:ext>
            </a:extLst>
          </p:cNvPr>
          <p:cNvSpPr>
            <a:spLocks xmlns:a="http://schemas.openxmlformats.org/drawingml/2006/main" noGrp="1"/>
          </p:cNvSpPr>
          <p:nvPr/>
        </p:nvSpPr>
        <p:spPr>
          <a:xfrm xmlns:a="http://schemas.openxmlformats.org/drawingml/2006/main">
            <a:off x="7886700" y="392241"/>
            <a:ext cx="39116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r">
              <a:buNone/>
            </a:pPr>
            <a:r>
              <a:rPr sz="1800"/>
              <a:t>September 2026</a:t>
            </a:r>
          </a:p>
        </p:txBody>
      </p:sp>
    </p:spTree>
    <p:extLst>
      <p:ext uri="{BB962C8B-B14F-4D97-AF65-F5344CB8AC3E}">
        <p14:creationId xmlns:p14="http://schemas.microsoft.com/office/powerpoint/2010/main" val="350773716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fld id="{00000000-1234-1234-1234-123412341234}" type="slidenum">
              <a:t>3</a:t>
            </a:fld>
            <a:endParaRPr/>
          </a:p>
        </p:txBody>
      </p:sp>
      <p:sp>
        <p:nvSpPr>
          <p:cNvPr id="3" name="Title 2">
            <a:extLst xmlns:a="http://schemas.openxmlformats.org/drawingml/2006/main">
              <a:ext uri="{FF2B5EF4-FFF2-40B4-BE49-F238E27FC236}">
                <a16:creationId xmlns:a16="http://schemas.microsoft.com/office/drawing/2014/main" id="{FC59BB80-DF6A-0532-F91A-4A78B8E5820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t>A tour of the stack</a:t>
            </a:r>
          </a:p>
        </p:txBody>
      </p:sp>
      <p:graphicFrame>
        <p:nvGraphicFramePr>
          <p:cNvPr id="10" name="Table 3"/>
          <p:cNvGraphicFramePr/>
          <p:nvPr/>
        </p:nvGraphicFramePr>
        <p:xfrm>
          <a:off xmlns:a="http://schemas.openxmlformats.org/drawingml/2006/main" x="393700" y="2080009"/>
          <a:ext xmlns:a="http://schemas.openxmlformats.org/drawingml/2006/main" cx="11404600" cy="3914388"/>
        </p:xfrm>
        <a:graphic xmlns:a="http://schemas.openxmlformats.org/drawingml/2006/main">
          <a:graphicData uri="http://schemas.openxmlformats.org/drawingml/2006/table">
            <a:tbl>
              <a:tblPr firstRow="1" bandRow="1">
                <a:tableStyleId>{5C22544A-7EE6-4342-B048-85BDC9FD1C3A}</a:tableStyleId>
              </a:tblPr>
              <a:tblGrid>
                <a:gridCol w="878509"/>
                <a:gridCol w="10526091"/>
              </a:tblGrid>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01</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Model and cost boundary</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02</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Language and compiler</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03</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Verification and library contracts</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04</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Insertion sort</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05</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BFS correctness and linear time</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06</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Repository navigation</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291587740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C936F667-D10C-5292-AA3B-96BE2CAC84D9}"/>
              </a:ext>
            </a:extLst>
          </p:cNvPr>
          <p:cNvSpPr>
            <a:spLocks xmlns:a="http://schemas.openxmlformats.org/drawingml/2006/main" noGrp="1"/>
          </p:cNvSpPr>
          <p:nvPr>
            <p:ph idx="1"/>
          </p:nvPr>
        </p:nvSpPr>
        <p:spPr>
          <a:xfrm xmlns:a="http://schemas.openxmlformats.org/drawingml/2006/main">
            <a:off x="393700" y="1838848"/>
            <a:ext cx="5533190" cy="4155552"/>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Unit-cost natural RAM</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Words and addresses are natural numbers. Memory is a total map from addresses to words.</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Each machine instruction and branch test costs one step. Arithmetic includes addition, saturating subtraction, and multiplication.</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The DSL counts the instructions needed to evaluate expressions. A compound expression is never a free host computation.</a:t>
            </a:r>
          </a:p>
        </p:txBody>
      </p:sp>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4</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The model and its cost boundary</a:t>
            </a:r>
          </a:p>
        </p:txBody>
      </p:sp>
      <p:sp>
        <p:nvSpPr>
          <p:cNvPr id="2" name="Google Shape;534;p58">
            <a:extLst xmlns:a="http://schemas.openxmlformats.org/drawingml/2006/main">
              <a:ext uri="{FF2B5EF4-FFF2-40B4-BE49-F238E27FC236}">
                <a16:creationId xmlns:a16="http://schemas.microsoft.com/office/drawing/2014/main" id="{A4A94F3C-B1B2-7289-7098-7C66C8A291D6}"/>
              </a:ext>
            </a:extLst>
          </p:cNvPr>
          <p:cNvSpPr>
            <a:spLocks xmlns:a="http://schemas.openxmlformats.org/drawingml/2006/main" noGrp="1"/>
          </p:cNvSpPr>
          <p:nvPr/>
        </p:nvSpPr>
        <p:spPr>
          <a:xfrm xmlns:a="http://schemas.openxmlformats.org/drawingml/2006/main">
            <a:off x="6265111" y="2192694"/>
            <a:ext cx="5537200" cy="3801706"/>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Theorems bound the RAM routine after its input has been encoded. BFS includes clearing visited flags and initializing its queue.</a:t>
            </a: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Input construction and conversion of output memory to a displayed list are host operations, outside the reported count.</a:t>
            </a: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This is a unit-cost model with unbounded words. It does not establish bit complexity or the wall-clock cost of Lean evaluation.</a:t>
            </a:r>
          </a:p>
        </p:txBody>
      </p:sp>
    </p:spTree>
    <p:extLst>
      <p:ext uri="{BB962C8B-B14F-4D97-AF65-F5344CB8AC3E}">
        <p14:creationId xmlns:p14="http://schemas.microsoft.com/office/powerpoint/2010/main" val="54622172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5</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Independent source and machine semantics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latin typeface="Helvetica Neue"/>
                <a:ea typeface="Helvetica Neue"/>
                <a:cs typeface="Helvetica Neue"/>
              </a:rPr>
              <a:t>Source semantics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Typed expressions and commands have a direct meaning in Store.</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Eval records the final store and exact source cost.</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Specifications and the VCG are stated against this semantics, before compilation.</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latin typeface="Helvetica Neue"/>
                <a:ea typeface="Helvetica Neue"/>
                <a:cs typeface="Helvetica Neue"/>
              </a:rPr>
              <a:t>Machine semantics</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Instr and Code describe register operations, loads, stores, and control flow.</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Exec records an actual instruction execution.</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Eval.compile proves the same observable result and exactly the same cost.</a:t>
            </a:r>
          </a:p>
        </p:txBody>
      </p:sp>
    </p:spTree>
    <p:extLst>
      <p:ext uri="{BB962C8B-B14F-4D97-AF65-F5344CB8AC3E}">
        <p14:creationId xmlns:p14="http://schemas.microsoft.com/office/powerpoint/2010/main" val="366718214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6</a:t>
            </a:fld>
            <a:endParaRPr/>
          </a:p>
        </p:txBody>
      </p:sp>
      <p:sp>
        <p:nvSpPr>
          <p:cNvPr id="533" name="Google Shape;533;p58">
            <a:extLst xmlns:a="http://schemas.openxmlformats.org/drawingml/2006/main">
              <a:ext uri="{FF2B5EF4-FFF2-40B4-BE49-F238E27FC236}">
                <a16:creationId xmlns:a16="http://schemas.microsoft.com/office/drawing/2014/main" id="{509200BE-15E5-FE37-6AFE-A51B10E1A9BC}"/>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A small compositional language</a:t>
            </a: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3365500"/>
            <a:ext cx="3568700" cy="26289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1800">
                <a:latin typeface="Helvetica Neue"/>
                <a:ea typeface="Helvetica Neue"/>
                <a:cs typeface="Helvetica Neue"/>
              </a:rPr>
              <a:t>Typed values</a:t>
            </a:r>
            <a:endParaRPr sz="1800">
              <a:latin typeface="Helvetica Neue"/>
              <a:ea typeface="Helvetica Neue"/>
              <a:cs typeface="Helvetica Neue"/>
            </a:endParaRPr>
          </a:p>
          <a:p xmlns:a="http://schemas.openxmlformats.org/drawingml/2006/main">
            <a:pPr marL="0" indent="0">
              <a:lnSpc>
                <a:spcPct val="114000"/>
              </a:lnSpc>
              <a:spcBef>
                <a:spcPts val="0"/>
              </a:spcBef>
              <a:spcAft>
                <a:spcPts val="800"/>
              </a:spcAft>
              <a:buNone/>
            </a:pPr>
            <a:r>
              <a:rPr sz="1800">
                <a:latin typeface="Helvetica Neue"/>
                <a:ea typeface="Helvetica Neue"/>
                <a:cs typeface="Helvetica Neue"/>
              </a:rPr>
              <a:t>Word and pointer expressions have separate types. Variables use ordinary names. Invalid combinations are rejected by Lean.</a:t>
            </a:r>
            <a:endParaRPr sz="1800">
              <a:latin typeface="Helvetica Neue"/>
              <a:ea typeface="Helvetica Neue"/>
              <a:cs typeface="Helvetica Neue"/>
            </a:endParaRP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3365500"/>
            <a:ext cx="3568700" cy="2628900"/>
          </a:xfrm>
        </p:spPr>
        <p:txBody>
          <a:bodyPr xmlns:a="http://schemas.openxmlformats.org/drawingml/2006/main">
            <a:normAutofit fontScale="100000"/>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pPr>
            <a:r>
              <a:rPr sz="1800" b="0" i="0" u="none" cap="none" spc="0">
                <a:ln>
                  <a:noFill/>
                </a:ln>
                <a:latin typeface="Helvetica Neue"/>
                <a:ea typeface="Helvetica Neue"/>
                <a:cs typeface="Helvetica Neue"/>
              </a:rPr>
              <a:t>Procedures</a:t>
            </a:r>
          </a:p>
          <a:p xmlns:a="http://schemas.openxmlformats.org/drawingml/2006/main">
            <a:pPr marL="0" marR="0" lvl="0" indent="0" algn="l" defTabSz="914400">
              <a:lnSpc>
                <a:spcPct val="114000"/>
              </a:lnSpc>
              <a:spcBef>
                <a:spcPts val="0"/>
              </a:spcBef>
              <a:spcAft>
                <a:spcPts val="800"/>
              </a:spcAft>
              <a:buClrTx/>
              <a:buSzTx/>
              <a:buFont typeface="Arial"/>
              <a:buNone/>
            </a:pPr>
            <a:r>
              <a:rPr sz="1800" b="0" i="0" u="none" cap="none" spc="0">
                <a:ln>
                  <a:noFill/>
                </a:ln>
                <a:latin typeface="Helvetica Neue"/>
                <a:ea typeface="Helvetica Neue"/>
                <a:cs typeface="Helvetica Neue"/>
              </a:rPr>
              <a:t>Calls bind a parameter by value and restore its previous value. Finite procedure bodies are inlined into commands.</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3365500"/>
            <a:ext cx="3568700" cy="2628900"/>
          </a:xfrm>
        </p:spPr>
        <p:txBody>
          <a:bodyPr xmlns:a="http://schemas.openxmlformats.org/drawingml/2006/main">
            <a:normAutofit fontScale="100000"/>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pPr>
            <a:r>
              <a:rPr sz="1800" b="0" i="0" u="none" cap="none" spc="0">
                <a:ln>
                  <a:noFill/>
                </a:ln>
                <a:latin typeface="Helvetica Neue"/>
                <a:ea typeface="Helvetica Neue"/>
                <a:cs typeface="Helvetica Neue"/>
              </a:rPr>
              <a:t>Structured control</a:t>
            </a:r>
          </a:p>
          <a:p xmlns:a="http://schemas.openxmlformats.org/drawingml/2006/main">
            <a:pPr marL="0" marR="0" lvl="0" indent="0" algn="l" defTabSz="914400">
              <a:lnSpc>
                <a:spcPct val="114000"/>
              </a:lnSpc>
              <a:spcBef>
                <a:spcPts val="0"/>
              </a:spcBef>
              <a:spcAft>
                <a:spcPts val="800"/>
              </a:spcAft>
              <a:buClrTx/>
              <a:buSzTx/>
              <a:buFont typeface="Arial"/>
              <a:buNone/>
            </a:pPr>
            <a:r>
              <a:rPr sz="1800" b="0" i="0" u="none" cap="none" spc="0">
                <a:ln>
                  <a:noFill/>
                </a:ln>
                <a:latin typeface="Helvetica Neue"/>
                <a:ea typeface="Helvetica Neue"/>
                <a:cs typeface="Helvetica Neue"/>
              </a:rPr>
              <a:t>Sequence, branches, loops, and scoped local variables compose freely. Syntax expands to the common Cmd type.</a:t>
            </a:r>
          </a:p>
        </p:txBody>
      </p:sp>
    </p:spTree>
    <p:extLst>
      <p:ext uri="{BB962C8B-B14F-4D97-AF65-F5344CB8AC3E}">
        <p14:creationId xmlns:p14="http://schemas.microsoft.com/office/powerpoint/2010/main" val="139345699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FBA02CCA-F21B-9365-60C4-CCFEB9244CCA}"/>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3B21B056-C0DC-9927-7975-E8A8720D325A}"/>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7</a:t>
            </a:fld>
            <a:endParaRPr/>
          </a:p>
        </p:txBody>
      </p:sp>
      <p:sp>
        <p:nvSpPr>
          <p:cNvPr id="533" name="Google Shape;533;p58">
            <a:extLst xmlns:a="http://schemas.openxmlformats.org/drawingml/2006/main">
              <a:ext uri="{FF2B5EF4-FFF2-40B4-BE49-F238E27FC236}">
                <a16:creationId xmlns:a16="http://schemas.microsoft.com/office/drawing/2014/main" id="{62D86C57-5A36-A9CA-FBAE-7FD6A93121B0}"/>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Reusable contracts</a:t>
            </a:r>
          </a:p>
        </p:txBody>
      </p:sp>
      <p:sp>
        <p:nvSpPr>
          <p:cNvPr id="5" name="Google Shape;558;p61">
            <a:extLst xmlns:a="http://schemas.openxmlformats.org/drawingml/2006/main">
              <a:ext uri="{FF2B5EF4-FFF2-40B4-BE49-F238E27FC236}">
                <a16:creationId xmlns:a16="http://schemas.microsoft.com/office/drawing/2014/main" id="{CF52371F-8816-97E4-7F6A-234DB3FEF95A}"/>
              </a:ext>
            </a:extLst>
          </p:cNvPr>
          <p:cNvSpPr>
            <a:spLocks xmlns:a="http://schemas.openxmlformats.org/drawingml/2006/main" noGrp="1"/>
          </p:cNvSpPr>
          <p:nvPr/>
        </p:nvSpPr>
        <p:spPr>
          <a:xfrm xmlns:a="http://schemas.openxmlformats.org/drawingml/2006/main">
            <a:off x="393700"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000">
                <a:latin typeface="Helvetica Neue"/>
                <a:ea typeface="Helvetica Neue"/>
                <a:cs typeface="Helvetica Neue"/>
              </a:rPr>
              <a:t>Arrays expose a logical list view of a memory segment. Bounds and frame obligations accompany reads and writes.</a:t>
            </a:r>
          </a:p>
        </p:txBody>
      </p:sp>
      <p:sp>
        <p:nvSpPr>
          <p:cNvPr id="6" name="Google Shape;559;p61">
            <a:extLst xmlns:a="http://schemas.openxmlformats.org/drawingml/2006/main">
              <a:ext uri="{FF2B5EF4-FFF2-40B4-BE49-F238E27FC236}">
                <a16:creationId xmlns:a16="http://schemas.microsoft.com/office/drawing/2014/main" id="{B35EA25F-F28D-25C7-A5DF-16A7EADF8DBD}"/>
              </a:ext>
            </a:extLst>
          </p:cNvPr>
          <p:cNvSpPr>
            <a:spLocks xmlns:a="http://schemas.openxmlformats.org/drawingml/2006/main" noGrp="1"/>
          </p:cNvSpPr>
          <p:nvPr/>
        </p:nvSpPr>
        <p:spPr>
          <a:xfrm xmlns:a="http://schemas.openxmlformats.org/drawingml/2006/main">
            <a:off x="4318000"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000">
                <a:latin typeface="Helvetica Neue"/>
                <a:ea typeface="Helvetica Neue"/>
                <a:cs typeface="Helvetica Neue"/>
              </a:rPr>
              <a:t>Queues and stacks expose FIFO and LIFO behavior. Their contracts include capacity, disjointness, and operation costs.</a:t>
            </a:r>
            <a:endParaRPr sz="2000">
              <a:latin typeface="Helvetica Neue"/>
              <a:ea typeface="Helvetica Neue"/>
              <a:cs typeface="Helvetica Neue"/>
            </a:endParaRPr>
          </a:p>
        </p:txBody>
      </p:sp>
      <p:sp>
        <p:nvSpPr>
          <p:cNvPr id="7" name="Google Shape;560;p61">
            <a:extLst xmlns:a="http://schemas.openxmlformats.org/drawingml/2006/main">
              <a:ext uri="{FF2B5EF4-FFF2-40B4-BE49-F238E27FC236}">
                <a16:creationId xmlns:a16="http://schemas.microsoft.com/office/drawing/2014/main" id="{6E61CDC3-05E3-B689-0BCE-9014DDCB5EE8}"/>
              </a:ext>
            </a:extLst>
          </p:cNvPr>
          <p:cNvSpPr>
            <a:spLocks xmlns:a="http://schemas.openxmlformats.org/drawingml/2006/main" noGrp="1"/>
          </p:cNvSpPr>
          <p:nvPr/>
        </p:nvSpPr>
        <p:spPr>
          <a:xfrm xmlns:a="http://schemas.openxmlformats.org/drawingml/2006/main">
            <a:off x="8232273"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000">
                <a:latin typeface="Helvetica Neue"/>
                <a:ea typeface="Helvetica Neue"/>
                <a:cs typeface="Helvetica Neue"/>
              </a:rPr>
              <a:t>Graph representations connect addressed adjacency data to the repository Graph. BFS uses linked adjacency lists.</a:t>
            </a:r>
            <a:endParaRPr sz="2000">
              <a:latin typeface="Helvetica Neue"/>
              <a:ea typeface="Helvetica Neue"/>
              <a:cs typeface="Helvetica Neue"/>
            </a:endParaRPr>
          </a:p>
        </p:txBody>
      </p:sp>
      <p:sp>
        <p:nvSpPr>
          <p:cNvPr id="8" name="Google Shape;561;p61">
            <a:extLst xmlns:a="http://schemas.openxmlformats.org/drawingml/2006/main">
              <a:ext uri="{FF2B5EF4-FFF2-40B4-BE49-F238E27FC236}">
                <a16:creationId xmlns:a16="http://schemas.microsoft.com/office/drawing/2014/main" id="{2E9332F7-1AC8-A3A0-635E-D70D0C3E6A72}"/>
              </a:ext>
            </a:extLst>
          </p:cNvPr>
          <p:cNvSpPr>
            <a:spLocks xmlns:a="http://schemas.openxmlformats.org/drawingml/2006/main" noGrp="1"/>
          </p:cNvSpPr>
          <p:nvPr/>
        </p:nvSpPr>
        <p:spPr>
          <a:xfrm xmlns:a="http://schemas.openxmlformats.org/drawingml/2006/main">
            <a:off x="4279904" y="3382303"/>
            <a:ext cx="315580" cy="353873"/>
          </a:xfrm>
          <a:custGeom xmlns:a="http://schemas.openxmlformats.org/drawingml/2006/main">
            <a:rect l="l" t="t" r="r" b="b"/>
            <a:pathLst>
              <a:path w="20236" h="20115">
                <a:moveTo>
                  <a:pt x="11303" y="2594"/>
                </a:moveTo>
                <a:lnTo>
                  <a:pt x="2175" y="11983"/>
                </a:lnTo>
                <a:lnTo>
                  <a:pt x="9033" y="11983"/>
                </a:lnTo>
                <a:cubicBezTo>
                  <a:pt x="9364" y="11983"/>
                  <a:pt x="9678" y="12118"/>
                  <a:pt x="9883" y="12348"/>
                </a:cubicBezTo>
                <a:cubicBezTo>
                  <a:pt x="10089" y="12579"/>
                  <a:pt x="10165" y="12880"/>
                  <a:pt x="10089" y="13166"/>
                </a:cubicBezTo>
                <a:lnTo>
                  <a:pt x="8933" y="17522"/>
                </a:lnTo>
                <a:lnTo>
                  <a:pt x="18061" y="8133"/>
                </a:lnTo>
                <a:lnTo>
                  <a:pt x="11203" y="8133"/>
                </a:lnTo>
                <a:cubicBezTo>
                  <a:pt x="10872" y="8133"/>
                  <a:pt x="10558" y="7999"/>
                  <a:pt x="10353" y="7768"/>
                </a:cubicBezTo>
                <a:cubicBezTo>
                  <a:pt x="10147" y="7537"/>
                  <a:pt x="10071" y="7236"/>
                  <a:pt x="10147" y="6950"/>
                </a:cubicBezTo>
                <a:lnTo>
                  <a:pt x="11303" y="2594"/>
                </a:lnTo>
                <a:close/>
                <a:moveTo>
                  <a:pt x="10382" y="593"/>
                </a:moveTo>
                <a:cubicBezTo>
                  <a:pt x="11679" y="-742"/>
                  <a:pt x="14125" y="363"/>
                  <a:pt x="13670" y="2078"/>
                </a:cubicBezTo>
                <a:lnTo>
                  <a:pt x="12574" y="6208"/>
                </a:lnTo>
                <a:lnTo>
                  <a:pt x="18061" y="6208"/>
                </a:lnTo>
                <a:cubicBezTo>
                  <a:pt x="19918" y="6208"/>
                  <a:pt x="20918" y="8142"/>
                  <a:pt x="19705" y="9390"/>
                </a:cubicBezTo>
                <a:lnTo>
                  <a:pt x="9854" y="19523"/>
                </a:lnTo>
                <a:cubicBezTo>
                  <a:pt x="8557" y="20858"/>
                  <a:pt x="6111" y="19753"/>
                  <a:pt x="6566" y="18038"/>
                </a:cubicBezTo>
                <a:lnTo>
                  <a:pt x="7662" y="13908"/>
                </a:lnTo>
                <a:lnTo>
                  <a:pt x="2175" y="13908"/>
                </a:lnTo>
                <a:cubicBezTo>
                  <a:pt x="318" y="13908"/>
                  <a:pt x="-682" y="11974"/>
                  <a:pt x="531" y="10726"/>
                </a:cubicBezTo>
                <a:lnTo>
                  <a:pt x="10382" y="593"/>
                </a:ln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Clr>
                <a:srgbClr val="FFFFFF"/>
              </a:buClr>
              <a:buSzPts val="4300"/>
              <a:buNone/>
            </a:pPr>
            <a:endParaRPr sz="4300">
              <a:solidFill>
                <a:srgbClr val="FFFFFF"/>
              </a:solidFill>
              <a:latin typeface="Helvetica Neue"/>
              <a:ea typeface="Helvetica Neue"/>
              <a:cs typeface="Helvetica Neue"/>
            </a:endParaRPr>
          </a:p>
        </p:txBody>
      </p:sp>
      <p:sp>
        <p:nvSpPr>
          <p:cNvPr id="9" name="Google Shape;562;p61">
            <a:extLst xmlns:a="http://schemas.openxmlformats.org/drawingml/2006/main">
              <a:ext uri="{FF2B5EF4-FFF2-40B4-BE49-F238E27FC236}">
                <a16:creationId xmlns:a16="http://schemas.microsoft.com/office/drawing/2014/main" id="{1F6EAF7D-166C-52A8-35F4-18CE1043DC36}"/>
              </a:ext>
            </a:extLst>
          </p:cNvPr>
          <p:cNvSpPr>
            <a:spLocks xmlns:a="http://schemas.openxmlformats.org/drawingml/2006/main" noGrp="1"/>
          </p:cNvSpPr>
          <p:nvPr/>
        </p:nvSpPr>
        <p:spPr>
          <a:xfrm xmlns:a="http://schemas.openxmlformats.org/drawingml/2006/main">
            <a:off x="401398" y="3378212"/>
            <a:ext cx="327078" cy="362074"/>
          </a:xfrm>
          <a:custGeom xmlns:a="http://schemas.openxmlformats.org/drawingml/2006/main">
            <a:rect l="l" t="t" r="r" b="b"/>
            <a:pathLst>
              <a:path w="21600" h="21333">
                <a:moveTo>
                  <a:pt x="11359" y="2130"/>
                </a:moveTo>
                <a:cubicBezTo>
                  <a:pt x="11014" y="1951"/>
                  <a:pt x="10588" y="1951"/>
                  <a:pt x="10241" y="2130"/>
                </a:cubicBezTo>
                <a:lnTo>
                  <a:pt x="3250" y="5732"/>
                </a:lnTo>
                <a:lnTo>
                  <a:pt x="10817" y="9530"/>
                </a:lnTo>
                <a:lnTo>
                  <a:pt x="18593" y="5856"/>
                </a:lnTo>
                <a:lnTo>
                  <a:pt x="11359" y="2130"/>
                </a:lnTo>
                <a:close/>
                <a:moveTo>
                  <a:pt x="19364" y="7749"/>
                </a:moveTo>
                <a:lnTo>
                  <a:pt x="11918" y="11267"/>
                </a:lnTo>
                <a:lnTo>
                  <a:pt x="11918" y="18916"/>
                </a:lnTo>
                <a:lnTo>
                  <a:pt x="18805" y="15367"/>
                </a:lnTo>
                <a:cubicBezTo>
                  <a:pt x="19152" y="15189"/>
                  <a:pt x="19364" y="14860"/>
                  <a:pt x="19364" y="14503"/>
                </a:cubicBezTo>
                <a:lnTo>
                  <a:pt x="19364" y="7749"/>
                </a:lnTo>
                <a:close/>
                <a:moveTo>
                  <a:pt x="9682" y="18916"/>
                </a:moveTo>
                <a:lnTo>
                  <a:pt x="9682" y="11250"/>
                </a:lnTo>
                <a:lnTo>
                  <a:pt x="2236" y="7513"/>
                </a:lnTo>
                <a:lnTo>
                  <a:pt x="2236" y="14503"/>
                </a:lnTo>
                <a:cubicBezTo>
                  <a:pt x="2236" y="14860"/>
                  <a:pt x="2448" y="15189"/>
                  <a:pt x="2795" y="15367"/>
                </a:cubicBezTo>
                <a:lnTo>
                  <a:pt x="9682" y="18916"/>
                </a:lnTo>
                <a:close/>
                <a:moveTo>
                  <a:pt x="9123" y="401"/>
                </a:moveTo>
                <a:cubicBezTo>
                  <a:pt x="10160" y="-133"/>
                  <a:pt x="11440" y="-133"/>
                  <a:pt x="12477" y="401"/>
                </a:cubicBezTo>
                <a:lnTo>
                  <a:pt x="19923" y="4238"/>
                </a:lnTo>
                <a:cubicBezTo>
                  <a:pt x="20962" y="4773"/>
                  <a:pt x="21600" y="5761"/>
                  <a:pt x="21600" y="6830"/>
                </a:cubicBezTo>
                <a:lnTo>
                  <a:pt x="21600" y="14503"/>
                </a:lnTo>
                <a:cubicBezTo>
                  <a:pt x="21600" y="15572"/>
                  <a:pt x="20962" y="16561"/>
                  <a:pt x="19923" y="17096"/>
                </a:cubicBezTo>
                <a:lnTo>
                  <a:pt x="12477" y="20932"/>
                </a:lnTo>
                <a:cubicBezTo>
                  <a:pt x="11440" y="21467"/>
                  <a:pt x="10160" y="21467"/>
                  <a:pt x="9123" y="20932"/>
                </a:cubicBezTo>
                <a:lnTo>
                  <a:pt x="1677" y="17096"/>
                </a:lnTo>
                <a:cubicBezTo>
                  <a:pt x="640" y="16561"/>
                  <a:pt x="0" y="15572"/>
                  <a:pt x="0" y="14503"/>
                </a:cubicBezTo>
                <a:lnTo>
                  <a:pt x="0" y="6830"/>
                </a:lnTo>
                <a:cubicBezTo>
                  <a:pt x="0" y="5761"/>
                  <a:pt x="640" y="4773"/>
                  <a:pt x="1677" y="4238"/>
                </a:cubicBezTo>
                <a:lnTo>
                  <a:pt x="9123" y="401"/>
                </a:ln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Clr>
                <a:srgbClr val="FFFFFF"/>
              </a:buClr>
              <a:buSzPts val="4300"/>
              <a:buNone/>
            </a:pPr>
            <a:endParaRPr sz="4300">
              <a:solidFill>
                <a:srgbClr val="FFFFFF"/>
              </a:solidFill>
              <a:latin typeface="Helvetica Neue"/>
              <a:ea typeface="Helvetica Neue"/>
              <a:cs typeface="Helvetica Neue"/>
            </a:endParaRPr>
          </a:p>
        </p:txBody>
      </p:sp>
      <p:sp>
        <p:nvSpPr>
          <p:cNvPr id="10" name="Google Shape;563;p61">
            <a:extLst xmlns:a="http://schemas.openxmlformats.org/drawingml/2006/main">
              <a:ext uri="{FF2B5EF4-FFF2-40B4-BE49-F238E27FC236}">
                <a16:creationId xmlns:a16="http://schemas.microsoft.com/office/drawing/2014/main" id="{56E3A8EC-7B67-B778-5CC6-BC0282925006}"/>
              </a:ext>
            </a:extLst>
          </p:cNvPr>
          <p:cNvSpPr>
            <a:spLocks xmlns:a="http://schemas.openxmlformats.org/drawingml/2006/main" noGrp="1"/>
          </p:cNvSpPr>
          <p:nvPr/>
        </p:nvSpPr>
        <p:spPr>
          <a:xfrm xmlns:a="http://schemas.openxmlformats.org/drawingml/2006/main">
            <a:off x="8231597" y="3406849"/>
            <a:ext cx="338580" cy="270918"/>
          </a:xfrm>
          <a:custGeom xmlns:a="http://schemas.openxmlformats.org/drawingml/2006/main">
            <a:rect l="l" t="t" r="r" b="b"/>
            <a:pathLst>
              <a:path w="21600" h="21600">
                <a:moveTo>
                  <a:pt x="6220" y="0"/>
                </a:moveTo>
                <a:lnTo>
                  <a:pt x="15380" y="0"/>
                </a:lnTo>
                <a:cubicBezTo>
                  <a:pt x="16250" y="0"/>
                  <a:pt x="16968" y="0"/>
                  <a:pt x="17552" y="59"/>
                </a:cubicBezTo>
                <a:cubicBezTo>
                  <a:pt x="18159" y="122"/>
                  <a:pt x="18717" y="255"/>
                  <a:pt x="19241" y="589"/>
                </a:cubicBezTo>
                <a:cubicBezTo>
                  <a:pt x="20055" y="1106"/>
                  <a:pt x="20715" y="1932"/>
                  <a:pt x="21129" y="2948"/>
                </a:cubicBezTo>
                <a:cubicBezTo>
                  <a:pt x="21396" y="3603"/>
                  <a:pt x="21503" y="4301"/>
                  <a:pt x="21552" y="5060"/>
                </a:cubicBezTo>
                <a:cubicBezTo>
                  <a:pt x="21600" y="5790"/>
                  <a:pt x="21600" y="6688"/>
                  <a:pt x="21600" y="7775"/>
                </a:cubicBezTo>
                <a:lnTo>
                  <a:pt x="21600" y="13825"/>
                </a:lnTo>
                <a:cubicBezTo>
                  <a:pt x="21600" y="14912"/>
                  <a:pt x="21600" y="15810"/>
                  <a:pt x="21552" y="16540"/>
                </a:cubicBezTo>
                <a:cubicBezTo>
                  <a:pt x="21503" y="17299"/>
                  <a:pt x="21396" y="17997"/>
                  <a:pt x="21129" y="18652"/>
                </a:cubicBezTo>
                <a:cubicBezTo>
                  <a:pt x="20715" y="19668"/>
                  <a:pt x="20055" y="20494"/>
                  <a:pt x="19241" y="21011"/>
                </a:cubicBezTo>
                <a:cubicBezTo>
                  <a:pt x="18717" y="21345"/>
                  <a:pt x="18159" y="21478"/>
                  <a:pt x="17552" y="21541"/>
                </a:cubicBezTo>
                <a:cubicBezTo>
                  <a:pt x="16968" y="21600"/>
                  <a:pt x="16250" y="21600"/>
                  <a:pt x="15380" y="21600"/>
                </a:cubicBezTo>
                <a:lnTo>
                  <a:pt x="6220" y="21600"/>
                </a:lnTo>
                <a:cubicBezTo>
                  <a:pt x="5350" y="21600"/>
                  <a:pt x="4632" y="21600"/>
                  <a:pt x="4048" y="21541"/>
                </a:cubicBezTo>
                <a:cubicBezTo>
                  <a:pt x="3441" y="21478"/>
                  <a:pt x="2883" y="21345"/>
                  <a:pt x="2359" y="21011"/>
                </a:cubicBezTo>
                <a:cubicBezTo>
                  <a:pt x="1545" y="20494"/>
                  <a:pt x="885" y="19668"/>
                  <a:pt x="471" y="18652"/>
                </a:cubicBezTo>
                <a:cubicBezTo>
                  <a:pt x="204" y="17997"/>
                  <a:pt x="97" y="17299"/>
                  <a:pt x="48" y="16540"/>
                </a:cubicBezTo>
                <a:cubicBezTo>
                  <a:pt x="0" y="15810"/>
                  <a:pt x="0" y="14912"/>
                  <a:pt x="0" y="13825"/>
                </a:cubicBezTo>
                <a:lnTo>
                  <a:pt x="0" y="7775"/>
                </a:lnTo>
                <a:cubicBezTo>
                  <a:pt x="0" y="6688"/>
                  <a:pt x="0" y="5790"/>
                  <a:pt x="48" y="5060"/>
                </a:cubicBezTo>
                <a:cubicBezTo>
                  <a:pt x="97" y="4301"/>
                  <a:pt x="204" y="3603"/>
                  <a:pt x="471" y="2948"/>
                </a:cubicBezTo>
                <a:cubicBezTo>
                  <a:pt x="885" y="1932"/>
                  <a:pt x="1545" y="1106"/>
                  <a:pt x="2359" y="589"/>
                </a:cubicBezTo>
                <a:cubicBezTo>
                  <a:pt x="2883" y="255"/>
                  <a:pt x="3441" y="122"/>
                  <a:pt x="4048" y="59"/>
                </a:cubicBezTo>
                <a:cubicBezTo>
                  <a:pt x="4632" y="0"/>
                  <a:pt x="5350" y="0"/>
                  <a:pt x="6220" y="0"/>
                </a:cubicBezTo>
                <a:close/>
                <a:moveTo>
                  <a:pt x="2160" y="9450"/>
                </a:moveTo>
                <a:lnTo>
                  <a:pt x="2160" y="13770"/>
                </a:lnTo>
                <a:cubicBezTo>
                  <a:pt x="2160" y="14927"/>
                  <a:pt x="2161" y="15713"/>
                  <a:pt x="2201" y="16320"/>
                </a:cubicBezTo>
                <a:cubicBezTo>
                  <a:pt x="2239" y="16911"/>
                  <a:pt x="2309" y="17215"/>
                  <a:pt x="2395" y="17426"/>
                </a:cubicBezTo>
                <a:cubicBezTo>
                  <a:pt x="2603" y="17933"/>
                  <a:pt x="2933" y="18347"/>
                  <a:pt x="3339" y="18606"/>
                </a:cubicBezTo>
                <a:cubicBezTo>
                  <a:pt x="3508" y="18714"/>
                  <a:pt x="3751" y="18801"/>
                  <a:pt x="4224" y="18849"/>
                </a:cubicBezTo>
                <a:cubicBezTo>
                  <a:pt x="4710" y="18899"/>
                  <a:pt x="5338" y="18900"/>
                  <a:pt x="6264" y="18900"/>
                </a:cubicBezTo>
                <a:lnTo>
                  <a:pt x="15336" y="18900"/>
                </a:lnTo>
                <a:cubicBezTo>
                  <a:pt x="16262" y="18900"/>
                  <a:pt x="16890" y="18899"/>
                  <a:pt x="17376" y="18849"/>
                </a:cubicBezTo>
                <a:cubicBezTo>
                  <a:pt x="17849" y="18801"/>
                  <a:pt x="18092" y="18714"/>
                  <a:pt x="18261" y="18606"/>
                </a:cubicBezTo>
                <a:cubicBezTo>
                  <a:pt x="18667" y="18347"/>
                  <a:pt x="18997" y="17933"/>
                  <a:pt x="19205" y="17426"/>
                </a:cubicBezTo>
                <a:cubicBezTo>
                  <a:pt x="19291" y="17215"/>
                  <a:pt x="19361" y="16911"/>
                  <a:pt x="19399" y="16320"/>
                </a:cubicBezTo>
                <a:cubicBezTo>
                  <a:pt x="19439" y="15713"/>
                  <a:pt x="19440" y="14927"/>
                  <a:pt x="19440" y="13770"/>
                </a:cubicBezTo>
                <a:lnTo>
                  <a:pt x="19440" y="9450"/>
                </a:lnTo>
                <a:lnTo>
                  <a:pt x="2160" y="9450"/>
                </a:lnTo>
                <a:close/>
                <a:moveTo>
                  <a:pt x="19438" y="6750"/>
                </a:moveTo>
                <a:cubicBezTo>
                  <a:pt x="19435" y="6148"/>
                  <a:pt x="19425" y="5677"/>
                  <a:pt x="19399" y="5280"/>
                </a:cubicBezTo>
                <a:cubicBezTo>
                  <a:pt x="19361" y="4689"/>
                  <a:pt x="19291" y="4385"/>
                  <a:pt x="19205" y="4174"/>
                </a:cubicBezTo>
                <a:cubicBezTo>
                  <a:pt x="18997" y="3667"/>
                  <a:pt x="18667" y="3254"/>
                  <a:pt x="18261" y="2994"/>
                </a:cubicBezTo>
                <a:cubicBezTo>
                  <a:pt x="18092" y="2886"/>
                  <a:pt x="17849" y="2799"/>
                  <a:pt x="17376" y="2751"/>
                </a:cubicBezTo>
                <a:cubicBezTo>
                  <a:pt x="16890" y="2701"/>
                  <a:pt x="16262" y="2700"/>
                  <a:pt x="15336" y="2700"/>
                </a:cubicBezTo>
                <a:lnTo>
                  <a:pt x="6264" y="2700"/>
                </a:lnTo>
                <a:cubicBezTo>
                  <a:pt x="5338" y="2700"/>
                  <a:pt x="4710" y="2701"/>
                  <a:pt x="4224" y="2751"/>
                </a:cubicBezTo>
                <a:cubicBezTo>
                  <a:pt x="3751" y="2799"/>
                  <a:pt x="3508" y="2886"/>
                  <a:pt x="3339" y="2994"/>
                </a:cubicBezTo>
                <a:cubicBezTo>
                  <a:pt x="2933" y="3254"/>
                  <a:pt x="2603" y="3667"/>
                  <a:pt x="2395" y="4174"/>
                </a:cubicBezTo>
                <a:cubicBezTo>
                  <a:pt x="2309" y="4385"/>
                  <a:pt x="2239" y="4689"/>
                  <a:pt x="2201" y="5280"/>
                </a:cubicBezTo>
                <a:cubicBezTo>
                  <a:pt x="2175" y="5677"/>
                  <a:pt x="2165" y="6148"/>
                  <a:pt x="2162" y="6750"/>
                </a:cubicBezTo>
                <a:lnTo>
                  <a:pt x="19438" y="6750"/>
                </a:lnTo>
                <a:close/>
                <a:moveTo>
                  <a:pt x="12960" y="14850"/>
                </a:moveTo>
                <a:cubicBezTo>
                  <a:pt x="12960" y="14105"/>
                  <a:pt x="13444" y="13500"/>
                  <a:pt x="14040" y="13500"/>
                </a:cubicBezTo>
                <a:lnTo>
                  <a:pt x="16200" y="13500"/>
                </a:lnTo>
                <a:cubicBezTo>
                  <a:pt x="16796" y="13500"/>
                  <a:pt x="17280" y="14105"/>
                  <a:pt x="17280" y="14850"/>
                </a:cubicBezTo>
                <a:cubicBezTo>
                  <a:pt x="17280" y="15595"/>
                  <a:pt x="16796" y="16200"/>
                  <a:pt x="16200" y="16200"/>
                </a:cubicBezTo>
                <a:lnTo>
                  <a:pt x="14040" y="16200"/>
                </a:lnTo>
                <a:cubicBezTo>
                  <a:pt x="13444" y="16200"/>
                  <a:pt x="12960" y="15595"/>
                  <a:pt x="12960" y="14850"/>
                </a:cubicBez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Clr>
                <a:srgbClr val="FFFFFF"/>
              </a:buClr>
              <a:buSzPts val="4300"/>
              <a:buNone/>
            </a:pPr>
            <a:endParaRPr sz="4300">
              <a:solidFill>
                <a:srgbClr val="FFFFFF"/>
              </a:solidFill>
              <a:latin typeface="Helvetica Neue"/>
              <a:ea typeface="Helvetica Neue"/>
              <a:cs typeface="Helvetica Neue"/>
            </a:endParaRPr>
          </a:p>
        </p:txBody>
      </p:sp>
    </p:spTree>
    <p:extLst>
      <p:ext uri="{BB962C8B-B14F-4D97-AF65-F5344CB8AC3E}">
        <p14:creationId xmlns:p14="http://schemas.microsoft.com/office/powerpoint/2010/main" val="105343969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8</a:t>
            </a:fld>
            <a:endParaRPr/>
          </a:p>
        </p:txBody>
      </p:sp>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Proofs describe the algorithm</a:t>
            </a:r>
          </a:p>
        </p:txBody>
      </p:sp>
      <p:sp>
        <p:nvSpPr>
          <p:cNvPr id="8" name="Google Shape;534;p58">
            <a:extLst xmlns:a="http://schemas.openxmlformats.org/drawingml/2006/main">
              <a:ext uri="{FF2B5EF4-FFF2-40B4-BE49-F238E27FC236}">
                <a16:creationId xmlns:a16="http://schemas.microsoft.com/office/drawing/2014/main" id="{33514EAC-B165-B2D5-733A-EDDA1BA94C46}"/>
              </a:ext>
            </a:extLst>
          </p:cNvPr>
          <p:cNvSpPr>
            <a:spLocks xmlns:a="http://schemas.openxmlformats.org/drawingml/2006/main" noGrp="1"/>
          </p:cNvSpPr>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800">
                <a:latin typeface="Helvetica Neue"/>
                <a:ea typeface="Helvetica Neue"/>
                <a:cs typeface="Helvetica Neue"/>
              </a:rPr>
              <a:t>Ghost state</a:t>
            </a:r>
          </a:p>
          <a:p xmlns:a="http://schemas.openxmlformats.org/drawingml/2006/main">
            <a:pPr marL="0" indent="0">
              <a:lnSpc>
                <a:spcPct val="114000"/>
              </a:lnSpc>
              <a:spcBef>
                <a:spcPts val="0"/>
              </a:spcBef>
              <a:spcAft>
                <a:spcPts val="800"/>
              </a:spcAft>
              <a:buFont typeface="Arial"/>
              <a:buNone/>
            </a:pPr>
            <a:r>
              <a:rPr sz="1800">
                <a:latin typeface="Helvetica Neue"/>
                <a:ea typeface="Helvetica Neue"/>
                <a:cs typeface="Helvetica Neue"/>
              </a:rPr>
              <a:t>Lists, finite sets, and potentials appear in assertions. They explain what the program has done and how much work remains.</a:t>
            </a:r>
          </a:p>
          <a:p xmlns:a="http://schemas.openxmlformats.org/drawingml/2006/main">
            <a:pPr marL="0" indent="0">
              <a:lnSpc>
                <a:spcPct val="114000"/>
              </a:lnSpc>
              <a:spcBef>
                <a:spcPts val="0"/>
              </a:spcBef>
              <a:spcAft>
                <a:spcPts val="800"/>
              </a:spcAft>
              <a:buFont typeface="Arial"/>
              <a:buNone/>
            </a:pPr>
            <a:r>
              <a:rPr sz="1800">
                <a:latin typeface="Helvetica Neue"/>
                <a:ea typeface="Helvetica Neue"/>
                <a:cs typeface="Helvetica Neue"/>
              </a:rPr>
              <a:t>They are erased from execution. Membership in a ghost set cannot become an uncharged RAM operation.</a:t>
            </a:r>
          </a:p>
          <a:p xmlns:a="http://schemas.openxmlformats.org/drawingml/2006/main">
            <a:pPr marL="0" indent="0">
              <a:lnSpc>
                <a:spcPct val="114000"/>
              </a:lnSpc>
              <a:spcBef>
                <a:spcPts val="0"/>
              </a:spcBef>
              <a:spcAft>
                <a:spcPts val="800"/>
              </a:spcAft>
              <a:buFont typeface="Arial"/>
              <a:buNone/>
            </a:pPr>
            <a:r>
              <a:rPr sz="1800">
                <a:latin typeface="Helvetica Neue"/>
                <a:ea typeface="Helvetica Neue"/>
                <a:cs typeface="Helvetica Neue"/>
              </a:rPr>
              <a:t>The executable syntax must still load, compare, and write the actual memory cells.</a:t>
            </a:r>
          </a:p>
        </p:txBody>
      </p:sp>
      <p:sp>
        <p:nvSpPr>
          <p:cNvPr id="534" name="Ghost sequences and sets">
            <a:extLst xmlns:a="http://schemas.openxmlformats.org/drawingml/2006/main">
              <a:ext uri="{FF2B5EF4-FFF2-40B4-BE49-F238E27FC236}">
                <a16:creationId xmlns:a16="http://schemas.microsoft.com/office/drawing/2014/main" id="{79EE3813-B84B-44B3-9004-6BF290F83430}"/>
              </a:ext>
            </a:extLst>
          </p:cNvPr>
          <p:cNvSpPr>
            <a:spLocks xmlns:a="http://schemas.openxmlformats.org/drawingml/2006/main" noGrp="1"/>
          </p:cNvSpPr>
          <p:nvPr/>
        </p:nvSpPr>
        <p:spPr>
          <a:xfrm xmlns:a="http://schemas.openxmlformats.org/drawingml/2006/main">
            <a:off x="6572250" y="1952625"/>
            <a:ext cx="4905375" cy="809625"/>
          </a:xfrm>
          <a:prstGeom xmlns:a="http://schemas.openxmlformats.org/drawingml/2006/main" prst="rect">
            <a:avLst/>
          </a:prstGeom>
          <a:solidFill xmlns:a="http://schemas.openxmlformats.org/drawingml/2006/main">
            <a:srgbClr val="262626"/>
          </a:solidFill>
          <a:ln xmlns:a="http://schemas.openxmlformats.org/drawingml/2006/main" w="9525">
            <a:solidFill>
              <a:srgbClr val="777777"/>
            </a:solidFill>
          </a:ln>
        </p:spPr>
        <p:txBody>
          <a:bodyPr xmlns:a="http://schemas.openxmlformats.org/drawingml/2006/main" anchor="ctr"/>
          <a:lstStyle xmlns:a="http://schemas.openxmlformats.org/drawingml/2006/main"/>
          <a:p xmlns:a="http://schemas.openxmlformats.org/drawingml/2006/main">
            <a:pPr algn="ctr">
              <a:defRPr sz="1950">
                <a:solidFill>
                  <a:srgbClr val="FFFFFF"/>
                </a:solidFill>
              </a:defRPr>
            </a:pPr>
            <a:r>
              <a:rPr sz="1950">
                <a:solidFill>
                  <a:srgbClr val="FFFFFF"/>
                </a:solidFill>
              </a:rPr>
              <a:t>Ghost sequences and sets</a:t>
            </a:r>
          </a:p>
        </p:txBody>
      </p:sp>
      <p:sp>
        <p:nvSpPr>
          <p:cNvPr id="535" name="Representation invariant">
            <a:extLst xmlns:a="http://schemas.openxmlformats.org/drawingml/2006/main">
              <a:ext uri="{FF2B5EF4-FFF2-40B4-BE49-F238E27FC236}">
                <a16:creationId xmlns:a16="http://schemas.microsoft.com/office/drawing/2014/main" id="{7BF12207-5CF7-4C6C-9FB6-A3A52464BAEB}"/>
              </a:ext>
            </a:extLst>
          </p:cNvPr>
          <p:cNvSpPr>
            <a:spLocks xmlns:a="http://schemas.openxmlformats.org/drawingml/2006/main" noGrp="1"/>
          </p:cNvSpPr>
          <p:nvPr/>
        </p:nvSpPr>
        <p:spPr>
          <a:xfrm xmlns:a="http://schemas.openxmlformats.org/drawingml/2006/main">
            <a:off x="6572250" y="3476625"/>
            <a:ext cx="4905375" cy="809625"/>
          </a:xfrm>
          <a:prstGeom xmlns:a="http://schemas.openxmlformats.org/drawingml/2006/main" prst="rect">
            <a:avLst/>
          </a:prstGeom>
          <a:solidFill xmlns:a="http://schemas.openxmlformats.org/drawingml/2006/main">
            <a:srgbClr val="262626"/>
          </a:solidFill>
          <a:ln xmlns:a="http://schemas.openxmlformats.org/drawingml/2006/main" w="9525">
            <a:solidFill>
              <a:srgbClr val="777777"/>
            </a:solidFill>
          </a:ln>
        </p:spPr>
        <p:txBody>
          <a:bodyPr xmlns:a="http://schemas.openxmlformats.org/drawingml/2006/main" anchor="ctr"/>
          <a:lstStyle xmlns:a="http://schemas.openxmlformats.org/drawingml/2006/main"/>
          <a:p xmlns:a="http://schemas.openxmlformats.org/drawingml/2006/main">
            <a:pPr algn="ctr">
              <a:defRPr sz="1950">
                <a:solidFill>
                  <a:srgbClr val="FFFFFF"/>
                </a:solidFill>
              </a:defRPr>
            </a:pPr>
            <a:r>
              <a:rPr sz="1950">
                <a:solidFill>
                  <a:srgbClr val="FFFFFF"/>
                </a:solidFill>
              </a:rPr>
              <a:t>Representation invariant</a:t>
            </a:r>
          </a:p>
        </p:txBody>
      </p:sp>
      <p:sp>
        <p:nvSpPr>
          <p:cNvPr id="536" name="RAM registers and memory">
            <a:extLst xmlns:a="http://schemas.openxmlformats.org/drawingml/2006/main">
              <a:ext uri="{FF2B5EF4-FFF2-40B4-BE49-F238E27FC236}">
                <a16:creationId xmlns:a16="http://schemas.microsoft.com/office/drawing/2014/main" id="{C4358D62-A613-49C1-A126-6E0B433B2AA5}"/>
              </a:ext>
            </a:extLst>
          </p:cNvPr>
          <p:cNvSpPr>
            <a:spLocks xmlns:a="http://schemas.openxmlformats.org/drawingml/2006/main" noGrp="1"/>
          </p:cNvSpPr>
          <p:nvPr/>
        </p:nvSpPr>
        <p:spPr>
          <a:xfrm xmlns:a="http://schemas.openxmlformats.org/drawingml/2006/main">
            <a:off x="6572250" y="5000625"/>
            <a:ext cx="4905375" cy="809625"/>
          </a:xfrm>
          <a:prstGeom xmlns:a="http://schemas.openxmlformats.org/drawingml/2006/main" prst="rect">
            <a:avLst/>
          </a:prstGeom>
          <a:solidFill xmlns:a="http://schemas.openxmlformats.org/drawingml/2006/main">
            <a:srgbClr val="262626"/>
          </a:solidFill>
          <a:ln xmlns:a="http://schemas.openxmlformats.org/drawingml/2006/main" w="9525">
            <a:solidFill>
              <a:srgbClr val="777777"/>
            </a:solidFill>
          </a:ln>
        </p:spPr>
        <p:txBody>
          <a:bodyPr xmlns:a="http://schemas.openxmlformats.org/drawingml/2006/main" anchor="ctr"/>
          <a:lstStyle xmlns:a="http://schemas.openxmlformats.org/drawingml/2006/main"/>
          <a:p xmlns:a="http://schemas.openxmlformats.org/drawingml/2006/main">
            <a:pPr algn="ctr">
              <a:defRPr sz="1950">
                <a:solidFill>
                  <a:srgbClr val="FFFFFF"/>
                </a:solidFill>
              </a:defRPr>
            </a:pPr>
            <a:r>
              <a:rPr sz="1950">
                <a:solidFill>
                  <a:srgbClr val="FFFFFF"/>
                </a:solidFill>
              </a:rPr>
              <a:t>RAM registers and memory</a:t>
            </a:r>
          </a:p>
        </p:txBody>
      </p:sp>
      <p:sp>
        <p:nvSpPr>
          <p:cNvPr id="537" name="relation arrow">
            <a:extLst xmlns:a="http://schemas.openxmlformats.org/drawingml/2006/main">
              <a:ext uri="{FF2B5EF4-FFF2-40B4-BE49-F238E27FC236}">
                <a16:creationId xmlns:a16="http://schemas.microsoft.com/office/drawing/2014/main" id="{BA2559CB-431A-45F3-9CD6-354D2932621E}"/>
              </a:ext>
            </a:extLst>
          </p:cNvPr>
          <p:cNvSpPr>
            <a:spLocks xmlns:a="http://schemas.openxmlformats.org/drawingml/2006/main" noGrp="1"/>
          </p:cNvSpPr>
          <p:nvPr/>
        </p:nvSpPr>
        <p:spPr>
          <a:xfrm xmlns:a="http://schemas.openxmlformats.org/drawingml/2006/main">
            <a:off x="8620125" y="2876550"/>
            <a:ext cx="762000" cy="476250"/>
          </a:xfrm>
          <a:prstGeom xmlns:a="http://schemas.openxmlformats.org/drawingml/2006/main" prst="rect">
            <a:avLst/>
          </a:prstGeom>
          <a:solidFill xmlns:a="http://schemas.openxmlformats.org/drawingml/2006/main">
            <a:srgbClr val="000000"/>
          </a:solidFill>
        </p:spPr>
        <p:txBody>
          <a:bodyPr xmlns:a="http://schemas.openxmlformats.org/drawingml/2006/main"/>
          <a:lstStyle xmlns:a="http://schemas.openxmlformats.org/drawingml/2006/main"/>
          <a:p xmlns:a="http://schemas.openxmlformats.org/drawingml/2006/main">
            <a:pPr algn="ctr">
              <a:defRPr sz="2700">
                <a:solidFill>
                  <a:srgbClr val="FFFFFF"/>
                </a:solidFill>
              </a:defRPr>
            </a:pPr>
            <a:r>
              <a:rPr sz="2700">
                <a:solidFill>
                  <a:srgbClr val="FFFFFF"/>
                </a:solidFill>
              </a:rPr>
              <a:t>↓</a:t>
            </a:r>
          </a:p>
        </p:txBody>
      </p:sp>
      <p:sp>
        <p:nvSpPr>
          <p:cNvPr id="538" name="relation arrow">
            <a:extLst xmlns:a="http://schemas.openxmlformats.org/drawingml/2006/main">
              <a:ext uri="{FF2B5EF4-FFF2-40B4-BE49-F238E27FC236}">
                <a16:creationId xmlns:a16="http://schemas.microsoft.com/office/drawing/2014/main" id="{56A9D461-5AE5-4F27-8E17-1FF209D11C4B}"/>
              </a:ext>
            </a:extLst>
          </p:cNvPr>
          <p:cNvSpPr>
            <a:spLocks xmlns:a="http://schemas.openxmlformats.org/drawingml/2006/main" noGrp="1"/>
          </p:cNvSpPr>
          <p:nvPr/>
        </p:nvSpPr>
        <p:spPr>
          <a:xfrm xmlns:a="http://schemas.openxmlformats.org/drawingml/2006/main">
            <a:off x="8620125" y="4400550"/>
            <a:ext cx="762000" cy="476250"/>
          </a:xfrm>
          <a:prstGeom xmlns:a="http://schemas.openxmlformats.org/drawingml/2006/main" prst="rect">
            <a:avLst/>
          </a:prstGeom>
          <a:solidFill xmlns:a="http://schemas.openxmlformats.org/drawingml/2006/main">
            <a:srgbClr val="000000"/>
          </a:solidFill>
        </p:spPr>
        <p:txBody>
          <a:bodyPr xmlns:a="http://schemas.openxmlformats.org/drawingml/2006/main"/>
          <a:lstStyle xmlns:a="http://schemas.openxmlformats.org/drawingml/2006/main"/>
          <a:p xmlns:a="http://schemas.openxmlformats.org/drawingml/2006/main">
            <a:pPr algn="ctr">
              <a:defRPr sz="2700">
                <a:solidFill>
                  <a:srgbClr val="FFFFFF"/>
                </a:solidFill>
              </a:defRPr>
            </a:pPr>
            <a:r>
              <a:rPr sz="2700">
                <a:solidFill>
                  <a:srgbClr val="FFFFFF"/>
                </a:solidFill>
              </a:rPr>
              <a:t>↓</a:t>
            </a:r>
          </a:p>
        </p:txBody>
      </p:sp>
    </p:spTree>
    <p:extLst>
      <p:ext uri="{BB962C8B-B14F-4D97-AF65-F5344CB8AC3E}">
        <p14:creationId xmlns:p14="http://schemas.microsoft.com/office/powerpoint/2010/main" val="324567077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Footer Placeholder 1">
            <a:extLst xmlns:a="http://schemas.openxmlformats.org/drawingml/2006/main">
              <a:ext uri="{FF2B5EF4-FFF2-40B4-BE49-F238E27FC236}">
                <a16:creationId xmlns:a16="http://schemas.microsoft.com/office/drawing/2014/main" id="{7FAC9A03-119F-393D-2295-2587BE7C4F7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CCCB27A2-1D9F-6514-0821-C7CC3F675523}"/>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9</a:t>
            </a:fld>
            <a:endParaRPr/>
          </a:p>
        </p:txBody>
      </p:sp>
      <p:sp>
        <p:nvSpPr>
          <p:cNvPr id="533" name="Google Shape;533;p58">
            <a:extLst xmlns:a="http://schemas.openxmlformats.org/drawingml/2006/main">
              <a:ext uri="{FF2B5EF4-FFF2-40B4-BE49-F238E27FC236}">
                <a16:creationId xmlns:a16="http://schemas.microsoft.com/office/drawing/2014/main" id="{3FD2F4B0-1B4E-4F78-8608-85E7ADD90742}"/>
              </a:ext>
            </a:extLst>
          </p:cNvPr>
          <p:cNvSpPr>
            <a:spLocks xmlns:a="http://schemas.openxmlformats.org/drawingml/2006/main" noGrp="1"/>
          </p:cNvSpPr>
          <p:nvPr>
            <p:ph type="title" idx="0"/>
          </p:nvPr>
        </p:nvSpPr>
        <p:spPr>
          <a:xfrm xmlns:a="http://schemas.openxmlformats.org/drawingml/2006/main">
            <a:off x="393700" y="344488"/>
            <a:ext cx="11404600" cy="1283032"/>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Time credits also prove termination</a:t>
            </a:r>
          </a:p>
        </p:txBody>
      </p:sp>
      <p:sp>
        <p:nvSpPr>
          <p:cNvPr id="10" name="Rounded Rectangle 9">
            <a:extLst xmlns:a="http://schemas.openxmlformats.org/drawingml/2006/main">
              <a:ext uri="{FF2B5EF4-FFF2-40B4-BE49-F238E27FC236}">
                <a16:creationId xmlns:a16="http://schemas.microsoft.com/office/drawing/2014/main" id="{8B4C5563-C118-E2D4-2A1A-F84171FF9E48}"/>
              </a:ext>
            </a:extLst>
          </p:cNvPr>
          <p:cNvSpPr>
            <a:spLocks xmlns:a="http://schemas.openxmlformats.org/drawingml/2006/main" noGrp="1"/>
          </p:cNvSpPr>
          <p:nvPr/>
        </p:nvSpPr>
        <p:spPr>
          <a:xfrm xmlns:a="http://schemas.openxmlformats.org/drawingml/2006/main">
            <a:off x="4308953" y="3365501"/>
            <a:ext cx="3568700" cy="26289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Rounded Rectangle 10">
            <a:extLst xmlns:a="http://schemas.openxmlformats.org/drawingml/2006/main">
              <a:ext uri="{FF2B5EF4-FFF2-40B4-BE49-F238E27FC236}">
                <a16:creationId xmlns:a16="http://schemas.microsoft.com/office/drawing/2014/main" id="{87EC77EB-07E7-2818-9132-6416EC5EFF5D}"/>
              </a:ext>
            </a:extLst>
          </p:cNvPr>
          <p:cNvSpPr>
            <a:spLocks xmlns:a="http://schemas.openxmlformats.org/drawingml/2006/main" noGrp="1"/>
          </p:cNvSpPr>
          <p:nvPr/>
        </p:nvSpPr>
        <p:spPr>
          <a:xfrm xmlns:a="http://schemas.openxmlformats.org/drawingml/2006/main">
            <a:off x="8229600" y="3365501"/>
            <a:ext cx="3568700" cy="26289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Content Placeholder 9">
            <a:extLst xmlns:a="http://schemas.openxmlformats.org/drawingml/2006/main">
              <a:ext uri="{FF2B5EF4-FFF2-40B4-BE49-F238E27FC236}">
                <a16:creationId xmlns:a16="http://schemas.microsoft.com/office/drawing/2014/main" id="{14F9DBD7-0427-326B-17D5-5DD215C447E9}"/>
              </a:ext>
            </a:extLst>
          </p:cNvPr>
          <p:cNvSpPr>
            <a:spLocks xmlns:a="http://schemas.openxmlformats.org/drawingml/2006/main" noGrp="1"/>
          </p:cNvSpPr>
          <p:nvPr/>
        </p:nvSpPr>
        <p:spPr>
          <a:xfrm xmlns:a="http://schemas.openxmlformats.org/drawingml/2006/main">
            <a:off x="4621821"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Maintain</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Preserve the invariant and pay the iteration cost.</a:t>
            </a:r>
            <a:endParaRPr sz="1600"/>
          </a:p>
        </p:txBody>
      </p:sp>
      <p:sp>
        <p:nvSpPr>
          <p:cNvPr id="13" name="Content Placeholder 10">
            <a:extLst xmlns:a="http://schemas.openxmlformats.org/drawingml/2006/main">
              <a:ext uri="{FF2B5EF4-FFF2-40B4-BE49-F238E27FC236}">
                <a16:creationId xmlns:a16="http://schemas.microsoft.com/office/drawing/2014/main" id="{A81FFF27-06E1-B925-B772-E8C07A029EE7}"/>
              </a:ext>
            </a:extLst>
          </p:cNvPr>
          <p:cNvSpPr>
            <a:spLocks xmlns:a="http://schemas.openxmlformats.org/drawingml/2006/main" noGrp="1"/>
          </p:cNvSpPr>
          <p:nvPr/>
        </p:nvSpPr>
        <p:spPr>
          <a:xfrm xmlns:a="http://schemas.openxmlformats.org/drawingml/2006/main">
            <a:off x="8536094"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Exit</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Derive the postcondition when the guard is false.</a:t>
            </a:r>
            <a:endParaRPr sz="1600"/>
          </a:p>
        </p:txBody>
      </p:sp>
      <p:sp>
        <p:nvSpPr>
          <p:cNvPr id="14" name="Google Shape;340;p61">
            <a:extLst xmlns:a="http://schemas.openxmlformats.org/drawingml/2006/main">
              <a:ext uri="{FF2B5EF4-FFF2-40B4-BE49-F238E27FC236}">
                <a16:creationId xmlns:a16="http://schemas.microsoft.com/office/drawing/2014/main" id="{D182FC54-B4D0-2FD9-7909-F4321F70186F}"/>
              </a:ext>
            </a:extLst>
          </p:cNvPr>
          <p:cNvSpPr>
            <a:spLocks xmlns:a="http://schemas.openxmlformats.org/drawingml/2006/main" noGrp="1"/>
          </p:cNvSpPr>
          <p:nvPr/>
        </p:nvSpPr>
        <p:spPr>
          <a:xfrm xmlns:a="http://schemas.openxmlformats.org/drawingml/2006/main">
            <a:off x="4627645" y="3694101"/>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15" name="Google Shape;340;p61">
            <a:extLst xmlns:a="http://schemas.openxmlformats.org/drawingml/2006/main">
              <a:ext uri="{FF2B5EF4-FFF2-40B4-BE49-F238E27FC236}">
                <a16:creationId xmlns:a16="http://schemas.microsoft.com/office/drawing/2014/main" id="{12304657-C94E-6AEC-95B3-FF04FD52D51C}"/>
              </a:ext>
            </a:extLst>
          </p:cNvPr>
          <p:cNvSpPr>
            <a:spLocks xmlns:a="http://schemas.openxmlformats.org/drawingml/2006/main" noGrp="1"/>
          </p:cNvSpPr>
          <p:nvPr/>
        </p:nvSpPr>
        <p:spPr>
          <a:xfrm xmlns:a="http://schemas.openxmlformats.org/drawingml/2006/main">
            <a:off x="8533270" y="3694102"/>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6" name="Rounded Rectangle 5">
            <a:extLst xmlns:a="http://schemas.openxmlformats.org/drawingml/2006/main">
              <a:ext uri="{FF2B5EF4-FFF2-40B4-BE49-F238E27FC236}">
                <a16:creationId xmlns:a16="http://schemas.microsoft.com/office/drawing/2014/main" id="{CEC1020B-1BFB-C461-94A3-B04496D488AD}"/>
              </a:ext>
            </a:extLst>
          </p:cNvPr>
          <p:cNvSpPr>
            <a:spLocks xmlns:a="http://schemas.openxmlformats.org/drawingml/2006/main" noGrp="1"/>
          </p:cNvSpPr>
          <p:nvPr/>
        </p:nvSpPr>
        <p:spPr>
          <a:xfrm xmlns:a="http://schemas.openxmlformats.org/drawingml/2006/main">
            <a:off x="388306" y="3365501"/>
            <a:ext cx="3568700" cy="26289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Content Placeholder 9">
            <a:extLst xmlns:a="http://schemas.openxmlformats.org/drawingml/2006/main">
              <a:ext uri="{FF2B5EF4-FFF2-40B4-BE49-F238E27FC236}">
                <a16:creationId xmlns:a16="http://schemas.microsoft.com/office/drawing/2014/main" id="{BF9CE9B1-F78E-2E93-3127-A76A196DCEA9}"/>
              </a:ext>
            </a:extLst>
          </p:cNvPr>
          <p:cNvSpPr>
            <a:spLocks xmlns:a="http://schemas.openxmlformats.org/drawingml/2006/main" noGrp="1"/>
          </p:cNvSpPr>
          <p:nvPr/>
        </p:nvSpPr>
        <p:spPr>
          <a:xfrm xmlns:a="http://schemas.openxmlformats.org/drawingml/2006/main">
            <a:off x="701174"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Initialize</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Establish the invariant and provide the initial credit.</a:t>
            </a:r>
            <a:endParaRPr sz="1600"/>
          </a:p>
        </p:txBody>
      </p:sp>
      <p:sp>
        <p:nvSpPr>
          <p:cNvPr id="8" name="Google Shape;340;p61">
            <a:extLst xmlns:a="http://schemas.openxmlformats.org/drawingml/2006/main">
              <a:ext uri="{FF2B5EF4-FFF2-40B4-BE49-F238E27FC236}">
                <a16:creationId xmlns:a16="http://schemas.microsoft.com/office/drawing/2014/main" id="{DFAB1693-7B48-B899-1715-D7B6F34DCE6C}"/>
              </a:ext>
            </a:extLst>
          </p:cNvPr>
          <p:cNvSpPr>
            <a:spLocks xmlns:a="http://schemas.openxmlformats.org/drawingml/2006/main" noGrp="1"/>
          </p:cNvSpPr>
          <p:nvPr/>
        </p:nvSpPr>
        <p:spPr>
          <a:xfrm xmlns:a="http://schemas.openxmlformats.org/drawingml/2006/main">
            <a:off x="706998" y="3694101"/>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9" name="Content Placeholder 15">
            <a:extLst xmlns:a="http://schemas.openxmlformats.org/drawingml/2006/main">
              <a:ext uri="{FF2B5EF4-FFF2-40B4-BE49-F238E27FC236}">
                <a16:creationId xmlns:a16="http://schemas.microsoft.com/office/drawing/2014/main" id="{34ED89C7-2856-344F-42B0-44B6A09E907B}"/>
              </a:ext>
            </a:extLst>
          </p:cNvPr>
          <p:cNvSpPr>
            <a:spLocks xmlns:a="http://schemas.openxmlformats.org/drawingml/2006/main" noGrp="1"/>
          </p:cNvSpPr>
          <p:nvPr/>
        </p:nvSpPr>
        <p:spPr>
          <a:xfrm xmlns:a="http://schemas.openxmlformats.org/drawingml/2006/main">
            <a:off x="393701" y="1450523"/>
            <a:ext cx="11404599" cy="162922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pPr>
            <a:r>
              <a:rPr sz="1800">
                <a:latin typeface="Helvetica Neue Medium"/>
                <a:ea typeface="Helvetica Neue Medium"/>
                <a:cs typeface="Helvetica Neue Medium"/>
              </a:rPr>
              <a:t>A decreasing budget</a:t>
            </a:r>
          </a:p>
          <a:p xmlns:a="http://schemas.openxmlformats.org/drawingml/2006/main">
            <a:pPr>
              <a:lnSpc>
                <a:spcPct val="114000"/>
              </a:lnSpc>
              <a:spcBef>
                <a:spcPts val="0"/>
              </a:spcBef>
              <a:spcAft>
                <a:spcPts val="600"/>
              </a:spcAft>
              <a:buNone/>
            </a:pPr>
            <a:r>
              <a:rPr>
                <a:latin typeface="Helvetica Neue"/>
                <a:ea typeface="Helvetica Neue"/>
                <a:cs typeface="Helvetica Neue"/>
              </a:rPr>
              <a:t>At a loop header, an invariant relates memory to mathematical state. Every true iteration pays for its guard and body, then leaves credits for the next iteration. The final false guard is paid as well.</a:t>
            </a:r>
          </a:p>
        </p:txBody>
      </p:sp>
    </p:spTree>
    <p:extLst>
      <p:ext uri="{BB962C8B-B14F-4D97-AF65-F5344CB8AC3E}">
        <p14:creationId xmlns:p14="http://schemas.microsoft.com/office/powerpoint/2010/main" val="156618307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8C44867F-CEA9-06EF-47ED-8F63A6DAE6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787BCE7D-BEA2-12A4-00CE-1447A3C11BCB}"/>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10</a:t>
            </a:fld>
            <a:endParaRPr/>
          </a:p>
        </p:txBody>
      </p:sp>
      <p:sp>
        <p:nvSpPr>
          <p:cNvPr id="533" name="Google Shape;533;p58">
            <a:extLst xmlns:a="http://schemas.openxmlformats.org/drawingml/2006/main">
              <a:ext uri="{FF2B5EF4-FFF2-40B4-BE49-F238E27FC236}">
                <a16:creationId xmlns:a16="http://schemas.microsoft.com/office/drawing/2014/main" id="{451E053B-8CD7-DAF7-BA60-B58D00D61D06}"/>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Verification conditions</a:t>
            </a:r>
          </a:p>
        </p:txBody>
      </p:sp>
      <p:sp>
        <p:nvSpPr>
          <p:cNvPr id="534" name="Google Shape;534;p58">
            <a:extLst xmlns:a="http://schemas.openxmlformats.org/drawingml/2006/main">
              <a:ext uri="{FF2B5EF4-FFF2-40B4-BE49-F238E27FC236}">
                <a16:creationId xmlns:a16="http://schemas.microsoft.com/office/drawing/2014/main" id="{92B9D060-8F6B-685E-C699-7CF3FDA228BA}"/>
              </a:ext>
            </a:extLst>
          </p:cNvPr>
          <p:cNvSpPr>
            <a:spLocks xmlns:a="http://schemas.openxmlformats.org/drawingml/2006/main" noGrp="1"/>
          </p:cNvSpPr>
          <p:nvPr>
            <p:ph idx="4294967295"/>
          </p:nvPr>
        </p:nvSpPr>
        <p:spPr>
          <a:xfrm xmlns:a="http://schemas.openxmlformats.org/drawingml/2006/main">
            <a:off x="393700" y="1722438"/>
            <a:ext cx="5537200" cy="8651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a:latin typeface="Helvetica Neue"/>
                <a:ea typeface="Helvetica Neue"/>
                <a:cs typeface="Helvetica Neue"/>
              </a:rPr>
              <a:t>Generated from the</a:t>
            </a:r>
            <a:endParaRPr>
              <a:latin typeface="Helvetica Neue"/>
              <a:ea typeface="Helvetica Neue"/>
              <a:cs typeface="Helvetica Neue"/>
            </a:endParaRPr>
          </a:p>
          <a:p xmlns:a="http://schemas.openxmlformats.org/drawingml/2006/main">
            <a:pPr marL="0" indent="0">
              <a:lnSpc>
                <a:spcPct val="114000"/>
              </a:lnSpc>
              <a:spcBef>
                <a:spcPts val="0"/>
              </a:spcBef>
              <a:spcAft>
                <a:spcPts val="800"/>
              </a:spcAft>
              <a:buNone/>
            </a:pPr>
            <a:r>
              <a:rPr>
                <a:latin typeface="Helvetica Neue"/>
                <a:ea typeface="Helvetica Neue"/>
                <a:cs typeface="Helvetica Neue"/>
              </a:rPr>
              <a:t>actual command syntax</a:t>
            </a:r>
            <a:endParaRPr>
              <a:latin typeface="Helvetica Neue"/>
              <a:ea typeface="Helvetica Neue"/>
              <a:cs typeface="Helvetica Neue"/>
            </a:endParaRPr>
          </a:p>
        </p:txBody>
      </p:sp>
      <p:sp>
        <p:nvSpPr>
          <p:cNvPr id="2" name="Content Placeholder 10">
            <a:extLst xmlns:a="http://schemas.openxmlformats.org/drawingml/2006/main">
              <a:ext uri="{FF2B5EF4-FFF2-40B4-BE49-F238E27FC236}">
                <a16:creationId xmlns:a16="http://schemas.microsoft.com/office/drawing/2014/main" id="{F1357382-F889-8A40-7C64-C4E276E66544}"/>
              </a:ext>
            </a:extLst>
          </p:cNvPr>
          <p:cNvSpPr>
            <a:spLocks xmlns:a="http://schemas.openxmlformats.org/drawingml/2006/main" noGrp="1"/>
          </p:cNvSpPr>
          <p:nvPr/>
        </p:nvSpPr>
        <p:spPr>
          <a:xfrm xmlns:a="http://schemas.openxmlformats.org/drawingml/2006/main">
            <a:off x="7886700" y="2990317"/>
            <a:ext cx="3911600" cy="5487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latin typeface="Helvetica Neue"/>
                <a:ea typeface="Helvetica Neue"/>
                <a:cs typeface="Helvetica Neue"/>
              </a:rPr>
              <a:t>Assignment substitution</a:t>
            </a:r>
          </a:p>
        </p:txBody>
      </p:sp>
      <p:sp>
        <p:nvSpPr>
          <p:cNvPr id="3" name="Google Shape;340;p61">
            <a:extLst xmlns:a="http://schemas.openxmlformats.org/drawingml/2006/main">
              <a:ext uri="{FF2B5EF4-FFF2-40B4-BE49-F238E27FC236}">
                <a16:creationId xmlns:a16="http://schemas.microsoft.com/office/drawing/2014/main" id="{DECE1942-1885-9577-DF5F-685A8B1C7180}"/>
              </a:ext>
            </a:extLst>
          </p:cNvPr>
          <p:cNvSpPr>
            <a:spLocks xmlns:a="http://schemas.openxmlformats.org/drawingml/2006/main" noGrp="1"/>
          </p:cNvSpPr>
          <p:nvPr/>
        </p:nvSpPr>
        <p:spPr>
          <a:xfrm xmlns:a="http://schemas.openxmlformats.org/drawingml/2006/main">
            <a:off x="7507725" y="3015150"/>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12" name="TextBox 11">
            <a:extLst xmlns:a="http://schemas.openxmlformats.org/drawingml/2006/main">
              <a:ext uri="{FF2B5EF4-FFF2-40B4-BE49-F238E27FC236}">
                <a16:creationId xmlns:a16="http://schemas.microsoft.com/office/drawing/2014/main" id="{70BD0609-EAC0-DFEC-8761-6C5A72DB268A}"/>
              </a:ext>
            </a:extLst>
          </p:cNvPr>
          <p:cNvSpPr>
            <a:spLocks xmlns:a="http://schemas.openxmlformats.org/drawingml/2006/main" noGrp="1"/>
          </p:cNvSpPr>
          <p:nvPr/>
        </p:nvSpPr>
        <p:spPr>
          <a:xfrm xmlns:a="http://schemas.openxmlformats.org/drawingml/2006/main">
            <a:off x="393700" y="2990316"/>
            <a:ext cx="5537200" cy="288463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pPr>
            <a:r>
              <a:rPr sz="1600" b="0" i="0" u="none" cap="none" spc="0">
                <a:ln>
                  <a:noFill/>
                </a:ln>
                <a:latin typeface="Helvetica Neue"/>
                <a:ea typeface="Helvetica Neue"/>
                <a:cs typeface="Helvetica Neue"/>
              </a:rPr>
              <a:t>VC traverses assignments, writes, sequences, branches, locals, and loops. Its soundness theorem produces an Eval derivation with a bounded cost.</a:t>
            </a:r>
          </a:p>
          <a:p xmlns:a="http://schemas.openxmlformats.org/drawingml/2006/main">
            <a:pPr marL="0" marR="0" lvl="0" indent="0" algn="l" defTabSz="914400">
              <a:lnSpc>
                <a:spcPct val="114000"/>
              </a:lnSpc>
              <a:spcBef>
                <a:spcPts val="0"/>
              </a:spcBef>
              <a:spcAft>
                <a:spcPts val="800"/>
              </a:spcAft>
              <a:buClrTx/>
              <a:buSzTx/>
              <a:buFont typeface="Arial"/>
              <a:buNone/>
            </a:pPr>
            <a:r>
              <a:rPr sz="1600" b="0" i="0" u="none" cap="none" spc="0">
                <a:ln>
                  <a:noFill/>
                </a:ln>
                <a:latin typeface="Helvetica Neue"/>
                <a:ea typeface="Helvetica Neue"/>
                <a:cs typeface="Helvetica Neue"/>
              </a:rPr>
              <a:t>Algorithm authors supply invariants and mathematical proofs. Generation does not automatically discover those proofs.</a:t>
            </a:r>
          </a:p>
          <a:p xmlns:a="http://schemas.openxmlformats.org/drawingml/2006/main">
            <a:pPr marL="0" marR="0" lvl="0" indent="0" algn="l" defTabSz="914400">
              <a:lnSpc>
                <a:spcPct val="114000"/>
              </a:lnSpc>
              <a:spcBef>
                <a:spcPts val="0"/>
              </a:spcBef>
              <a:spcAft>
                <a:spcPts val="800"/>
              </a:spcAft>
              <a:buClrTx/>
              <a:buSzTx/>
              <a:buFont typeface="Arial"/>
              <a:buNone/>
            </a:pPr>
            <a:r>
              <a:rPr sz="1600" b="0" i="0" u="none" cap="none" spc="0">
                <a:ln>
                  <a:noFill/>
                </a:ln>
                <a:latin typeface="Helvetica Neue"/>
                <a:ea typeface="Helvetica Neue"/>
                <a:cs typeface="Helvetica Neue"/>
              </a:rPr>
              <a:t>Existing invariant certificates can also discharge VCs through the verified refinement adapter.</a:t>
            </a:r>
          </a:p>
        </p:txBody>
      </p:sp>
      <p:sp>
        <p:nvSpPr>
          <p:cNvPr id="16" name="Content Placeholder 10">
            <a:extLst xmlns:a="http://schemas.openxmlformats.org/drawingml/2006/main">
              <a:ext uri="{FF2B5EF4-FFF2-40B4-BE49-F238E27FC236}">
                <a16:creationId xmlns:a16="http://schemas.microsoft.com/office/drawing/2014/main" id="{01B260BF-9264-3C70-DF2D-2E6EA83AC133}"/>
              </a:ext>
            </a:extLst>
          </p:cNvPr>
          <p:cNvSpPr>
            <a:spLocks xmlns:a="http://schemas.openxmlformats.org/drawingml/2006/main" noGrp="1"/>
          </p:cNvSpPr>
          <p:nvPr/>
        </p:nvSpPr>
        <p:spPr>
          <a:xfrm xmlns:a="http://schemas.openxmlformats.org/drawingml/2006/main">
            <a:off x="7886700" y="3599916"/>
            <a:ext cx="3911600" cy="5487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latin typeface="Helvetica Neue"/>
                <a:ea typeface="Helvetica Neue"/>
                <a:cs typeface="Helvetica Neue"/>
              </a:rPr>
              <a:t>Memory update</a:t>
            </a:r>
          </a:p>
        </p:txBody>
      </p:sp>
      <p:sp>
        <p:nvSpPr>
          <p:cNvPr id="17" name="Google Shape;340;p61">
            <a:extLst xmlns:a="http://schemas.openxmlformats.org/drawingml/2006/main">
              <a:ext uri="{FF2B5EF4-FFF2-40B4-BE49-F238E27FC236}">
                <a16:creationId xmlns:a16="http://schemas.microsoft.com/office/drawing/2014/main" id="{A6CF1E9A-BF4C-E7B2-D556-8AB5FB2B65F0}"/>
              </a:ext>
            </a:extLst>
          </p:cNvPr>
          <p:cNvSpPr>
            <a:spLocks xmlns:a="http://schemas.openxmlformats.org/drawingml/2006/main" noGrp="1"/>
          </p:cNvSpPr>
          <p:nvPr/>
        </p:nvSpPr>
        <p:spPr>
          <a:xfrm xmlns:a="http://schemas.openxmlformats.org/drawingml/2006/main">
            <a:off x="7507725" y="3624749"/>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18" name="Content Placeholder 10">
            <a:extLst xmlns:a="http://schemas.openxmlformats.org/drawingml/2006/main">
              <a:ext uri="{FF2B5EF4-FFF2-40B4-BE49-F238E27FC236}">
                <a16:creationId xmlns:a16="http://schemas.microsoft.com/office/drawing/2014/main" id="{FE696631-18B5-8115-E5AD-ACCFD6221418}"/>
              </a:ext>
            </a:extLst>
          </p:cNvPr>
          <p:cNvSpPr>
            <a:spLocks xmlns:a="http://schemas.openxmlformats.org/drawingml/2006/main" noGrp="1"/>
          </p:cNvSpPr>
          <p:nvPr/>
        </p:nvSpPr>
        <p:spPr>
          <a:xfrm xmlns:a="http://schemas.openxmlformats.org/drawingml/2006/main">
            <a:off x="7886700" y="4214765"/>
            <a:ext cx="3911600" cy="5487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latin typeface="Helvetica Neue"/>
                <a:ea typeface="Helvetica Neue"/>
                <a:cs typeface="Helvetica Neue"/>
              </a:rPr>
              <a:t>Branch cases</a:t>
            </a:r>
          </a:p>
        </p:txBody>
      </p:sp>
      <p:sp>
        <p:nvSpPr>
          <p:cNvPr id="19" name="Google Shape;340;p61">
            <a:extLst xmlns:a="http://schemas.openxmlformats.org/drawingml/2006/main">
              <a:ext uri="{FF2B5EF4-FFF2-40B4-BE49-F238E27FC236}">
                <a16:creationId xmlns:a16="http://schemas.microsoft.com/office/drawing/2014/main" id="{6ECBDA1E-6C7D-6B0F-A430-DF8A0965C58D}"/>
              </a:ext>
            </a:extLst>
          </p:cNvPr>
          <p:cNvSpPr>
            <a:spLocks xmlns:a="http://schemas.openxmlformats.org/drawingml/2006/main" noGrp="1"/>
          </p:cNvSpPr>
          <p:nvPr/>
        </p:nvSpPr>
        <p:spPr>
          <a:xfrm xmlns:a="http://schemas.openxmlformats.org/drawingml/2006/main">
            <a:off x="7507725" y="4239598"/>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20" name="Content Placeholder 10">
            <a:extLst xmlns:a="http://schemas.openxmlformats.org/drawingml/2006/main">
              <a:ext uri="{FF2B5EF4-FFF2-40B4-BE49-F238E27FC236}">
                <a16:creationId xmlns:a16="http://schemas.microsoft.com/office/drawing/2014/main" id="{9FC4B09F-4593-687E-52A3-7E683F7FE9E4}"/>
              </a:ext>
            </a:extLst>
          </p:cNvPr>
          <p:cNvSpPr>
            <a:spLocks xmlns:a="http://schemas.openxmlformats.org/drawingml/2006/main" noGrp="1"/>
          </p:cNvSpPr>
          <p:nvPr/>
        </p:nvSpPr>
        <p:spPr>
          <a:xfrm xmlns:a="http://schemas.openxmlformats.org/drawingml/2006/main">
            <a:off x="7886700" y="4824364"/>
            <a:ext cx="3911600" cy="5487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latin typeface="Helvetica Neue"/>
                <a:ea typeface="Helvetica Neue"/>
                <a:cs typeface="Helvetica Neue"/>
              </a:rPr>
              <a:t>Loop invariant</a:t>
            </a:r>
          </a:p>
        </p:txBody>
      </p:sp>
      <p:sp>
        <p:nvSpPr>
          <p:cNvPr id="21" name="Google Shape;340;p61">
            <a:extLst xmlns:a="http://schemas.openxmlformats.org/drawingml/2006/main">
              <a:ext uri="{FF2B5EF4-FFF2-40B4-BE49-F238E27FC236}">
                <a16:creationId xmlns:a16="http://schemas.microsoft.com/office/drawing/2014/main" id="{006032E6-DDFC-FA22-4D08-3BFFC755BB8D}"/>
              </a:ext>
            </a:extLst>
          </p:cNvPr>
          <p:cNvSpPr>
            <a:spLocks xmlns:a="http://schemas.openxmlformats.org/drawingml/2006/main" noGrp="1"/>
          </p:cNvSpPr>
          <p:nvPr/>
        </p:nvSpPr>
        <p:spPr>
          <a:xfrm xmlns:a="http://schemas.openxmlformats.org/drawingml/2006/main">
            <a:off x="7507725" y="4849197"/>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23" name="Content Placeholder 10">
            <a:extLst xmlns:a="http://schemas.openxmlformats.org/drawingml/2006/main">
              <a:ext uri="{FF2B5EF4-FFF2-40B4-BE49-F238E27FC236}">
                <a16:creationId xmlns:a16="http://schemas.microsoft.com/office/drawing/2014/main" id="{EDAB1F81-E12B-29DC-E09F-27F129E42AE8}"/>
              </a:ext>
            </a:extLst>
          </p:cNvPr>
          <p:cNvSpPr>
            <a:spLocks xmlns:a="http://schemas.openxmlformats.org/drawingml/2006/main" noGrp="1"/>
          </p:cNvSpPr>
          <p:nvPr/>
        </p:nvSpPr>
        <p:spPr>
          <a:xfrm xmlns:a="http://schemas.openxmlformats.org/drawingml/2006/main">
            <a:off x="7886700" y="5446664"/>
            <a:ext cx="3911600" cy="5487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latin typeface="Helvetica Neue"/>
                <a:ea typeface="Helvetica Neue"/>
                <a:cs typeface="Helvetica Neue"/>
              </a:rPr>
              <a:t>Remaining time credits</a:t>
            </a:r>
          </a:p>
        </p:txBody>
      </p:sp>
      <p:sp>
        <p:nvSpPr>
          <p:cNvPr id="24" name="Google Shape;340;p61">
            <a:extLst xmlns:a="http://schemas.openxmlformats.org/drawingml/2006/main">
              <a:ext uri="{FF2B5EF4-FFF2-40B4-BE49-F238E27FC236}">
                <a16:creationId xmlns:a16="http://schemas.microsoft.com/office/drawing/2014/main" id="{A052337A-4696-49F7-A089-E21DA71AD3B2}"/>
              </a:ext>
            </a:extLst>
          </p:cNvPr>
          <p:cNvSpPr>
            <a:spLocks xmlns:a="http://schemas.openxmlformats.org/drawingml/2006/main" noGrp="1"/>
          </p:cNvSpPr>
          <p:nvPr/>
        </p:nvSpPr>
        <p:spPr>
          <a:xfrm xmlns:a="http://schemas.openxmlformats.org/drawingml/2006/main">
            <a:off x="7507725" y="5471497"/>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Tree>
    <p:extLst>
      <p:ext uri="{BB962C8B-B14F-4D97-AF65-F5344CB8AC3E}">
        <p14:creationId xmlns:p14="http://schemas.microsoft.com/office/powerpoint/2010/main" val="333187913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02BAAA24-F157-F288-22D7-97AEA157EFE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52A30403-4B2D-2E15-7A2F-51A6DF6BE5D5}"/>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11</a:t>
            </a:fld>
            <a:endParaRPr/>
          </a:p>
        </p:txBody>
      </p:sp>
      <p:sp>
        <p:nvSpPr>
          <p:cNvPr id="533" name="Google Shape;533;p58">
            <a:extLst xmlns:a="http://schemas.openxmlformats.org/drawingml/2006/main">
              <a:ext uri="{FF2B5EF4-FFF2-40B4-BE49-F238E27FC236}">
                <a16:creationId xmlns:a16="http://schemas.microsoft.com/office/drawing/2014/main" id="{0A2BB6CD-1085-4638-68F3-7000FD29EA07}"/>
              </a:ext>
            </a:extLst>
          </p:cNvPr>
          <p:cNvSpPr>
            <a:spLocks xmlns:a="http://schemas.openxmlformats.org/drawingml/2006/main" noGrp="1"/>
          </p:cNvSpPr>
          <p:nvPr>
            <p:ph type="title" idx="0"/>
          </p:nvPr>
        </p:nvSpPr>
        <p:spPr>
          <a:xfrm xmlns:a="http://schemas.openxmlformats.org/drawingml/2006/main">
            <a:off x="393700" y="344488"/>
            <a:ext cx="11404600" cy="644297"/>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Two ways to discharge the same VCs</a:t>
            </a:r>
          </a:p>
        </p:txBody>
      </p:sp>
      <p:sp>
        <p:nvSpPr>
          <p:cNvPr id="2" name="Rounded Rectangle 1">
            <a:extLst xmlns:a="http://schemas.openxmlformats.org/drawingml/2006/main">
              <a:ext uri="{FF2B5EF4-FFF2-40B4-BE49-F238E27FC236}">
                <a16:creationId xmlns:a16="http://schemas.microsoft.com/office/drawing/2014/main" id="{390FBCE0-CCE2-0D7F-19D7-0DA59E2FBD28}"/>
              </a:ext>
            </a:extLst>
          </p:cNvPr>
          <p:cNvSpPr>
            <a:spLocks xmlns:a="http://schemas.openxmlformats.org/drawingml/2006/main" noGrp="1"/>
          </p:cNvSpPr>
          <p:nvPr/>
        </p:nvSpPr>
        <p:spPr>
          <a:xfrm xmlns:a="http://schemas.openxmlformats.org/drawingml/2006/main">
            <a:off x="397013" y="3339053"/>
            <a:ext cx="5533887" cy="1320801"/>
          </a:xfrm>
          <a:prstGeom xmlns:a="http://schemas.openxmlformats.org/drawingml/2006/main" prst="roundRect">
            <a:avLst>
              <a:gd name="adj" fmla="val 0"/>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Content Placeholder 10">
            <a:extLst xmlns:a="http://schemas.openxmlformats.org/drawingml/2006/main">
              <a:ext uri="{FF2B5EF4-FFF2-40B4-BE49-F238E27FC236}">
                <a16:creationId xmlns:a16="http://schemas.microsoft.com/office/drawing/2014/main" id="{31291836-42DE-4BA2-7C66-683137F113DF}"/>
              </a:ext>
            </a:extLst>
          </p:cNvPr>
          <p:cNvSpPr>
            <a:spLocks xmlns:a="http://schemas.openxmlformats.org/drawingml/2006/main" noGrp="1"/>
          </p:cNvSpPr>
          <p:nvPr/>
        </p:nvSpPr>
        <p:spPr>
          <a:xfrm xmlns:a="http://schemas.openxmlformats.org/drawingml/2006/main">
            <a:off x="694248" y="3587937"/>
            <a:ext cx="4986886" cy="87778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latin typeface="Helvetica Neue"/>
                <a:ea typeface="Helvetica Neue"/>
                <a:cs typeface="Helvetica Neue"/>
              </a:rPr>
              <a:t>Direct source proof: use compositional contracts and a source loop invariant.</a:t>
            </a:r>
          </a:p>
        </p:txBody>
      </p:sp>
      <p:sp>
        <p:nvSpPr>
          <p:cNvPr id="4" name="Content Placeholder 15">
            <a:extLst xmlns:a="http://schemas.openxmlformats.org/drawingml/2006/main">
              <a:ext uri="{FF2B5EF4-FFF2-40B4-BE49-F238E27FC236}">
                <a16:creationId xmlns:a16="http://schemas.microsoft.com/office/drawing/2014/main" id="{3D399E38-72C8-159B-DE08-FC689A75B5E9}"/>
              </a:ext>
            </a:extLst>
          </p:cNvPr>
          <p:cNvSpPr>
            <a:spLocks xmlns:a="http://schemas.openxmlformats.org/drawingml/2006/main" noGrp="1"/>
          </p:cNvSpPr>
          <p:nvPr/>
        </p:nvSpPr>
        <p:spPr>
          <a:xfrm xmlns:a="http://schemas.openxmlformats.org/drawingml/2006/main">
            <a:off x="694248" y="4828582"/>
            <a:ext cx="5236652" cy="9779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28600" lvl="0" indent="-228600">
              <a:lnSpc>
                <a:spcPct val="114000"/>
              </a:lnSpc>
              <a:spcBef>
                <a:spcPts val="0"/>
              </a:spcBef>
              <a:spcAft>
                <a:spcPts val="600"/>
              </a:spcAft>
              <a:buFont typeface="Arial"/>
              <a:buChar char="•"/>
            </a:pPr>
            <a:r>
              <a:rPr sz="1400">
                <a:latin typeface="Helvetica Neue"/>
                <a:ea typeface="Helvetica Neue"/>
                <a:cs typeface="Helvetica Neue"/>
              </a:rPr>
              <a:t>VC.sound</a:t>
            </a:r>
          </a:p>
          <a:p xmlns:a="http://schemas.openxmlformats.org/drawingml/2006/main">
            <a:pPr marL="228600" lvl="0" indent="-228600">
              <a:lnSpc>
                <a:spcPct val="114000"/>
              </a:lnSpc>
              <a:spcBef>
                <a:spcPts val="0"/>
              </a:spcBef>
              <a:spcAft>
                <a:spcPts val="600"/>
              </a:spcAft>
              <a:buFont typeface="Arial"/>
              <a:buChar char="•"/>
            </a:pPr>
            <a:r>
              <a:rPr sz="1400">
                <a:latin typeface="Helvetica Neue"/>
                <a:ea typeface="Helvetica Neue"/>
                <a:cs typeface="Helvetica Neue"/>
              </a:rPr>
              <a:t>Library operation contracts</a:t>
            </a:r>
          </a:p>
          <a:p xmlns:a="http://schemas.openxmlformats.org/drawingml/2006/main">
            <a:pPr marL="228600" lvl="0" indent="-228600">
              <a:lnSpc>
                <a:spcPct val="114000"/>
              </a:lnSpc>
              <a:spcBef>
                <a:spcPts val="0"/>
              </a:spcBef>
              <a:spcAft>
                <a:spcPts val="600"/>
              </a:spcAft>
              <a:buFont typeface="Arial"/>
              <a:buChar char="•"/>
            </a:pPr>
            <a:r>
              <a:rPr sz="1400">
                <a:latin typeface="Helvetica Neue"/>
                <a:ea typeface="Helvetica Neue"/>
                <a:cs typeface="Helvetica Neue"/>
              </a:rPr>
              <a:t>Suitable for new source programs</a:t>
            </a:r>
          </a:p>
        </p:txBody>
      </p:sp>
      <p:sp>
        <p:nvSpPr>
          <p:cNvPr id="8" name="Rounded Rectangle 7">
            <a:extLst xmlns:a="http://schemas.openxmlformats.org/drawingml/2006/main">
              <a:ext uri="{FF2B5EF4-FFF2-40B4-BE49-F238E27FC236}">
                <a16:creationId xmlns:a16="http://schemas.microsoft.com/office/drawing/2014/main" id="{5E1586E9-BDFD-E84E-20C0-875E339DC80D}"/>
              </a:ext>
            </a:extLst>
          </p:cNvPr>
          <p:cNvSpPr>
            <a:spLocks xmlns:a="http://schemas.openxmlformats.org/drawingml/2006/main" noGrp="1"/>
          </p:cNvSpPr>
          <p:nvPr/>
        </p:nvSpPr>
        <p:spPr>
          <a:xfrm xmlns:a="http://schemas.openxmlformats.org/drawingml/2006/main">
            <a:off x="6260785" y="3339053"/>
            <a:ext cx="5533887" cy="1320801"/>
          </a:xfrm>
          <a:prstGeom xmlns:a="http://schemas.openxmlformats.org/drawingml/2006/main" prst="roundRect">
            <a:avLst>
              <a:gd name="adj" fmla="val 0"/>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Content Placeholder 10">
            <a:extLst xmlns:a="http://schemas.openxmlformats.org/drawingml/2006/main">
              <a:ext uri="{FF2B5EF4-FFF2-40B4-BE49-F238E27FC236}">
                <a16:creationId xmlns:a16="http://schemas.microsoft.com/office/drawing/2014/main" id="{BDE93465-12EE-49A8-048B-A3C97C2DFE3D}"/>
              </a:ext>
            </a:extLst>
          </p:cNvPr>
          <p:cNvSpPr>
            <a:spLocks xmlns:a="http://schemas.openxmlformats.org/drawingml/2006/main" noGrp="1"/>
          </p:cNvSpPr>
          <p:nvPr/>
        </p:nvSpPr>
        <p:spPr>
          <a:xfrm xmlns:a="http://schemas.openxmlformats.org/drawingml/2006/main">
            <a:off x="6558020" y="3587937"/>
            <a:ext cx="4986886" cy="87778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latin typeface="Helvetica Neue"/>
                <a:ea typeface="Helvetica Neue"/>
                <a:cs typeface="Helvetica Neue"/>
              </a:rPr>
              <a:t>Refinement proof: reuse an instruction invariant certificate for a matching source body.</a:t>
            </a:r>
          </a:p>
        </p:txBody>
      </p:sp>
      <p:sp>
        <p:nvSpPr>
          <p:cNvPr id="13" name="Content Placeholder 15">
            <a:extLst xmlns:a="http://schemas.openxmlformats.org/drawingml/2006/main">
              <a:ext uri="{FF2B5EF4-FFF2-40B4-BE49-F238E27FC236}">
                <a16:creationId xmlns:a16="http://schemas.microsoft.com/office/drawing/2014/main" id="{0F1EA821-AA26-C1FC-F948-D100ABDE2920}"/>
              </a:ext>
            </a:extLst>
          </p:cNvPr>
          <p:cNvSpPr>
            <a:spLocks xmlns:a="http://schemas.openxmlformats.org/drawingml/2006/main" noGrp="1"/>
          </p:cNvSpPr>
          <p:nvPr/>
        </p:nvSpPr>
        <p:spPr>
          <a:xfrm xmlns:a="http://schemas.openxmlformats.org/drawingml/2006/main">
            <a:off x="6558020" y="4828582"/>
            <a:ext cx="5236652" cy="9779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28600" lvl="0" indent="-228600">
              <a:lnSpc>
                <a:spcPct val="114000"/>
              </a:lnSpc>
              <a:spcBef>
                <a:spcPts val="0"/>
              </a:spcBef>
              <a:spcAft>
                <a:spcPts val="600"/>
              </a:spcAft>
              <a:buFont typeface="Arial"/>
              <a:buChar char="•"/>
            </a:pPr>
            <a:r>
              <a:rPr sz="1400">
                <a:latin typeface="Helvetica Neue"/>
                <a:ea typeface="Helvetica Neue"/>
                <a:cs typeface="Helvetica Neue"/>
              </a:rPr>
              <a:t>Refinement.lift_correct</a:t>
            </a:r>
          </a:p>
          <a:p xmlns:a="http://schemas.openxmlformats.org/drawingml/2006/main">
            <a:pPr marL="228600" lvl="0" indent="-228600">
              <a:lnSpc>
                <a:spcPct val="114000"/>
              </a:lnSpc>
              <a:spcBef>
                <a:spcPts val="0"/>
              </a:spcBef>
              <a:spcAft>
                <a:spcPts val="600"/>
              </a:spcAft>
              <a:buFont typeface="Arial"/>
              <a:buChar char="•"/>
            </a:pPr>
            <a:r>
              <a:rPr sz="1400">
                <a:latin typeface="Helvetica Neue"/>
                <a:ea typeface="Helvetica Neue"/>
                <a:cs typeface="Helvetica Neue"/>
              </a:rPr>
              <a:t>Eval.transfer and Contract.vc</a:t>
            </a:r>
          </a:p>
          <a:p xmlns:a="http://schemas.openxmlformats.org/drawingml/2006/main">
            <a:pPr marL="228600" lvl="0" indent="-228600">
              <a:lnSpc>
                <a:spcPct val="114000"/>
              </a:lnSpc>
              <a:spcBef>
                <a:spcPts val="0"/>
              </a:spcBef>
              <a:spcAft>
                <a:spcPts val="600"/>
              </a:spcAft>
              <a:buFont typeface="Arial"/>
              <a:buChar char="•"/>
            </a:pPr>
            <a:r>
              <a:rPr sz="1400">
                <a:latin typeface="Helvetica Neue"/>
                <a:ea typeface="Helvetica Neue"/>
                <a:cs typeface="Helvetica Neue"/>
              </a:rPr>
              <a:t>Used by the complete sort and BFS demos</a:t>
            </a:r>
          </a:p>
        </p:txBody>
      </p:sp>
      <p:sp>
        <p:nvSpPr>
          <p:cNvPr id="14" name="Content Placeholder 15">
            <a:extLst xmlns:a="http://schemas.openxmlformats.org/drawingml/2006/main">
              <a:ext uri="{FF2B5EF4-FFF2-40B4-BE49-F238E27FC236}">
                <a16:creationId xmlns:a16="http://schemas.microsoft.com/office/drawing/2014/main" id="{53566714-9098-3B48-6D62-954DC695F743}"/>
              </a:ext>
            </a:extLst>
          </p:cNvPr>
          <p:cNvSpPr>
            <a:spLocks xmlns:a="http://schemas.openxmlformats.org/drawingml/2006/main" noGrp="1"/>
          </p:cNvSpPr>
          <p:nvPr/>
        </p:nvSpPr>
        <p:spPr>
          <a:xfrm xmlns:a="http://schemas.openxmlformats.org/drawingml/2006/main">
            <a:off x="400939" y="1157513"/>
            <a:ext cx="11404599" cy="162922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pPr>
            <a:r>
              <a:rPr sz="1800">
                <a:latin typeface="Helvetica Neue Medium"/>
                <a:ea typeface="Helvetica Neue Medium"/>
                <a:cs typeface="Helvetica Neue Medium"/>
              </a:rPr>
              <a:t>One contract interface</a:t>
            </a:r>
          </a:p>
          <a:p xmlns:a="http://schemas.openxmlformats.org/drawingml/2006/main">
            <a:pPr>
              <a:lnSpc>
                <a:spcPct val="114000"/>
              </a:lnSpc>
              <a:spcBef>
                <a:spcPts val="0"/>
              </a:spcBef>
              <a:spcAft>
                <a:spcPts val="600"/>
              </a:spcAft>
              <a:buNone/>
            </a:pPr>
            <a:r>
              <a:rPr>
                <a:latin typeface="Helvetica Neue"/>
                <a:ea typeface="Helvetica Neue"/>
                <a:cs typeface="Helvetica Neue"/>
              </a:rPr>
              <a:t>Both proof styles establish the independent source semantics. Method then uses the same verified compiler and fuel-free runner.</a:t>
            </a:r>
          </a:p>
        </p:txBody>
      </p:sp>
    </p:spTree>
    <p:extLst>
      <p:ext uri="{BB962C8B-B14F-4D97-AF65-F5344CB8AC3E}">
        <p14:creationId xmlns:p14="http://schemas.microsoft.com/office/powerpoint/2010/main" val="346245865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1" name="Footer Placeholder 10">
            <a:extLst xmlns:a="http://schemas.openxmlformats.org/drawingml/2006/main">
              <a:ext uri="{FF2B5EF4-FFF2-40B4-BE49-F238E27FC236}">
                <a16:creationId xmlns:a16="http://schemas.microsoft.com/office/drawing/2014/main" id="{C4B207BF-6BAB-0D91-F12C-1E6FFBCC420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AA5CCC43-8737-3A41-CAE5-94B8C1D29B58}"/>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12</a:t>
            </a:fld>
            <a:endParaRPr/>
          </a:p>
        </p:txBody>
      </p:sp>
      <p:sp>
        <p:nvSpPr>
          <p:cNvPr id="533" name="Google Shape;533;p58">
            <a:extLst xmlns:a="http://schemas.openxmlformats.org/drawingml/2006/main">
              <a:ext uri="{FF2B5EF4-FFF2-40B4-BE49-F238E27FC236}">
                <a16:creationId xmlns:a16="http://schemas.microsoft.com/office/drawing/2014/main" id="{8B77B614-E3C4-8964-0877-92800631D48F}"/>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Design principles</a:t>
            </a:r>
          </a:p>
        </p:txBody>
      </p:sp>
      <p:sp>
        <p:nvSpPr>
          <p:cNvPr id="7" name="Rounded Rectangle 6">
            <a:extLst xmlns:a="http://schemas.openxmlformats.org/drawingml/2006/main">
              <a:ext uri="{FF2B5EF4-FFF2-40B4-BE49-F238E27FC236}">
                <a16:creationId xmlns:a16="http://schemas.microsoft.com/office/drawing/2014/main" id="{24774D92-572F-796B-CFA0-75F5BDE34DE7}"/>
              </a:ext>
            </a:extLst>
          </p:cNvPr>
          <p:cNvSpPr>
            <a:spLocks xmlns:a="http://schemas.openxmlformats.org/drawingml/2006/main" noGrp="1"/>
          </p:cNvSpPr>
          <p:nvPr/>
        </p:nvSpPr>
        <p:spPr>
          <a:xfrm xmlns:a="http://schemas.openxmlformats.org/drawingml/2006/main">
            <a:off x="6264412" y="2369856"/>
            <a:ext cx="5533887" cy="16383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Content Placeholder 10">
            <a:extLst xmlns:a="http://schemas.openxmlformats.org/drawingml/2006/main">
              <a:ext uri="{FF2B5EF4-FFF2-40B4-BE49-F238E27FC236}">
                <a16:creationId xmlns:a16="http://schemas.microsoft.com/office/drawing/2014/main" id="{C0439ECA-9193-112F-E7E6-326447CEF7EB}"/>
              </a:ext>
            </a:extLst>
          </p:cNvPr>
          <p:cNvSpPr>
            <a:spLocks xmlns:a="http://schemas.openxmlformats.org/drawingml/2006/main" noGrp="1"/>
          </p:cNvSpPr>
          <p:nvPr/>
        </p:nvSpPr>
        <p:spPr>
          <a:xfrm xmlns:a="http://schemas.openxmlformats.org/drawingml/2006/main">
            <a:off x="6561647" y="2664788"/>
            <a:ext cx="4986886" cy="1048436"/>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latin typeface="Helvetica Neue"/>
                <a:ea typeface="Helvetica Neue"/>
                <a:cs typeface="Helvetica Neue"/>
              </a:rPr>
              <a:t>Costs follow execution</a:t>
            </a:r>
          </a:p>
          <a:p xmlns:a="http://schemas.openxmlformats.org/drawingml/2006/main">
            <a:pPr marL="0" indent="0">
              <a:lnSpc>
                <a:spcPct val="100000"/>
              </a:lnSpc>
              <a:spcBef>
                <a:spcPts val="1300"/>
              </a:spcBef>
              <a:spcAft>
                <a:spcPts val="1300"/>
              </a:spcAft>
              <a:buFontTx/>
              <a:buNone/>
            </a:pPr>
            <a:r>
              <a:rPr sz="1600">
                <a:latin typeface="Helvetica Neue"/>
                <a:ea typeface="Helvetica Neue"/>
                <a:cs typeface="Helvetica Neue"/>
              </a:rPr>
              <a:t>No instruction accepts a user-selected running-time annotation.</a:t>
            </a:r>
          </a:p>
        </p:txBody>
      </p:sp>
      <p:sp>
        <p:nvSpPr>
          <p:cNvPr id="9" name="Rounded Rectangle 8">
            <a:extLst xmlns:a="http://schemas.openxmlformats.org/drawingml/2006/main">
              <a:ext uri="{FF2B5EF4-FFF2-40B4-BE49-F238E27FC236}">
                <a16:creationId xmlns:a16="http://schemas.microsoft.com/office/drawing/2014/main" id="{BED27E76-B721-E464-2478-718E91A649B4}"/>
              </a:ext>
            </a:extLst>
          </p:cNvPr>
          <p:cNvSpPr>
            <a:spLocks xmlns:a="http://schemas.openxmlformats.org/drawingml/2006/main" noGrp="1"/>
          </p:cNvSpPr>
          <p:nvPr/>
        </p:nvSpPr>
        <p:spPr>
          <a:xfrm xmlns:a="http://schemas.openxmlformats.org/drawingml/2006/main">
            <a:off x="409043" y="2369856"/>
            <a:ext cx="5533887" cy="16383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Content Placeholder 10">
            <a:extLst xmlns:a="http://schemas.openxmlformats.org/drawingml/2006/main">
              <a:ext uri="{FF2B5EF4-FFF2-40B4-BE49-F238E27FC236}">
                <a16:creationId xmlns:a16="http://schemas.microsoft.com/office/drawing/2014/main" id="{40DA34A0-E630-37E8-0332-0E57245DCF0D}"/>
              </a:ext>
            </a:extLst>
          </p:cNvPr>
          <p:cNvSpPr>
            <a:spLocks xmlns:a="http://schemas.openxmlformats.org/drawingml/2006/main" noGrp="1"/>
          </p:cNvSpPr>
          <p:nvPr/>
        </p:nvSpPr>
        <p:spPr>
          <a:xfrm xmlns:a="http://schemas.openxmlformats.org/drawingml/2006/main">
            <a:off x="706278" y="2664788"/>
            <a:ext cx="4986886" cy="1048436"/>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10000"/>
              </a:lnSpc>
              <a:spcBef>
                <a:spcPts val="0"/>
              </a:spcBef>
              <a:spcAft>
                <a:spcPts val="0"/>
              </a:spcAft>
              <a:buClrTx/>
              <a:buSzTx/>
              <a:buFontTx/>
              <a:buNone/>
            </a:pPr>
            <a:r>
              <a:rPr sz="1600" b="0" i="0" u="none" cap="none" spc="0">
                <a:ln>
                  <a:noFill/>
                </a:ln>
                <a:latin typeface="Helvetica Neue"/>
                <a:ea typeface="Helvetica Neue"/>
                <a:cs typeface="Helvetica Neue"/>
              </a:rPr>
              <a:t>Syntax has meaning</a:t>
            </a:r>
          </a:p>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latin typeface="Helvetica Neue"/>
                <a:ea typeface="Helvetica Neue"/>
                <a:cs typeface="Helvetica Neue"/>
              </a:rPr>
              <a:t>Every DSL construct expands to the same typed command language.</a:t>
            </a:r>
          </a:p>
        </p:txBody>
      </p:sp>
      <p:sp>
        <p:nvSpPr>
          <p:cNvPr id="2" name="Rounded Rectangle 1">
            <a:extLst xmlns:a="http://schemas.openxmlformats.org/drawingml/2006/main">
              <a:ext uri="{FF2B5EF4-FFF2-40B4-BE49-F238E27FC236}">
                <a16:creationId xmlns:a16="http://schemas.microsoft.com/office/drawing/2014/main" id="{F421FB3D-82DC-94B6-ADD3-99BB3C8E58D0}"/>
              </a:ext>
            </a:extLst>
          </p:cNvPr>
          <p:cNvSpPr>
            <a:spLocks xmlns:a="http://schemas.openxmlformats.org/drawingml/2006/main" noGrp="1"/>
          </p:cNvSpPr>
          <p:nvPr/>
        </p:nvSpPr>
        <p:spPr>
          <a:xfrm xmlns:a="http://schemas.openxmlformats.org/drawingml/2006/main">
            <a:off x="6264412" y="4370106"/>
            <a:ext cx="5533887" cy="16383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Content Placeholder 10">
            <a:extLst xmlns:a="http://schemas.openxmlformats.org/drawingml/2006/main">
              <a:ext uri="{FF2B5EF4-FFF2-40B4-BE49-F238E27FC236}">
                <a16:creationId xmlns:a16="http://schemas.microsoft.com/office/drawing/2014/main" id="{9122C651-AF0B-D7E1-E9EF-3F4BC1C587A5}"/>
              </a:ext>
            </a:extLst>
          </p:cNvPr>
          <p:cNvSpPr>
            <a:spLocks xmlns:a="http://schemas.openxmlformats.org/drawingml/2006/main" noGrp="1"/>
          </p:cNvSpPr>
          <p:nvPr/>
        </p:nvSpPr>
        <p:spPr>
          <a:xfrm xmlns:a="http://schemas.openxmlformats.org/drawingml/2006/main">
            <a:off x="6561647" y="4665038"/>
            <a:ext cx="4986886" cy="1048436"/>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latin typeface="Helvetica Neue"/>
                <a:ea typeface="Helvetica Neue"/>
                <a:cs typeface="Helvetica Neue"/>
              </a:rPr>
              <a:t>Contracts compose</a:t>
            </a:r>
          </a:p>
          <a:p xmlns:a="http://schemas.openxmlformats.org/drawingml/2006/main">
            <a:pPr marL="0" indent="0">
              <a:lnSpc>
                <a:spcPct val="100000"/>
              </a:lnSpc>
              <a:spcBef>
                <a:spcPts val="1300"/>
              </a:spcBef>
              <a:spcAft>
                <a:spcPts val="1300"/>
              </a:spcAft>
              <a:buFontTx/>
              <a:buNone/>
            </a:pPr>
            <a:r>
              <a:rPr sz="1600">
                <a:latin typeface="Helvetica Neue"/>
                <a:ea typeface="Helvetica Neue"/>
                <a:cs typeface="Helvetica Neue"/>
              </a:rPr>
              <a:t>Representation and frame lemmas keep algorithm invariants local.</a:t>
            </a:r>
          </a:p>
        </p:txBody>
      </p:sp>
      <p:sp>
        <p:nvSpPr>
          <p:cNvPr id="4" name="Rounded Rectangle 3">
            <a:extLst xmlns:a="http://schemas.openxmlformats.org/drawingml/2006/main">
              <a:ext uri="{FF2B5EF4-FFF2-40B4-BE49-F238E27FC236}">
                <a16:creationId xmlns:a16="http://schemas.microsoft.com/office/drawing/2014/main" id="{EDA590ED-3B5F-06BC-B0E9-C6DC4E8BBF0C}"/>
              </a:ext>
            </a:extLst>
          </p:cNvPr>
          <p:cNvSpPr>
            <a:spLocks xmlns:a="http://schemas.openxmlformats.org/drawingml/2006/main" noGrp="1"/>
          </p:cNvSpPr>
          <p:nvPr/>
        </p:nvSpPr>
        <p:spPr>
          <a:xfrm xmlns:a="http://schemas.openxmlformats.org/drawingml/2006/main">
            <a:off x="409043" y="4370106"/>
            <a:ext cx="5533887" cy="16383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Content Placeholder 10">
            <a:extLst xmlns:a="http://schemas.openxmlformats.org/drawingml/2006/main">
              <a:ext uri="{FF2B5EF4-FFF2-40B4-BE49-F238E27FC236}">
                <a16:creationId xmlns:a16="http://schemas.microsoft.com/office/drawing/2014/main" id="{EB1BBBB3-DA5C-C3DF-7DD6-33AB7A85340B}"/>
              </a:ext>
            </a:extLst>
          </p:cNvPr>
          <p:cNvSpPr>
            <a:spLocks xmlns:a="http://schemas.openxmlformats.org/drawingml/2006/main" noGrp="1"/>
          </p:cNvSpPr>
          <p:nvPr/>
        </p:nvSpPr>
        <p:spPr>
          <a:xfrm xmlns:a="http://schemas.openxmlformats.org/drawingml/2006/main">
            <a:off x="706278" y="4665038"/>
            <a:ext cx="4986886" cy="1048436"/>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latin typeface="Helvetica Neue"/>
                <a:ea typeface="Helvetica Neue"/>
                <a:cs typeface="Helvetica Neue"/>
              </a:rPr>
              <a:t>Proof state stays ghost</a:t>
            </a:r>
          </a:p>
          <a:p xmlns:a="http://schemas.openxmlformats.org/drawingml/2006/main">
            <a:pPr marL="0" indent="0">
              <a:lnSpc>
                <a:spcPct val="100000"/>
              </a:lnSpc>
              <a:spcBef>
                <a:spcPts val="1300"/>
              </a:spcBef>
              <a:spcAft>
                <a:spcPts val="1300"/>
              </a:spcAft>
              <a:buFontTx/>
              <a:buNone/>
            </a:pPr>
            <a:r>
              <a:rPr sz="1600">
                <a:latin typeface="Helvetica Neue"/>
                <a:ea typeface="Helvetica Neue"/>
                <a:cs typeface="Helvetica Neue"/>
              </a:rPr>
              <a:t>Mathematical sets and potentials do not run inside the machine.</a:t>
            </a:r>
          </a:p>
        </p:txBody>
      </p:sp>
      <p:sp>
        <p:nvSpPr>
          <p:cNvPr id="6" name="Content Placeholder 15">
            <a:extLst xmlns:a="http://schemas.openxmlformats.org/drawingml/2006/main">
              <a:ext uri="{FF2B5EF4-FFF2-40B4-BE49-F238E27FC236}">
                <a16:creationId xmlns:a16="http://schemas.microsoft.com/office/drawing/2014/main" id="{04E6B723-686B-D8DD-4DA5-3E62BDE4905A}"/>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pPr>
            <a:r>
              <a:rPr sz="1800">
                <a:latin typeface="Helvetica Neue Medium"/>
                <a:ea typeface="Helvetica Neue Medium"/>
                <a:cs typeface="Helvetica Neue Medium"/>
              </a:rPr>
              <a:t>A checkable proof boundary</a:t>
            </a:r>
          </a:p>
          <a:p xmlns:a="http://schemas.openxmlformats.org/drawingml/2006/main">
            <a:pPr>
              <a:lnSpc>
                <a:spcPct val="114000"/>
              </a:lnSpc>
              <a:spcBef>
                <a:spcPts val="0"/>
              </a:spcBef>
              <a:spcAft>
                <a:spcPts val="600"/>
              </a:spcAft>
              <a:buNone/>
            </a:pPr>
            <a:r>
              <a:rPr>
                <a:latin typeface="Helvetica Neue"/>
                <a:ea typeface="Helvetica Neue"/>
                <a:cs typeface="Helvetica Neue"/>
              </a:rPr>
              <a:t>Each layer states what it assumes and what it guarantees to the next layer.</a:t>
            </a:r>
          </a:p>
        </p:txBody>
      </p:sp>
    </p:spTree>
    <p:extLst>
      <p:ext uri="{BB962C8B-B14F-4D97-AF65-F5344CB8AC3E}">
        <p14:creationId xmlns:p14="http://schemas.microsoft.com/office/powerpoint/2010/main" val="176600024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lstStyle xmlns:a="http://schemas.openxmlformats.org/drawingml/2006/main"/>
          <a:p xmlns:a="http://schemas.openxmlformats.org/drawingml/2006/main">
            <a:fld id="{00000000-1234-1234-1234-123412341234}" type="slidenum">
              <a:t>13</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t>Library interfaces</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pPr>
            <a:r>
              <a:rPr sz="2400" b="0" i="0" u="none" cap="none" spc="0">
                <a:ln>
                  <a:noFill/>
                </a:ln>
                <a:latin typeface="Helvetica Neue"/>
                <a:ea typeface="Helvetica Neue"/>
                <a:cs typeface="Helvetica Neue"/>
              </a:rPr>
              <a:t>Array segments</a:t>
            </a:r>
          </a:p>
          <a:p xmlns:a="http://schemas.openxmlformats.org/drawingml/2006/main">
            <a:pPr marL="0" marR="0" lvl="0" indent="0" algn="l" defTabSz="914400">
              <a:lnSpc>
                <a:spcPct val="100000"/>
              </a:lnSpc>
              <a:spcBef>
                <a:spcPts val="1300"/>
              </a:spcBef>
              <a:spcAft>
                <a:spcPts val="1300"/>
              </a:spcAft>
              <a:buClrTx/>
              <a:buSzTx/>
              <a:buFontTx/>
              <a:buNone/>
            </a:pPr>
            <a:r>
              <a:rPr sz="1800" b="0" i="0" u="none" cap="none" spc="0">
                <a:ln>
                  <a:noFill/>
                </a:ln>
                <a:latin typeface="Helvetica Neue"/>
                <a:ea typeface="Helvetica Neue"/>
                <a:cs typeface="Helvetica Neue"/>
              </a:rPr>
              <a:t>Logical contents, safe indexed access, and preservation of unrelated memory.</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pPr>
            <a:r>
              <a:rPr sz="2400" b="0" i="0" u="none" cap="none" spc="0">
                <a:ln>
                  <a:noFill/>
                </a:ln>
                <a:latin typeface="Helvetica Neue"/>
                <a:ea typeface="Helvetica Neue"/>
                <a:cs typeface="Helvetica Neue"/>
              </a:rPr>
              <a:t>Queues</a:t>
            </a:r>
          </a:p>
          <a:p xmlns:a="http://schemas.openxmlformats.org/drawingml/2006/main">
            <a:pPr marL="0" marR="0" lvl="0" indent="0" algn="l" defTabSz="914400">
              <a:lnSpc>
                <a:spcPct val="100000"/>
              </a:lnSpc>
              <a:spcBef>
                <a:spcPts val="1300"/>
              </a:spcBef>
              <a:spcAft>
                <a:spcPts val="1300"/>
              </a:spcAft>
              <a:buClrTx/>
              <a:buSzTx/>
              <a:buFontTx/>
              <a:buNone/>
            </a:pPr>
            <a:r>
              <a:rPr sz="1800" b="0" i="0" u="none" cap="none" spc="0">
                <a:ln>
                  <a:noFill/>
                </a:ln>
                <a:latin typeface="Helvetica Neue"/>
                <a:ea typeface="Helvetica Neue"/>
                <a:cs typeface="Helvetica Neue"/>
              </a:rPr>
              <a:t>A live interval represents the FIFO. Enqueue writes one slot; dequeue advances the front.</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a:latin typeface="Helvetica Neue"/>
                <a:ea typeface="Helvetica Neue"/>
                <a:cs typeface="Helvetica Neue"/>
              </a:rPr>
              <a:t>Stacks</a:t>
            </a:r>
          </a:p>
          <a:p xmlns:a="http://schemas.openxmlformats.org/drawingml/2006/main">
            <a:pPr marL="0" indent="0">
              <a:lnSpc>
                <a:spcPct val="100000"/>
              </a:lnSpc>
              <a:spcBef>
                <a:spcPts val="1300"/>
              </a:spcBef>
              <a:spcAft>
                <a:spcPts val="1300"/>
              </a:spcAft>
              <a:buFontTx/>
              <a:buNone/>
            </a:pPr>
            <a:r>
              <a:rPr sz="1800">
                <a:latin typeface="Helvetica Neue"/>
                <a:ea typeface="Helvetica Neue"/>
                <a:cs typeface="Helvetica Neue"/>
              </a:rPr>
              <a:t>A bounded prefix represents the LIFO. Push and pop preserve its logical sequence.</a:t>
            </a:r>
            <a:endParaRPr sz="1800">
              <a:latin typeface="Helvetica Neue"/>
              <a:ea typeface="Helvetica Neue"/>
              <a:cs typeface="Helvetica Neue"/>
            </a:endParaRP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a:latin typeface="Helvetica Neue"/>
                <a:ea typeface="Helvetica Neue"/>
                <a:cs typeface="Helvetica Neue"/>
              </a:rPr>
              <a:t>Graphs</a:t>
            </a:r>
          </a:p>
          <a:p xmlns:a="http://schemas.openxmlformats.org/drawingml/2006/main">
            <a:pPr marL="0" indent="0">
              <a:lnSpc>
                <a:spcPct val="100000"/>
              </a:lnSpc>
              <a:spcBef>
                <a:spcPts val="1300"/>
              </a:spcBef>
              <a:spcAft>
                <a:spcPts val="1300"/>
              </a:spcAft>
              <a:buFontTx/>
              <a:buNone/>
            </a:pPr>
            <a:r>
              <a:rPr sz="1800">
                <a:latin typeface="Helvetica Neue"/>
                <a:ea typeface="Helvetica Neue"/>
                <a:cs typeface="Helvetica Neue"/>
              </a:rPr>
              <a:t>Linked adjacency lists support the proven BFS. A separate CSR interface shares the graph specification.</a:t>
            </a:r>
            <a:endParaRPr sz="1800">
              <a:latin typeface="Helvetica Neue"/>
              <a:ea typeface="Helvetica Neue"/>
              <a:cs typeface="Helvetica Neue"/>
            </a:endParaRPr>
          </a:p>
        </p:txBody>
      </p:sp>
    </p:spTree>
    <p:extLst>
      <p:ext uri="{BB962C8B-B14F-4D97-AF65-F5344CB8AC3E}">
        <p14:creationId xmlns:p14="http://schemas.microsoft.com/office/powerpoint/2010/main" val="36014548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14</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The theorem map</a:t>
            </a:r>
          </a:p>
        </p:txBody>
      </p:sp>
      <p:sp>
        <p:nvSpPr>
          <p:cNvPr id="14" name="Content Placeholder 15">
            <a:extLst xmlns:a="http://schemas.openxmlformats.org/drawingml/2006/main">
              <a:ext uri="{FF2B5EF4-FFF2-40B4-BE49-F238E27FC236}">
                <a16:creationId xmlns:a16="http://schemas.microsoft.com/office/drawing/2014/main" id="{D81689CF-E5CF-3072-801D-DC2D321D4955}"/>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pPr>
            <a:r>
              <a:rPr sz="1800">
                <a:latin typeface="Helvetica Neue Medium"/>
                <a:ea typeface="Helvetica Neue Medium"/>
                <a:cs typeface="Helvetica Neue Medium"/>
              </a:rPr>
              <a:t>What to check</a:t>
            </a:r>
          </a:p>
          <a:p xmlns:a="http://schemas.openxmlformats.org/drawingml/2006/main">
            <a:pPr>
              <a:lnSpc>
                <a:spcPct val="114000"/>
              </a:lnSpc>
              <a:spcBef>
                <a:spcPts val="0"/>
              </a:spcBef>
              <a:spcAft>
                <a:spcPts val="600"/>
              </a:spcAft>
              <a:buNone/>
            </a:pPr>
            <a:r>
              <a:rPr>
                <a:latin typeface="Helvetica Neue"/>
                <a:ea typeface="Helvetica Neue"/>
                <a:cs typeface="Helvetica Neue"/>
              </a:rPr>
              <a:t>Names below connect the source program, generated obligations, and final execution.</a:t>
            </a:r>
          </a:p>
        </p:txBody>
      </p:sp>
      <p:graphicFrame>
        <p:nvGraphicFramePr>
          <p:cNvPr id="539" name="Google Shape;644;p93"/>
          <p:cNvGraphicFramePr/>
          <p:nvPr/>
        </p:nvGraphicFramePr>
        <p:xfrm>
          <a:off xmlns:a="http://schemas.openxmlformats.org/drawingml/2006/main" x="393700" y="2251080"/>
          <a:ext xmlns:a="http://schemas.openxmlformats.org/drawingml/2006/main" cx="11404599" cy="3932614"/>
        </p:xfrm>
        <a:graphic xmlns:a="http://schemas.openxmlformats.org/drawingml/2006/main">
          <a:graphicData uri="http://schemas.openxmlformats.org/drawingml/2006/table">
            <a:tbl>
              <a:tblPr firstRow="1"/>
              <a:tblGrid>
                <a:gridCol w="3906063"/>
                <a:gridCol w="1874634"/>
                <a:gridCol w="1874634"/>
                <a:gridCol w="1874634"/>
                <a:gridCol w="1874634"/>
              </a:tblGrid>
              <a:tr h="437022">
                <a:tc>
                  <a:txBody>
                    <a:bodyPr/>
                    <a:lstStyle/>
                    <a:p>
                      <a:pPr marL="0" lvl="0" indent="0" algn="l">
                        <a:lnSpc>
                          <a:spcPct val="110000"/>
                        </a:lnSpc>
                        <a:spcBef>
                          <a:spcPts val="0"/>
                        </a:spcBef>
                        <a:spcAft>
                          <a:spcPts val="700"/>
                        </a:spcAft>
                        <a:buNone/>
                      </a:pPr>
                      <a:r>
                        <a:rPr sz="1400" b="1">
                          <a:solidFill>
                            <a:schemeClr val="tx1"/>
                          </a:solidFill>
                          <a:latin typeface="+mn-lt"/>
                          <a:ea typeface="+mn-lt"/>
                          <a:cs typeface="+mn-lt"/>
                        </a:rPr>
                        <a:t>Layer</a:t>
                      </a:r>
                      <a:endParaRPr sz="1400" b="1">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19050" cmpd="sng">
                      <a:solidFill>
                        <a:schemeClr val="tx1"/>
                      </a:solidFill>
                      <a:prstDash val="solid"/>
                    </a:lnB>
                  </a:tcPr>
                </a:tc>
                <a:tc>
                  <a:txBody>
                    <a:bodyPr/>
                    <a:lstStyle/>
                    <a:p>
                      <a:pPr marL="0" lvl="0" indent="0" algn="l">
                        <a:lnSpc>
                          <a:spcPct val="110000"/>
                        </a:lnSpc>
                        <a:spcBef>
                          <a:spcPts val="0"/>
                        </a:spcBef>
                        <a:spcAft>
                          <a:spcPts val="700"/>
                        </a:spcAft>
                        <a:buClr>
                          <a:srgbClr val="000000"/>
                        </a:buClr>
                        <a:buSzPts val="1200"/>
                        <a:buFont typeface="Arial"/>
                        <a:buNone/>
                      </a:pPr>
                      <a:r>
                        <a:rPr sz="1400" b="1">
                          <a:solidFill>
                            <a:schemeClr val="tx1"/>
                          </a:solidFill>
                          <a:latin typeface="+mn-lt"/>
                          <a:ea typeface="+mn-lt"/>
                          <a:cs typeface="+mn-lt"/>
                        </a:rPr>
                        <a:t>Module</a:t>
                      </a:r>
                      <a:endParaRPr sz="1400" b="1">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19050" cmpd="sng">
                      <a:solidFill>
                        <a:schemeClr val="tx1"/>
                      </a:solidFill>
                      <a:prstDash val="solid"/>
                    </a:lnB>
                  </a:tcPr>
                </a:tc>
                <a:tc>
                  <a:txBody>
                    <a:bodyPr/>
                    <a:lstStyle/>
                    <a:p>
                      <a:pPr marL="0" lvl="0" indent="0" algn="l">
                        <a:lnSpc>
                          <a:spcPct val="110000"/>
                        </a:lnSpc>
                        <a:spcBef>
                          <a:spcPts val="0"/>
                        </a:spcBef>
                        <a:spcAft>
                          <a:spcPts val="700"/>
                        </a:spcAft>
                        <a:buNone/>
                      </a:pPr>
                      <a:r>
                        <a:rPr sz="1400" b="1">
                          <a:solidFill>
                            <a:schemeClr val="tx1"/>
                          </a:solidFill>
                          <a:latin typeface="+mn-lt"/>
                          <a:ea typeface="+mn-lt"/>
                          <a:cs typeface="+mn-lt"/>
                        </a:rPr>
                        <a:t>Theorem</a:t>
                      </a:r>
                      <a:endParaRPr sz="1400" b="1">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19050" cmpd="sng">
                      <a:solidFill>
                        <a:schemeClr val="tx1"/>
                      </a:solidFill>
                      <a:prstDash val="solid"/>
                    </a:lnB>
                  </a:tcPr>
                </a:tc>
                <a:tc>
                  <a:txBody>
                    <a:bodyPr/>
                    <a:lstStyle/>
                    <a:p>
                      <a:pPr marL="0" lvl="0" indent="0" algn="l">
                        <a:lnSpc>
                          <a:spcPct val="110000"/>
                        </a:lnSpc>
                        <a:spcBef>
                          <a:spcPts val="0"/>
                        </a:spcBef>
                        <a:spcAft>
                          <a:spcPts val="700"/>
                        </a:spcAft>
                        <a:buClr>
                          <a:srgbClr val="000000"/>
                        </a:buClr>
                        <a:buSzPts val="1200"/>
                        <a:buFont typeface="Arial"/>
                        <a:buNone/>
                      </a:pPr>
                      <a:r>
                        <a:rPr sz="1400" b="1">
                          <a:solidFill>
                            <a:schemeClr val="tx1"/>
                          </a:solidFill>
                          <a:latin typeface="+mn-lt"/>
                          <a:ea typeface="+mn-lt"/>
                          <a:cs typeface="+mn-lt"/>
                        </a:rPr>
                        <a:t>Meaning</a:t>
                      </a:r>
                      <a:endParaRPr sz="1400" b="1">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19050" cmpd="sng">
                      <a:solidFill>
                        <a:schemeClr val="tx1"/>
                      </a:solidFill>
                      <a:prstDash val="solid"/>
                    </a:lnB>
                  </a:tcPr>
                </a:tc>
                <a:tc>
                  <a:txBody>
                    <a:bodyPr/>
                    <a:lstStyle/>
                    <a:p>
                      <a:pPr marL="0" lvl="0" indent="0" algn="l">
                        <a:lnSpc>
                          <a:spcPct val="110000"/>
                        </a:lnSpc>
                        <a:spcBef>
                          <a:spcPts val="0"/>
                        </a:spcBef>
                        <a:spcAft>
                          <a:spcPts val="700"/>
                        </a:spcAft>
                        <a:buClr>
                          <a:srgbClr val="000000"/>
                        </a:buClr>
                        <a:buSzPts val="1200"/>
                        <a:buFont typeface="Arial"/>
                        <a:buNone/>
                      </a:pPr>
                      <a:r>
                        <a:rPr sz="1400" b="1">
                          <a:solidFill>
                            <a:schemeClr val="tx1"/>
                          </a:solidFill>
                          <a:latin typeface="+mn-lt"/>
                          <a:ea typeface="+mn-lt"/>
                          <a:cs typeface="+mn-lt"/>
                        </a:rPr>
                        <a:t>Cost</a:t>
                      </a:r>
                      <a:endParaRPr sz="1400" b="1">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19050" cmpd="sng">
                      <a:solidFill>
                        <a:schemeClr val="tx1"/>
                      </a:solidFill>
                      <a:prstDash val="solid"/>
                    </a:lnB>
                  </a:tcPr>
                </a:tc>
              </a:tr>
              <a:tr h="436949">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Source</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905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Basic</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905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Eval</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905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Direct semantics</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905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Exact</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9050" cmpd="sng">
                      <a:solidFill>
                        <a:schemeClr val="tx1"/>
                      </a:solidFill>
                      <a:prstDash val="solid"/>
                    </a:lnT>
                    <a:lnB w="12700" cmpd="sng">
                      <a:solidFill>
                        <a:schemeClr val="tx1"/>
                      </a:solidFill>
                      <a:prstDash val="solid"/>
                    </a:lnB>
                  </a:tcPr>
                </a:tc>
              </a:tr>
              <a:tr h="436949">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Compiler</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Compiler</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Eval.compile</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Preservation</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Exact</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r>
              <a:tr h="436949">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VCG</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VC</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VC.sound</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VC ⇒ execution</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Bound</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r>
              <a:tr h="436949">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Adapter</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Refinement</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lift_correct</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Reuse invariants</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 5×</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r>
              <a:tr h="436949">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Sort</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InsertionSort</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ram_correct</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Sorted + perm</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Quadratic</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r>
              <a:tr h="436949">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BFS</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BFS</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ram_correct</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Reachable iff</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Linear</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r>
              <a:tr h="436949">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Runner</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Runner</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run_correct</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Fuel-free run</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Exact</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r>
              <a:tr h="436949">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Graph</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9525" cmpd="sng">
                      <a:solidFill>
                        <a:srgbClr val="9E9E9E">
                          <a:alpha val="0"/>
                        </a:srgbClr>
                      </a:solidFill>
                      <a:prstDash val="solid"/>
                    </a:lnB>
                  </a:tcPr>
                </a:tc>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GraphBridge</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9525" cmpd="sng">
                      <a:solidFill>
                        <a:srgbClr val="9E9E9E">
                          <a:alpha val="0"/>
                        </a:srgbClr>
                      </a:solidFill>
                      <a:prstDash val="solid"/>
                    </a:lnB>
                  </a:tcPr>
                </a:tc>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connected_toGraph</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9525" cmpd="sng">
                      <a:solidFill>
                        <a:srgbClr val="9E9E9E">
                          <a:alpha val="0"/>
                        </a:srgbClr>
                      </a:solidFill>
                      <a:prstDash val="solid"/>
                    </a:lnB>
                  </a:tcPr>
                </a:tc>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Repo connection</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9525" cmpd="sng">
                      <a:solidFill>
                        <a:srgbClr val="9E9E9E">
                          <a:alpha val="0"/>
                        </a:srgbClr>
                      </a:solidFill>
                      <a:prstDash val="solid"/>
                    </a:lnB>
                  </a:tcPr>
                </a:tc>
                <a:tc>
                  <a:txBody>
                    <a:bodyPr/>
                    <a:lstStyle/>
                    <a:p>
                      <a:pPr marL="0" lvl="0" indent="0" algn="l">
                        <a:lnSpc>
                          <a:spcPct val="110000"/>
                        </a:lnSpc>
                        <a:spcBef>
                          <a:spcPts val="0"/>
                        </a:spcBef>
                        <a:spcAft>
                          <a:spcPts val="700"/>
                        </a:spcAft>
                        <a:buNone/>
                      </a:pPr>
                      <a:r>
                        <a:rPr sz="1400">
                          <a:solidFill>
                            <a:schemeClr val="tx1"/>
                          </a:solidFill>
                          <a:latin typeface="+mn-lt"/>
                          <a:ea typeface="+mn-lt"/>
                          <a:cs typeface="+mn-lt"/>
                        </a:rPr>
                        <a:t>Ghost</a:t>
                      </a:r>
                      <a:endParaRPr sz="1400">
                        <a:solidFill>
                          <a:schemeClr val="tx1"/>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9525" cmpd="sng">
                      <a:solidFill>
                        <a:srgbClr val="9E9E9E">
                          <a:alpha val="0"/>
                        </a:srgbClr>
                      </a:solidFill>
                      <a:prstDash val="solid"/>
                    </a:lnB>
                  </a:tcPr>
                </a:tc>
              </a:tr>
            </a:tbl>
          </a:graphicData>
        </a:graphic>
      </p:graphicFrame>
    </p:spTree>
    <p:extLst>
      <p:ext uri="{BB962C8B-B14F-4D97-AF65-F5344CB8AC3E}">
        <p14:creationId xmlns:p14="http://schemas.microsoft.com/office/powerpoint/2010/main" val="32985487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Footer Placeholder 1">
            <a:extLst xmlns:a="http://schemas.openxmlformats.org/drawingml/2006/main">
              <a:ext uri="{FF2B5EF4-FFF2-40B4-BE49-F238E27FC236}">
                <a16:creationId xmlns:a16="http://schemas.microsoft.com/office/drawing/2014/main" id="{B4523B68-CB58-F426-D824-531128F4CB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BC152D0-CDF3-969A-A32E-0A1C97DA936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15</a:t>
            </a:fld>
            <a:endParaRPr/>
          </a:p>
        </p:txBody>
      </p:sp>
      <p:sp>
        <p:nvSpPr>
          <p:cNvPr id="533" name="Google Shape;533;p58">
            <a:extLst xmlns:a="http://schemas.openxmlformats.org/drawingml/2006/main">
              <a:ext uri="{FF2B5EF4-FFF2-40B4-BE49-F238E27FC236}">
                <a16:creationId xmlns:a16="http://schemas.microsoft.com/office/drawing/2014/main" id="{9CA28587-E9DB-FD6E-67D5-B6C4D20349B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Insertion sort</a:t>
            </a:r>
          </a:p>
        </p:txBody>
      </p:sp>
      <p:sp>
        <p:nvSpPr>
          <p:cNvPr id="12" name="Content Placeholder 10">
            <a:extLst xmlns:a="http://schemas.openxmlformats.org/drawingml/2006/main">
              <a:ext uri="{FF2B5EF4-FFF2-40B4-BE49-F238E27FC236}">
                <a16:creationId xmlns:a16="http://schemas.microsoft.com/office/drawing/2014/main" id="{2575F3F3-5548-310C-CA8A-2BB5F4F14EC8}"/>
              </a:ext>
            </a:extLst>
          </p:cNvPr>
          <p:cNvSpPr>
            <a:spLocks xmlns:a="http://schemas.openxmlformats.org/drawingml/2006/main" noGrp="1"/>
          </p:cNvSpPr>
          <p:nvPr/>
        </p:nvSpPr>
        <p:spPr>
          <a:xfrm xmlns:a="http://schemas.openxmlformats.org/drawingml/2006/main">
            <a:off x="6972300" y="23749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latin typeface="Helvetica Neue"/>
                <a:ea typeface="Helvetica Neue"/>
                <a:cs typeface="Helvetica Neue"/>
              </a:rPr>
              <a:t>A list of natural-number words; the raw contract also supports an arbitrary base address.</a:t>
            </a:r>
          </a:p>
        </p:txBody>
      </p:sp>
      <p:sp>
        <p:nvSpPr>
          <p:cNvPr id="15" name="Content Placeholder 10">
            <a:extLst xmlns:a="http://schemas.openxmlformats.org/drawingml/2006/main">
              <a:ext uri="{FF2B5EF4-FFF2-40B4-BE49-F238E27FC236}">
                <a16:creationId xmlns:a16="http://schemas.microsoft.com/office/drawing/2014/main" id="{C50C3B7B-28A7-FE2B-805B-9E84EA8C0281}"/>
              </a:ext>
            </a:extLst>
          </p:cNvPr>
          <p:cNvSpPr>
            <a:spLocks xmlns:a="http://schemas.openxmlformats.org/drawingml/2006/main" noGrp="1"/>
          </p:cNvSpPr>
          <p:nvPr/>
        </p:nvSpPr>
        <p:spPr>
          <a:xfrm xmlns:a="http://schemas.openxmlformats.org/drawingml/2006/main">
            <a:off x="4851400" y="23749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latin typeface="Helvetica Neue Medium"/>
                <a:ea typeface="Helvetica Neue Medium"/>
                <a:cs typeface="Helvetica Neue Medium"/>
              </a:rPr>
              <a:t>Input</a:t>
            </a:r>
          </a:p>
        </p:txBody>
      </p:sp>
      <p:sp>
        <p:nvSpPr>
          <p:cNvPr id="16" name="Content Placeholder 10">
            <a:extLst xmlns:a="http://schemas.openxmlformats.org/drawingml/2006/main">
              <a:ext uri="{FF2B5EF4-FFF2-40B4-BE49-F238E27FC236}">
                <a16:creationId xmlns:a16="http://schemas.microsoft.com/office/drawing/2014/main" id="{A989BD75-DE8D-B290-9745-1D9E8821A8C5}"/>
              </a:ext>
            </a:extLst>
          </p:cNvPr>
          <p:cNvSpPr>
            <a:spLocks xmlns:a="http://schemas.openxmlformats.org/drawingml/2006/main" noGrp="1"/>
          </p:cNvSpPr>
          <p:nvPr/>
        </p:nvSpPr>
        <p:spPr>
          <a:xfrm xmlns:a="http://schemas.openxmlformats.org/drawingml/2006/main">
            <a:off x="6972300" y="33655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latin typeface="Helvetica Neue"/>
                <a:ea typeface="Helvetica Neue"/>
                <a:cs typeface="Helvetica Neue"/>
              </a:rPr>
              <a:t>Sorted values and the modeled RAM step count.</a:t>
            </a:r>
          </a:p>
        </p:txBody>
      </p:sp>
      <p:sp>
        <p:nvSpPr>
          <p:cNvPr id="17" name="Content Placeholder 10">
            <a:extLst xmlns:a="http://schemas.openxmlformats.org/drawingml/2006/main">
              <a:ext uri="{FF2B5EF4-FFF2-40B4-BE49-F238E27FC236}">
                <a16:creationId xmlns:a16="http://schemas.microsoft.com/office/drawing/2014/main" id="{E53F591C-9E43-179D-176D-24989B8B7303}"/>
              </a:ext>
            </a:extLst>
          </p:cNvPr>
          <p:cNvSpPr>
            <a:spLocks xmlns:a="http://schemas.openxmlformats.org/drawingml/2006/main" noGrp="1"/>
          </p:cNvSpPr>
          <p:nvPr/>
        </p:nvSpPr>
        <p:spPr>
          <a:xfrm xmlns:a="http://schemas.openxmlformats.org/drawingml/2006/main">
            <a:off x="4851400" y="33655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latin typeface="Helvetica Neue Medium"/>
                <a:ea typeface="Helvetica Neue Medium"/>
                <a:cs typeface="Helvetica Neue Medium"/>
              </a:rPr>
              <a:t>Output</a:t>
            </a:r>
          </a:p>
        </p:txBody>
      </p:sp>
      <p:sp>
        <p:nvSpPr>
          <p:cNvPr id="18" name="Content Placeholder 10">
            <a:extLst xmlns:a="http://schemas.openxmlformats.org/drawingml/2006/main">
              <a:ext uri="{FF2B5EF4-FFF2-40B4-BE49-F238E27FC236}">
                <a16:creationId xmlns:a16="http://schemas.microsoft.com/office/drawing/2014/main" id="{A7B38CBA-379D-8AEA-4C18-49046133E7A5}"/>
              </a:ext>
            </a:extLst>
          </p:cNvPr>
          <p:cNvSpPr>
            <a:spLocks xmlns:a="http://schemas.openxmlformats.org/drawingml/2006/main" noGrp="1"/>
          </p:cNvSpPr>
          <p:nvPr/>
        </p:nvSpPr>
        <p:spPr>
          <a:xfrm xmlns:a="http://schemas.openxmlformats.org/drawingml/2006/main">
            <a:off x="6972300" y="43561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latin typeface="Helvetica Neue"/>
                <a:ea typeface="Helvetica Neue"/>
                <a:cs typeface="Helvetica Neue"/>
              </a:rPr>
              <a:t>Sortedness, permutation of the input, and an unchanged memory frame.</a:t>
            </a:r>
          </a:p>
        </p:txBody>
      </p:sp>
      <p:sp>
        <p:nvSpPr>
          <p:cNvPr id="19" name="Content Placeholder 10">
            <a:extLst xmlns:a="http://schemas.openxmlformats.org/drawingml/2006/main">
              <a:ext uri="{FF2B5EF4-FFF2-40B4-BE49-F238E27FC236}">
                <a16:creationId xmlns:a16="http://schemas.microsoft.com/office/drawing/2014/main" id="{C558135D-EC8F-1FA0-D966-C8D4FA20ED2A}"/>
              </a:ext>
            </a:extLst>
          </p:cNvPr>
          <p:cNvSpPr>
            <a:spLocks xmlns:a="http://schemas.openxmlformats.org/drawingml/2006/main" noGrp="1"/>
          </p:cNvSpPr>
          <p:nvPr/>
        </p:nvSpPr>
        <p:spPr>
          <a:xfrm xmlns:a="http://schemas.openxmlformats.org/drawingml/2006/main">
            <a:off x="4851400" y="43561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latin typeface="Helvetica Neue Medium"/>
                <a:ea typeface="Helvetica Neue Medium"/>
                <a:cs typeface="Helvetica Neue Medium"/>
              </a:rPr>
              <a:t>Correctness</a:t>
            </a:r>
          </a:p>
        </p:txBody>
      </p:sp>
      <p:sp>
        <p:nvSpPr>
          <p:cNvPr id="20" name="Content Placeholder 10">
            <a:extLst xmlns:a="http://schemas.openxmlformats.org/drawingml/2006/main">
              <a:ext uri="{FF2B5EF4-FFF2-40B4-BE49-F238E27FC236}">
                <a16:creationId xmlns:a16="http://schemas.microsoft.com/office/drawing/2014/main" id="{59682F0D-6358-B00F-89D9-1AC37090297F}"/>
              </a:ext>
            </a:extLst>
          </p:cNvPr>
          <p:cNvSpPr>
            <a:spLocks xmlns:a="http://schemas.openxmlformats.org/drawingml/2006/main" noGrp="1"/>
          </p:cNvSpPr>
          <p:nvPr/>
        </p:nvSpPr>
        <p:spPr>
          <a:xfrm xmlns:a="http://schemas.openxmlformats.org/drawingml/2006/main">
            <a:off x="6972300" y="53594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latin typeface="Helvetica Neue"/>
                <a:ea typeface="Helvetica Neue"/>
                <a:cs typeface="Helvetica Neue"/>
              </a:rPr>
              <a:t>20n² + 40n + 10 steps; or 70n² for n ≥ 1.</a:t>
            </a:r>
          </a:p>
        </p:txBody>
      </p:sp>
      <p:sp>
        <p:nvSpPr>
          <p:cNvPr id="21" name="Content Placeholder 10">
            <a:extLst xmlns:a="http://schemas.openxmlformats.org/drawingml/2006/main">
              <a:ext uri="{FF2B5EF4-FFF2-40B4-BE49-F238E27FC236}">
                <a16:creationId xmlns:a16="http://schemas.microsoft.com/office/drawing/2014/main" id="{858787E0-CB4B-BCAC-702A-ECD3032DFC33}"/>
              </a:ext>
            </a:extLst>
          </p:cNvPr>
          <p:cNvSpPr>
            <a:spLocks xmlns:a="http://schemas.openxmlformats.org/drawingml/2006/main" noGrp="1"/>
          </p:cNvSpPr>
          <p:nvPr/>
        </p:nvSpPr>
        <p:spPr>
          <a:xfrm xmlns:a="http://schemas.openxmlformats.org/drawingml/2006/main">
            <a:off x="4851400" y="53594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latin typeface="Helvetica Neue Medium"/>
                <a:ea typeface="Helvetica Neue Medium"/>
                <a:cs typeface="Helvetica Neue Medium"/>
              </a:rPr>
              <a:t>Time</a:t>
            </a:r>
          </a:p>
        </p:txBody>
      </p:sp>
      <p:sp>
        <p:nvSpPr>
          <p:cNvPr id="3" name="Google Shape;534;p58">
            <a:extLst xmlns:a="http://schemas.openxmlformats.org/drawingml/2006/main">
              <a:ext uri="{FF2B5EF4-FFF2-40B4-BE49-F238E27FC236}">
                <a16:creationId xmlns:a16="http://schemas.microsoft.com/office/drawing/2014/main" id="{982CDA0F-E73C-7EBB-EE08-FECCE69C5189}"/>
              </a:ext>
            </a:extLst>
          </p:cNvPr>
          <p:cNvSpPr>
            <a:spLocks xmlns:a="http://schemas.openxmlformats.org/drawingml/2006/main" noGrp="1"/>
          </p:cNvSpPr>
          <p:nvPr/>
        </p:nvSpPr>
        <p:spPr>
          <a:xfrm xmlns:a="http://schemas.openxmlformats.org/drawingml/2006/main">
            <a:off x="393700" y="2374901"/>
            <a:ext cx="3568700" cy="361949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800">
                <a:latin typeface="Helvetica Neue"/>
                <a:ea typeface="Helvetica Neue"/>
                <a:cs typeface="Helvetica Neue"/>
              </a:rPr>
              <a:t>Sort a suffix</a:t>
            </a:r>
          </a:p>
          <a:p xmlns:a="http://schemas.openxmlformats.org/drawingml/2006/main">
            <a:pPr marL="0" indent="0">
              <a:lnSpc>
                <a:spcPct val="114000"/>
              </a:lnSpc>
              <a:spcBef>
                <a:spcPts val="0"/>
              </a:spcBef>
              <a:spcAft>
                <a:spcPts val="800"/>
              </a:spcAft>
              <a:buFont typeface="Arial"/>
              <a:buNone/>
            </a:pPr>
            <a:r>
              <a:rPr sz="1800">
                <a:latin typeface="Helvetica Neue"/>
                <a:ea typeface="Helvetica Neue"/>
                <a:cs typeface="Helvetica Neue"/>
              </a:rPr>
              <a:t>Save the predecessor, shift smaller entries left, then fill the hole with the saved key.</a:t>
            </a:r>
          </a:p>
          <a:p xmlns:a="http://schemas.openxmlformats.org/drawingml/2006/main">
            <a:pPr marL="0" indent="0">
              <a:lnSpc>
                <a:spcPct val="114000"/>
              </a:lnSpc>
              <a:spcBef>
                <a:spcPts val="0"/>
              </a:spcBef>
              <a:spcAft>
                <a:spcPts val="800"/>
              </a:spcAft>
              <a:buNone/>
            </a:pPr>
            <a:r>
              <a:rPr sz="1800">
                <a:latin typeface="Helvetica Neue"/>
                <a:ea typeface="Helvetica Neue"/>
                <a:cs typeface="Helvetica Neue"/>
              </a:rPr>
              <a:t>The outer loop grows a sorted suffix. The inner loop maintains the hole and the remaining insertion work.</a:t>
            </a:r>
          </a:p>
        </p:txBody>
      </p:sp>
    </p:spTree>
    <p:extLst>
      <p:ext uri="{BB962C8B-B14F-4D97-AF65-F5344CB8AC3E}">
        <p14:creationId xmlns:p14="http://schemas.microsoft.com/office/powerpoint/2010/main" val="67611695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7" name="Footer Placeholder 6">
            <a:extLst xmlns:a="http://schemas.openxmlformats.org/drawingml/2006/main">
              <a:ext uri="{FF2B5EF4-FFF2-40B4-BE49-F238E27FC236}">
                <a16:creationId xmlns:a16="http://schemas.microsoft.com/office/drawing/2014/main" id="{33F6F69E-B773-8572-FA7F-ECBC69775926}"/>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A671F7CA-962E-B7D5-11E1-86144832BC77}"/>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16</a:t>
            </a:fld>
            <a:endParaRPr/>
          </a:p>
        </p:txBody>
      </p:sp>
      <p:sp>
        <p:nvSpPr>
          <p:cNvPr id="11" name="Title 10">
            <a:extLst xmlns:a="http://schemas.openxmlformats.org/drawingml/2006/main">
              <a:ext uri="{FF2B5EF4-FFF2-40B4-BE49-F238E27FC236}">
                <a16:creationId xmlns:a16="http://schemas.microsoft.com/office/drawing/2014/main" id="{EE0017B1-61AD-F17E-4365-4C536650269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BFS, in the order of the paper proof</a:t>
            </a:r>
          </a:p>
        </p:txBody>
      </p:sp>
      <p:sp>
        <p:nvSpPr>
          <p:cNvPr id="2" name="Content Placeholder 15">
            <a:extLst xmlns:a="http://schemas.openxmlformats.org/drawingml/2006/main">
              <a:ext uri="{FF2B5EF4-FFF2-40B4-BE49-F238E27FC236}">
                <a16:creationId xmlns:a16="http://schemas.microsoft.com/office/drawing/2014/main" id="{618AB53F-D83E-C97D-48FB-E643E6A74AF5}"/>
              </a:ext>
            </a:extLst>
          </p:cNvPr>
          <p:cNvSpPr>
            <a:spLocks xmlns:a="http://schemas.openxmlformats.org/drawingml/2006/main" noGrp="1"/>
          </p:cNvSpPr>
          <p:nvPr/>
        </p:nvSpPr>
        <p:spPr>
          <a:xfrm xmlns:a="http://schemas.openxmlformats.org/drawingml/2006/main">
            <a:off x="393700" y="4161066"/>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a:latin typeface="Helvetica Neue"/>
                <a:ea typeface="Helvetica Neue"/>
                <a:cs typeface="Helvetica Neue"/>
              </a:rPr>
              <a:t>Soundness</a:t>
            </a:r>
          </a:p>
          <a:p xmlns:a="http://schemas.openxmlformats.org/drawingml/2006/main">
            <a:pPr marL="0" indent="0">
              <a:lnSpc>
                <a:spcPct val="114000"/>
              </a:lnSpc>
              <a:spcBef>
                <a:spcPts val="0"/>
              </a:spcBef>
              <a:spcAft>
                <a:spcPts val="800"/>
              </a:spcAft>
              <a:buNone/>
            </a:pPr>
            <a:r>
              <a:rPr>
                <a:latin typeface="Helvetica Neue"/>
                <a:ea typeface="Helvetica Neue"/>
                <a:cs typeface="Helvetica Neue"/>
              </a:rPr>
              <a:t>Every discovered vertex has a walk from the source.</a:t>
            </a:r>
          </a:p>
        </p:txBody>
      </p:sp>
      <p:sp>
        <p:nvSpPr>
          <p:cNvPr id="3" name="Text Placeholder 16">
            <a:extLst xmlns:a="http://schemas.openxmlformats.org/drawingml/2006/main">
              <a:ext uri="{FF2B5EF4-FFF2-40B4-BE49-F238E27FC236}">
                <a16:creationId xmlns:a16="http://schemas.microsoft.com/office/drawing/2014/main" id="{15B6FC25-43EA-8D50-20ED-40A075FCB304}"/>
              </a:ext>
            </a:extLst>
          </p:cNvPr>
          <p:cNvSpPr>
            <a:spLocks xmlns:a="http://schemas.openxmlformats.org/drawingml/2006/main" noGrp="1"/>
          </p:cNvSpPr>
          <p:nvPr/>
        </p:nvSpPr>
        <p:spPr>
          <a:xfrm xmlns:a="http://schemas.openxmlformats.org/drawingml/2006/main">
            <a:off x="3334966" y="4161066"/>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8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8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8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8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Closure</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Every processed vertex has all its neighbors discovered.</a:t>
            </a:r>
          </a:p>
        </p:txBody>
      </p:sp>
      <p:sp>
        <p:nvSpPr>
          <p:cNvPr id="5" name="Content Placeholder 17">
            <a:extLst xmlns:a="http://schemas.openxmlformats.org/drawingml/2006/main">
              <a:ext uri="{FF2B5EF4-FFF2-40B4-BE49-F238E27FC236}">
                <a16:creationId xmlns:a16="http://schemas.microsoft.com/office/drawing/2014/main" id="{DC86E5BF-3A43-49E0-A1B8-916150355914}"/>
              </a:ext>
            </a:extLst>
          </p:cNvPr>
          <p:cNvSpPr>
            <a:spLocks xmlns:a="http://schemas.openxmlformats.org/drawingml/2006/main" noGrp="1"/>
          </p:cNvSpPr>
          <p:nvPr/>
        </p:nvSpPr>
        <p:spPr>
          <a:xfrm xmlns:a="http://schemas.openxmlformats.org/drawingml/2006/main">
            <a:off x="6264413" y="4161066"/>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a:latin typeface="Helvetica Neue"/>
                <a:ea typeface="Helvetica Neue"/>
                <a:cs typeface="Helvetica Neue"/>
              </a:rPr>
              <a:t>Uniqueness</a:t>
            </a:r>
          </a:p>
          <a:p xmlns:a="http://schemas.openxmlformats.org/drawingml/2006/main">
            <a:pPr marL="0" indent="0">
              <a:lnSpc>
                <a:spcPct val="114000"/>
              </a:lnSpc>
              <a:spcBef>
                <a:spcPts val="0"/>
              </a:spcBef>
              <a:spcAft>
                <a:spcPts val="800"/>
              </a:spcAft>
              <a:buNone/>
            </a:pPr>
            <a:r>
              <a:rPr>
                <a:latin typeface="Helvetica Neue"/>
                <a:ea typeface="Helvetica Neue"/>
                <a:cs typeface="Helvetica Neue"/>
              </a:rPr>
              <a:t>No vertex enters the FIFO twice.</a:t>
            </a:r>
            <a:endParaRPr>
              <a:latin typeface="Helvetica Neue"/>
              <a:ea typeface="Helvetica Neue"/>
              <a:cs typeface="Helvetica Neue"/>
            </a:endParaRPr>
          </a:p>
        </p:txBody>
      </p:sp>
      <p:sp>
        <p:nvSpPr>
          <p:cNvPr id="6" name="Text Placeholder 18">
            <a:extLst xmlns:a="http://schemas.openxmlformats.org/drawingml/2006/main">
              <a:ext uri="{FF2B5EF4-FFF2-40B4-BE49-F238E27FC236}">
                <a16:creationId xmlns:a16="http://schemas.microsoft.com/office/drawing/2014/main" id="{941D607D-4DDA-372A-EE8A-A370B36C7859}"/>
              </a:ext>
            </a:extLst>
          </p:cNvPr>
          <p:cNvSpPr>
            <a:spLocks xmlns:a="http://schemas.openxmlformats.org/drawingml/2006/main" noGrp="1"/>
          </p:cNvSpPr>
          <p:nvPr/>
        </p:nvSpPr>
        <p:spPr>
          <a:xfrm xmlns:a="http://schemas.openxmlformats.org/drawingml/2006/main">
            <a:off x="9205679" y="4161066"/>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8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8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8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8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Completeness</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At an empty FIFO, closure proves all reachable vertices were found.</a:t>
            </a:r>
            <a:endParaRPr sz="1600">
              <a:latin typeface="Helvetica Neue"/>
              <a:ea typeface="Helvetica Neue"/>
              <a:cs typeface="Helvetica Neue"/>
            </a:endParaRPr>
          </a:p>
        </p:txBody>
      </p:sp>
      <p:sp>
        <p:nvSpPr>
          <p:cNvPr id="28" name="Content Placeholder 15">
            <a:extLst xmlns:a="http://schemas.openxmlformats.org/drawingml/2006/main">
              <a:ext uri="{FF2B5EF4-FFF2-40B4-BE49-F238E27FC236}">
                <a16:creationId xmlns:a16="http://schemas.microsoft.com/office/drawing/2014/main" id="{8EA52868-2F57-DCC5-19D5-764181B94516}"/>
              </a:ext>
            </a:extLst>
          </p:cNvPr>
          <p:cNvSpPr>
            <a:spLocks xmlns:a="http://schemas.openxmlformats.org/drawingml/2006/main" noGrp="1"/>
          </p:cNvSpPr>
          <p:nvPr/>
        </p:nvSpPr>
        <p:spPr>
          <a:xfrm xmlns:a="http://schemas.openxmlformats.org/drawingml/2006/main">
            <a:off x="393700" y="2208087"/>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a:latin typeface="Helvetica Neue"/>
                <a:ea typeface="Helvetica Neue"/>
                <a:cs typeface="Helvetica Neue"/>
              </a:rPr>
              <a:t>Initialize</a:t>
            </a:r>
          </a:p>
          <a:p xmlns:a="http://schemas.openxmlformats.org/drawingml/2006/main">
            <a:pPr marL="0" indent="0">
              <a:lnSpc>
                <a:spcPct val="114000"/>
              </a:lnSpc>
              <a:spcBef>
                <a:spcPts val="0"/>
              </a:spcBef>
              <a:spcAft>
                <a:spcPts val="800"/>
              </a:spcAft>
              <a:buNone/>
            </a:pPr>
            <a:r>
              <a:rPr>
                <a:latin typeface="Helvetica Neue"/>
                <a:ea typeface="Helvetica Neue"/>
                <a:cs typeface="Helvetica Neue"/>
              </a:rPr>
              <a:t>Clear every flag, mark the source, and put it in the FIFO.</a:t>
            </a:r>
          </a:p>
        </p:txBody>
      </p:sp>
      <p:sp>
        <p:nvSpPr>
          <p:cNvPr id="29" name="Text Placeholder 16">
            <a:extLst xmlns:a="http://schemas.openxmlformats.org/drawingml/2006/main">
              <a:ext uri="{FF2B5EF4-FFF2-40B4-BE49-F238E27FC236}">
                <a16:creationId xmlns:a16="http://schemas.microsoft.com/office/drawing/2014/main" id="{751AE029-57A0-A186-E791-1A4462A1CBCB}"/>
              </a:ext>
            </a:extLst>
          </p:cNvPr>
          <p:cNvSpPr>
            <a:spLocks xmlns:a="http://schemas.openxmlformats.org/drawingml/2006/main" noGrp="1"/>
          </p:cNvSpPr>
          <p:nvPr/>
        </p:nvSpPr>
        <p:spPr>
          <a:xfrm xmlns:a="http://schemas.openxmlformats.org/drawingml/2006/main">
            <a:off x="3334966" y="2208087"/>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8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8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8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8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Dequeue</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Remove the oldest discovered vertex and open its row.</a:t>
            </a:r>
          </a:p>
        </p:txBody>
      </p:sp>
      <p:sp>
        <p:nvSpPr>
          <p:cNvPr id="30" name="Content Placeholder 17">
            <a:extLst xmlns:a="http://schemas.openxmlformats.org/drawingml/2006/main">
              <a:ext uri="{FF2B5EF4-FFF2-40B4-BE49-F238E27FC236}">
                <a16:creationId xmlns:a16="http://schemas.microsoft.com/office/drawing/2014/main" id="{84CDE6A4-554E-3362-3E09-93D47FDCD65A}"/>
              </a:ext>
            </a:extLst>
          </p:cNvPr>
          <p:cNvSpPr>
            <a:spLocks xmlns:a="http://schemas.openxmlformats.org/drawingml/2006/main" noGrp="1"/>
          </p:cNvSpPr>
          <p:nvPr/>
        </p:nvSpPr>
        <p:spPr>
          <a:xfrm xmlns:a="http://schemas.openxmlformats.org/drawingml/2006/main">
            <a:off x="6264413" y="2208087"/>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a:latin typeface="Helvetica Neue"/>
                <a:ea typeface="Helvetica Neue"/>
                <a:cs typeface="Helvetica Neue"/>
              </a:rPr>
              <a:t>Scan</a:t>
            </a:r>
          </a:p>
          <a:p xmlns:a="http://schemas.openxmlformats.org/drawingml/2006/main">
            <a:pPr marL="0" indent="0">
              <a:lnSpc>
                <a:spcPct val="114000"/>
              </a:lnSpc>
              <a:spcBef>
                <a:spcPts val="0"/>
              </a:spcBef>
              <a:spcAft>
                <a:spcPts val="800"/>
              </a:spcAft>
              <a:buNone/>
            </a:pPr>
            <a:r>
              <a:rPr>
                <a:latin typeface="Helvetica Neue"/>
                <a:ea typeface="Helvetica Neue"/>
                <a:cs typeface="Helvetica Neue"/>
              </a:rPr>
              <a:t>Follow each adjacency link and read the neighbor’s flag.</a:t>
            </a:r>
            <a:endParaRPr>
              <a:latin typeface="Helvetica Neue"/>
              <a:ea typeface="Helvetica Neue"/>
              <a:cs typeface="Helvetica Neue"/>
            </a:endParaRPr>
          </a:p>
        </p:txBody>
      </p:sp>
      <p:sp>
        <p:nvSpPr>
          <p:cNvPr id="31" name="Text Placeholder 18">
            <a:extLst xmlns:a="http://schemas.openxmlformats.org/drawingml/2006/main">
              <a:ext uri="{FF2B5EF4-FFF2-40B4-BE49-F238E27FC236}">
                <a16:creationId xmlns:a16="http://schemas.microsoft.com/office/drawing/2014/main" id="{E0575F69-0E47-58CD-4D15-A728423F7253}"/>
              </a:ext>
            </a:extLst>
          </p:cNvPr>
          <p:cNvSpPr>
            <a:spLocks xmlns:a="http://schemas.openxmlformats.org/drawingml/2006/main" noGrp="1"/>
          </p:cNvSpPr>
          <p:nvPr/>
        </p:nvSpPr>
        <p:spPr>
          <a:xfrm xmlns:a="http://schemas.openxmlformats.org/drawingml/2006/main">
            <a:off x="9205679" y="2208087"/>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8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8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8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8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Discover</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Mark an unseen neighbor before enqueuing it.</a:t>
            </a:r>
            <a:endParaRPr sz="1600">
              <a:latin typeface="Helvetica Neue"/>
              <a:ea typeface="Helvetica Neue"/>
              <a:cs typeface="Helvetica Neue"/>
            </a:endParaRPr>
          </a:p>
        </p:txBody>
      </p:sp>
    </p:spTree>
    <p:extLst>
      <p:ext uri="{BB962C8B-B14F-4D97-AF65-F5344CB8AC3E}">
        <p14:creationId xmlns:p14="http://schemas.microsoft.com/office/powerpoint/2010/main" val="34307893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fld id="{8574A810-7A8E-054F-9F6B-09E9C694ECF9}" type="slidenum">
              <a:t>17</a:t>
            </a:fld>
            <a:endParaRPr/>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t>Execution and proof paths</a:t>
            </a:r>
          </a:p>
        </p:txBody>
      </p:sp>
      <p:cxnSp>
        <p:nvCxnSpPr>
          <p:cNvPr id="23" name="Google Shape;2259;p159"/>
          <p:cNvCxnSpPr>
            <a:stCxn xmlns:a="http://schemas.openxmlformats.org/drawingml/2006/main" id="3" idx="2"/>
          </p:cNvCxnSpPr>
          <p:nvPr/>
        </p:nvCxnSpPr>
        <p:spPr>
          <a:xfrm xmlns:a="http://schemas.openxmlformats.org/drawingml/2006/main">
            <a:off x="337718" y="3373753"/>
            <a:ext cx="12245400" cy="300"/>
          </a:xfrm>
          <a:prstGeom xmlns:a="http://schemas.openxmlformats.org/drawingml/2006/main" prst="straightConnector1">
            <a:avLst/>
          </a:prstGeom>
          <a:ln xmlns:a="http://schemas.openxmlformats.org/drawingml/2006/main" w="9525" cap="flat">
            <a:solidFill>
              <a:schemeClr val="tx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700"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SOURCE</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87"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COMPILER</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49"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RUNNER</a:t>
            </a:r>
          </a:p>
        </p:txBody>
      </p:sp>
      <p:sp>
        <p:nvSpPr>
          <p:cNvPr id="8" name="Text Placeholder 16">
            <a:extLst xmlns:a="http://schemas.openxmlformats.org/drawingml/2006/main">
              <a:ext uri="{FF2B5EF4-FFF2-40B4-BE49-F238E27FC236}">
                <a16:creationId xmlns:a16="http://schemas.microsoft.com/office/drawing/2014/main" id="{D0EE3B6B-F07C-271E-2F97-41D7686F1C33}"/>
              </a:ext>
            </a:extLst>
          </p:cNvPr>
          <p:cNvSpPr>
            <a:spLocks xmlns:a="http://schemas.openxmlformats.org/drawingml/2006/main" noGrp="1"/>
          </p:cNvSpPr>
          <p:nvPr/>
        </p:nvSpPr>
        <p:spPr>
          <a:xfrm xmlns:a="http://schemas.openxmlformats.org/drawingml/2006/main">
            <a:off x="4317118"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RAM Code</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Eval.compile preserves the visible store and exact expression cost.</a:t>
            </a:r>
          </a:p>
        </p:txBody>
      </p:sp>
      <p:sp>
        <p:nvSpPr>
          <p:cNvPr id="15" name="Text Placeholder 16">
            <a:extLst xmlns:a="http://schemas.openxmlformats.org/drawingml/2006/main">
              <a:ext uri="{FF2B5EF4-FFF2-40B4-BE49-F238E27FC236}">
                <a16:creationId xmlns:a16="http://schemas.microsoft.com/office/drawing/2014/main" id="{B3EA0E10-C778-6971-AFB5-9B9B52B082D5}"/>
              </a:ext>
            </a:extLst>
          </p:cNvPr>
          <p:cNvSpPr>
            <a:spLocks xmlns:a="http://schemas.openxmlformats.org/drawingml/2006/main" noGrp="1"/>
          </p:cNvSpPr>
          <p:nvPr/>
        </p:nvSpPr>
        <p:spPr>
          <a:xfrm xmlns:a="http://schemas.openxmlformats.org/drawingml/2006/main">
            <a:off x="399873"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Typed Cmd</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program { … } has an independent Eval semantics and a correctness/time contract.</a:t>
            </a:r>
          </a:p>
        </p:txBody>
      </p:sp>
      <p:sp>
        <p:nvSpPr>
          <p:cNvPr id="19" name="Text Placeholder 16">
            <a:extLst xmlns:a="http://schemas.openxmlformats.org/drawingml/2006/main">
              <a:ext uri="{FF2B5EF4-FFF2-40B4-BE49-F238E27FC236}">
                <a16:creationId xmlns:a16="http://schemas.microsoft.com/office/drawing/2014/main" id="{5A9F39A9-7A23-0F85-F761-1AB9FA6B8FDE}"/>
              </a:ext>
            </a:extLst>
          </p:cNvPr>
          <p:cNvSpPr>
            <a:spLocks xmlns:a="http://schemas.openxmlformats.org/drawingml/2006/main" noGrp="1"/>
          </p:cNvSpPr>
          <p:nvPr/>
        </p:nvSpPr>
        <p:spPr>
          <a:xfrm xmlns:a="http://schemas.openxmlformats.org/drawingml/2006/main">
            <a:off x="8177917"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Returned result</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A termination proof enables execution without fuel. The result satisfies the contract.</a:t>
            </a:r>
          </a:p>
        </p:txBody>
      </p:sp>
    </p:spTree>
    <p:extLst>
      <p:ext uri="{BB962C8B-B14F-4D97-AF65-F5344CB8AC3E}">
        <p14:creationId xmlns:p14="http://schemas.microsoft.com/office/powerpoint/2010/main" val="344633891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7" name="Footer Placeholder 6">
            <a:extLst xmlns:a="http://schemas.openxmlformats.org/drawingml/2006/main">
              <a:ext uri="{FF2B5EF4-FFF2-40B4-BE49-F238E27FC236}">
                <a16:creationId xmlns:a16="http://schemas.microsoft.com/office/drawing/2014/main" id="{0AD2B367-4B64-657F-20CC-D17632C47D9A}"/>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7F3FA98E-8546-AC84-6BD4-8DF0BEBBB87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fld id="{8574A810-7A8E-054F-9F6B-09E9C694ECF9}" type="slidenum">
              <a:t>18</a:t>
            </a:fld>
            <a:endParaRPr/>
          </a:p>
        </p:txBody>
      </p:sp>
      <p:sp>
        <p:nvSpPr>
          <p:cNvPr id="11" name="Title 10">
            <a:extLst xmlns:a="http://schemas.openxmlformats.org/drawingml/2006/main">
              <a:ext uri="{FF2B5EF4-FFF2-40B4-BE49-F238E27FC236}">
                <a16:creationId xmlns:a16="http://schemas.microsoft.com/office/drawing/2014/main" id="{D802DC3F-F6C4-90E8-847D-BA0C2E4445D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t>BFS representation refinement</a:t>
            </a:r>
          </a:p>
        </p:txBody>
      </p:sp>
      <p:cxnSp>
        <p:nvCxnSpPr>
          <p:cNvPr id="29" name="Google Shape;2259;p159"/>
          <p:cNvCxnSpPr>
            <a:stCxn xmlns:a="http://schemas.openxmlformats.org/drawingml/2006/main" id="3" idx="2"/>
          </p:cNvCxnSpPr>
          <p:nvPr/>
        </p:nvCxnSpPr>
        <p:spPr>
          <a:xfrm xmlns:a="http://schemas.openxmlformats.org/drawingml/2006/main">
            <a:off x="337718" y="5341621"/>
            <a:ext cx="12245400" cy="300"/>
          </a:xfrm>
          <a:prstGeom xmlns:a="http://schemas.openxmlformats.org/drawingml/2006/main" prst="straightConnector1">
            <a:avLst/>
          </a:prstGeom>
          <a:ln xmlns:a="http://schemas.openxmlformats.org/drawingml/2006/main" w="9525" cap="flat">
            <a:solidFill>
              <a:schemeClr val="tx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96976673-0764-B027-B369-C8C94D395088}"/>
              </a:ext>
            </a:extLst>
          </p:cNvPr>
          <p:cNvSpPr>
            <a:spLocks xmlns:a="http://schemas.openxmlformats.org/drawingml/2006/main" noGrp="1"/>
          </p:cNvSpPr>
          <p:nvPr/>
        </p:nvSpPr>
        <p:spPr>
          <a:xfrm xmlns:a="http://schemas.openxmlformats.org/drawingml/2006/main">
            <a:off x="337718" y="5288071"/>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80D9DF3C-FD01-7A5C-C521-9B86480D4057}"/>
              </a:ext>
            </a:extLst>
          </p:cNvPr>
          <p:cNvSpPr>
            <a:spLocks xmlns:a="http://schemas.openxmlformats.org/drawingml/2006/main" noGrp="1"/>
          </p:cNvSpPr>
          <p:nvPr/>
        </p:nvSpPr>
        <p:spPr>
          <a:xfrm xmlns:a="http://schemas.openxmlformats.org/drawingml/2006/main">
            <a:off x="4251750" y="5288071"/>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37DF6577-8813-93FC-E0AA-22F96D3445FC}"/>
              </a:ext>
            </a:extLst>
          </p:cNvPr>
          <p:cNvSpPr>
            <a:spLocks xmlns:a="http://schemas.openxmlformats.org/drawingml/2006/main" noGrp="1"/>
          </p:cNvSpPr>
          <p:nvPr/>
        </p:nvSpPr>
        <p:spPr>
          <a:xfrm xmlns:a="http://schemas.openxmlformats.org/drawingml/2006/main">
            <a:off x="8176050" y="5288071"/>
            <a:ext cx="107100" cy="107100"/>
          </a:xfrm>
          <a:prstGeom xmlns:a="http://schemas.openxmlformats.org/drawingml/2006/main" prst="ellipse">
            <a:avLst/>
          </a:prstGeom>
          <a:solidFill xmlns:a="http://schemas.openxmlformats.org/drawingml/2006/main">
            <a:schemeClr val="tx1"/>
          </a:solidFill>
          <a:ln xmlns:a="http://schemas.openxmlformats.org/drawingml/2006/main">
            <a:solidFill>
              <a:schemeClr val="tx1"/>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20" name="Rounded Rectangle 19">
            <a:extLst xmlns:a="http://schemas.openxmlformats.org/drawingml/2006/main">
              <a:ext uri="{FF2B5EF4-FFF2-40B4-BE49-F238E27FC236}">
                <a16:creationId xmlns:a16="http://schemas.microsoft.com/office/drawing/2014/main" id="{18323F9C-3DB1-9BB3-9462-18B6435C1038}"/>
              </a:ext>
            </a:extLst>
          </p:cNvPr>
          <p:cNvSpPr>
            <a:spLocks xmlns:a="http://schemas.openxmlformats.org/drawingml/2006/main" noGrp="1"/>
          </p:cNvSpPr>
          <p:nvPr/>
        </p:nvSpPr>
        <p:spPr>
          <a:xfrm xmlns:a="http://schemas.openxmlformats.org/drawingml/2006/main">
            <a:off x="393700" y="1401762"/>
            <a:ext cx="3568700" cy="36195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Content Placeholder 8">
            <a:extLst xmlns:a="http://schemas.openxmlformats.org/drawingml/2006/main">
              <a:ext uri="{FF2B5EF4-FFF2-40B4-BE49-F238E27FC236}">
                <a16:creationId xmlns:a16="http://schemas.microsoft.com/office/drawing/2014/main" id="{052F45FF-C9C5-2664-7FF7-CFEC29737802}"/>
              </a:ext>
            </a:extLst>
          </p:cNvPr>
          <p:cNvSpPr>
            <a:spLocks xmlns:a="http://schemas.openxmlformats.org/drawingml/2006/main" noGrp="1"/>
          </p:cNvSpPr>
          <p:nvPr/>
        </p:nvSpPr>
        <p:spPr>
          <a:xfrm xmlns:a="http://schemas.openxmlformats.org/drawingml/2006/main">
            <a:off x="703381" y="1806797"/>
            <a:ext cx="2949339" cy="2566766"/>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800">
                <a:latin typeface="Helvetica Neue"/>
                <a:ea typeface="Helvetica Neue"/>
                <a:cs typeface="Helvetica Neue"/>
              </a:rPr>
              <a:t>Graph specification</a:t>
            </a:r>
          </a:p>
          <a:p xmlns:a="http://schemas.openxmlformats.org/drawingml/2006/main">
            <a:pPr marL="0" indent="0">
              <a:lnSpc>
                <a:spcPct val="114000"/>
              </a:lnSpc>
              <a:spcBef>
                <a:spcPts val="0"/>
              </a:spcBef>
              <a:spcAft>
                <a:spcPts val="800"/>
              </a:spcAft>
              <a:buNone/>
            </a:pPr>
            <a:r>
              <a:rPr sz="1800">
                <a:latin typeface="Helvetica Neue"/>
                <a:ea typeface="Helvetica Neue"/>
                <a:cs typeface="Helvetica Neue"/>
              </a:rPr>
              <a:t>Reachable is defined by walks over the repository Graph. Connectedness is characterized by reaching every vertex from a valid source.</a:t>
            </a:r>
            <a:endParaRPr/>
          </a:p>
        </p:txBody>
      </p:sp>
      <p:sp>
        <p:nvSpPr>
          <p:cNvPr id="22" name="Rounded Rectangle 21">
            <a:extLst xmlns:a="http://schemas.openxmlformats.org/drawingml/2006/main">
              <a:ext uri="{FF2B5EF4-FFF2-40B4-BE49-F238E27FC236}">
                <a16:creationId xmlns:a16="http://schemas.microsoft.com/office/drawing/2014/main" id="{C3E867C1-C7DA-85C7-C8DC-55F132F2923B}"/>
              </a:ext>
            </a:extLst>
          </p:cNvPr>
          <p:cNvSpPr>
            <a:spLocks xmlns:a="http://schemas.openxmlformats.org/drawingml/2006/main" noGrp="1"/>
          </p:cNvSpPr>
          <p:nvPr/>
        </p:nvSpPr>
        <p:spPr>
          <a:xfrm xmlns:a="http://schemas.openxmlformats.org/drawingml/2006/main">
            <a:off x="4308475" y="1401762"/>
            <a:ext cx="3568700" cy="36195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Content Placeholder 8">
            <a:extLst xmlns:a="http://schemas.openxmlformats.org/drawingml/2006/main">
              <a:ext uri="{FF2B5EF4-FFF2-40B4-BE49-F238E27FC236}">
                <a16:creationId xmlns:a16="http://schemas.microsoft.com/office/drawing/2014/main" id="{5C40FE43-DE8E-7C68-A6D4-F8D8AECE747F}"/>
              </a:ext>
            </a:extLst>
          </p:cNvPr>
          <p:cNvSpPr>
            <a:spLocks xmlns:a="http://schemas.openxmlformats.org/drawingml/2006/main" noGrp="1"/>
          </p:cNvSpPr>
          <p:nvPr/>
        </p:nvSpPr>
        <p:spPr>
          <a:xfrm xmlns:a="http://schemas.openxmlformats.org/drawingml/2006/main">
            <a:off x="4618156" y="1806797"/>
            <a:ext cx="2949339" cy="2566766"/>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800">
                <a:latin typeface="Helvetica Neue"/>
                <a:ea typeface="Helvetica Neue"/>
                <a:cs typeface="Helvetica Neue"/>
              </a:rPr>
              <a:t>Adjacency lists</a:t>
            </a:r>
          </a:p>
          <a:p xmlns:a="http://schemas.openxmlformats.org/drawingml/2006/main">
            <a:pPr marL="0" indent="0">
              <a:lnSpc>
                <a:spcPct val="114000"/>
              </a:lnSpc>
              <a:spcBef>
                <a:spcPts val="0"/>
              </a:spcBef>
              <a:spcAft>
                <a:spcPts val="800"/>
              </a:spcAft>
              <a:buNone/>
            </a:pPr>
            <a:r>
              <a:rPr sz="1800">
                <a:latin typeface="Helvetica Neue"/>
                <a:ea typeface="Helvetica Neue"/>
                <a:cs typeface="Helvetica Neue"/>
              </a:rPr>
              <a:t>Represents connects each row to graph edges and bounds total incidences by twice the labelled edge count.</a:t>
            </a:r>
            <a:endParaRPr/>
          </a:p>
        </p:txBody>
      </p:sp>
      <p:sp>
        <p:nvSpPr>
          <p:cNvPr id="24" name="Rounded Rectangle 23">
            <a:extLst xmlns:a="http://schemas.openxmlformats.org/drawingml/2006/main">
              <a:ext uri="{FF2B5EF4-FFF2-40B4-BE49-F238E27FC236}">
                <a16:creationId xmlns:a16="http://schemas.microsoft.com/office/drawing/2014/main" id="{EA9CAD1D-ACB2-1454-6255-0DA0ECB85F88}"/>
              </a:ext>
            </a:extLst>
          </p:cNvPr>
          <p:cNvSpPr>
            <a:spLocks xmlns:a="http://schemas.openxmlformats.org/drawingml/2006/main" noGrp="1"/>
          </p:cNvSpPr>
          <p:nvPr/>
        </p:nvSpPr>
        <p:spPr>
          <a:xfrm xmlns:a="http://schemas.openxmlformats.org/drawingml/2006/main">
            <a:off x="8237538" y="1401762"/>
            <a:ext cx="3568700" cy="36195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Content Placeholder 8">
            <a:extLst xmlns:a="http://schemas.openxmlformats.org/drawingml/2006/main">
              <a:ext uri="{FF2B5EF4-FFF2-40B4-BE49-F238E27FC236}">
                <a16:creationId xmlns:a16="http://schemas.microsoft.com/office/drawing/2014/main" id="{AECA4705-7C1E-A1DB-1156-729DDE0C588F}"/>
              </a:ext>
            </a:extLst>
          </p:cNvPr>
          <p:cNvSpPr>
            <a:spLocks xmlns:a="http://schemas.openxmlformats.org/drawingml/2006/main" noGrp="1"/>
          </p:cNvSpPr>
          <p:nvPr/>
        </p:nvSpPr>
        <p:spPr>
          <a:xfrm xmlns:a="http://schemas.openxmlformats.org/drawingml/2006/main">
            <a:off x="8547219" y="1806797"/>
            <a:ext cx="2949339" cy="2566766"/>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800">
                <a:latin typeface="Helvetica Neue"/>
                <a:ea typeface="Helvetica Neue"/>
                <a:cs typeface="Helvetica Neue"/>
              </a:rPr>
              <a:t>Addressed memory</a:t>
            </a:r>
          </a:p>
          <a:p xmlns:a="http://schemas.openxmlformats.org/drawingml/2006/main">
            <a:pPr marL="0" indent="0">
              <a:lnSpc>
                <a:spcPct val="114000"/>
              </a:lnSpc>
              <a:spcBef>
                <a:spcPts val="0"/>
              </a:spcBef>
              <a:spcAft>
                <a:spcPts val="800"/>
              </a:spcAft>
              <a:buNone/>
            </a:pPr>
            <a:r>
              <a:rPr sz="1800">
                <a:latin typeface="Helvetica Neue"/>
                <a:ea typeface="Helvetica Neue"/>
                <a:cs typeface="Helvetica Neue"/>
              </a:rPr>
              <a:t>Heap decodes linked rows. View relates visited flags and FIFO cells to ghost sets and lists. Frame lemmas preserve the graph.</a:t>
            </a:r>
            <a:endParaRPr/>
          </a:p>
        </p:txBody>
      </p:sp>
      <p:sp>
        <p:nvSpPr>
          <p:cNvPr id="8" name="Text Placeholder 16">
            <a:extLst xmlns:a="http://schemas.openxmlformats.org/drawingml/2006/main">
              <a:ext uri="{FF2B5EF4-FFF2-40B4-BE49-F238E27FC236}">
                <a16:creationId xmlns:a16="http://schemas.microsoft.com/office/drawing/2014/main" id="{013F05BF-0D59-AD7B-B623-A2626D8E3303}"/>
              </a:ext>
            </a:extLst>
          </p:cNvPr>
          <p:cNvSpPr>
            <a:spLocks xmlns:a="http://schemas.openxmlformats.org/drawingml/2006/main" noGrp="1"/>
          </p:cNvSpPr>
          <p:nvPr/>
        </p:nvSpPr>
        <p:spPr>
          <a:xfrm xmlns:a="http://schemas.openxmlformats.org/drawingml/2006/main">
            <a:off x="4251750" y="5602406"/>
            <a:ext cx="2595934" cy="391993"/>
          </a:xfrm>
          <a:prstGeom xmlns:a="http://schemas.openxmlformats.org/drawingml/2006/main" prst="rect">
            <a:avLst/>
          </a:prstGeom>
        </p:spPr>
        <p:txBody>
          <a:bodyPr xmlns:a="http://schemas.openxmlformats.org/drawingml/2006/main">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Library/GraphInput</a:t>
            </a:r>
            <a:endParaRPr sz="1600">
              <a:latin typeface="Helvetica Neue"/>
              <a:ea typeface="Helvetica Neue"/>
              <a:cs typeface="Helvetica Neue"/>
            </a:endParaRPr>
          </a:p>
        </p:txBody>
      </p:sp>
      <p:sp>
        <p:nvSpPr>
          <p:cNvPr id="12" name="Text Placeholder 16">
            <a:extLst xmlns:a="http://schemas.openxmlformats.org/drawingml/2006/main">
              <a:ext uri="{FF2B5EF4-FFF2-40B4-BE49-F238E27FC236}">
                <a16:creationId xmlns:a16="http://schemas.microsoft.com/office/drawing/2014/main" id="{BD278DD6-3486-8F28-C119-6A1866BD8D2F}"/>
              </a:ext>
            </a:extLst>
          </p:cNvPr>
          <p:cNvSpPr>
            <a:spLocks xmlns:a="http://schemas.openxmlformats.org/drawingml/2006/main" noGrp="1"/>
          </p:cNvSpPr>
          <p:nvPr/>
        </p:nvSpPr>
        <p:spPr>
          <a:xfrm xmlns:a="http://schemas.openxmlformats.org/drawingml/2006/main">
            <a:off x="390950" y="5602406"/>
            <a:ext cx="2595934" cy="391993"/>
          </a:xfrm>
          <a:prstGeom xmlns:a="http://schemas.openxmlformats.org/drawingml/2006/main" prst="rect">
            <a:avLst/>
          </a:prstGeom>
        </p:spPr>
        <p:txBody>
          <a:bodyPr xmlns:a="http://schemas.openxmlformats.org/drawingml/2006/main">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Specification/Graph</a:t>
            </a:r>
            <a:endParaRPr sz="1600">
              <a:latin typeface="Helvetica Neue"/>
              <a:ea typeface="Helvetica Neue"/>
              <a:cs typeface="Helvetica Neue"/>
            </a:endParaRPr>
          </a:p>
        </p:txBody>
      </p:sp>
      <p:sp>
        <p:nvSpPr>
          <p:cNvPr id="13" name="Text Placeholder 16">
            <a:extLst xmlns:a="http://schemas.openxmlformats.org/drawingml/2006/main">
              <a:ext uri="{FF2B5EF4-FFF2-40B4-BE49-F238E27FC236}">
                <a16:creationId xmlns:a16="http://schemas.microsoft.com/office/drawing/2014/main" id="{DAB1D750-F0E1-A3C4-989E-260B04C4A85B}"/>
              </a:ext>
            </a:extLst>
          </p:cNvPr>
          <p:cNvSpPr>
            <a:spLocks xmlns:a="http://schemas.openxmlformats.org/drawingml/2006/main" noGrp="1"/>
          </p:cNvSpPr>
          <p:nvPr/>
        </p:nvSpPr>
        <p:spPr>
          <a:xfrm xmlns:a="http://schemas.openxmlformats.org/drawingml/2006/main">
            <a:off x="8225439" y="5602406"/>
            <a:ext cx="2595934" cy="391993"/>
          </a:xfrm>
          <a:prstGeom xmlns:a="http://schemas.openxmlformats.org/drawingml/2006/main" prst="rect">
            <a:avLst/>
          </a:prstGeom>
        </p:spPr>
        <p:txBody>
          <a:bodyPr xmlns:a="http://schemas.openxmlformats.org/drawingml/2006/main">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Library/GraphMemory</a:t>
            </a:r>
            <a:endParaRPr sz="1600">
              <a:latin typeface="Helvetica Neue"/>
              <a:ea typeface="Helvetica Neue"/>
              <a:cs typeface="Helvetica Neue"/>
            </a:endParaRPr>
          </a:p>
        </p:txBody>
      </p:sp>
    </p:spTree>
    <p:extLst>
      <p:ext uri="{BB962C8B-B14F-4D97-AF65-F5344CB8AC3E}">
        <p14:creationId xmlns:p14="http://schemas.microsoft.com/office/powerpoint/2010/main" val="167841331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6" name="Rounded Rectangle 5">
            <a:extLst xmlns:a="http://schemas.openxmlformats.org/drawingml/2006/main">
              <a:ext uri="{FF2B5EF4-FFF2-40B4-BE49-F238E27FC236}">
                <a16:creationId xmlns:a16="http://schemas.microsoft.com/office/drawing/2014/main" id="{3595FF69-AA88-8653-2D13-3E0289A12A44}"/>
              </a:ext>
            </a:extLst>
          </p:cNvPr>
          <p:cNvSpPr>
            <a:spLocks xmlns:a="http://schemas.openxmlformats.org/drawingml/2006/main" noGrp="1"/>
          </p:cNvSpPr>
          <p:nvPr/>
        </p:nvSpPr>
        <p:spPr>
          <a:xfrm xmlns:a="http://schemas.openxmlformats.org/drawingml/2006/main">
            <a:off x="393700" y="3022600"/>
            <a:ext cx="3568700" cy="29718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ounded Rectangle 6">
            <a:extLst xmlns:a="http://schemas.openxmlformats.org/drawingml/2006/main">
              <a:ext uri="{FF2B5EF4-FFF2-40B4-BE49-F238E27FC236}">
                <a16:creationId xmlns:a16="http://schemas.microsoft.com/office/drawing/2014/main" id="{E3AFD29D-9AD2-841D-0915-B4BDDC09C0B7}"/>
              </a:ext>
            </a:extLst>
          </p:cNvPr>
          <p:cNvSpPr>
            <a:spLocks xmlns:a="http://schemas.openxmlformats.org/drawingml/2006/main" noGrp="1"/>
          </p:cNvSpPr>
          <p:nvPr/>
        </p:nvSpPr>
        <p:spPr>
          <a:xfrm xmlns:a="http://schemas.openxmlformats.org/drawingml/2006/main">
            <a:off x="4311650" y="3022600"/>
            <a:ext cx="3568700" cy="29718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ounded Rectangle 7">
            <a:extLst xmlns:a="http://schemas.openxmlformats.org/drawingml/2006/main">
              <a:ext uri="{FF2B5EF4-FFF2-40B4-BE49-F238E27FC236}">
                <a16:creationId xmlns:a16="http://schemas.microsoft.com/office/drawing/2014/main" id="{7A10D6BE-4B8A-E31D-9AC6-AEB4FCD518B2}"/>
              </a:ext>
            </a:extLst>
          </p:cNvPr>
          <p:cNvSpPr>
            <a:spLocks xmlns:a="http://schemas.openxmlformats.org/drawingml/2006/main" noGrp="1"/>
          </p:cNvSpPr>
          <p:nvPr/>
        </p:nvSpPr>
        <p:spPr>
          <a:xfrm xmlns:a="http://schemas.openxmlformats.org/drawingml/2006/main">
            <a:off x="8232297" y="3022600"/>
            <a:ext cx="3568700" cy="29718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Slide Number Placeholder 1">
            <a:extLst xmlns:a="http://schemas.openxmlformats.org/drawingml/2006/main">
              <a:ext uri="{FF2B5EF4-FFF2-40B4-BE49-F238E27FC236}">
                <a16:creationId xmlns:a16="http://schemas.microsoft.com/office/drawing/2014/main" id="{908090F4-C2CE-1329-8725-AC98A6AF8F60}"/>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00000000-1234-1234-1234-123412341234}" type="slidenum">
              <a:t>19</a:t>
            </a:fld>
            <a:endParaRPr/>
          </a:p>
        </p:txBody>
      </p:sp>
      <p:sp>
        <p:nvSpPr>
          <p:cNvPr id="3" name="Title 2">
            <a:extLst xmlns:a="http://schemas.openxmlformats.org/drawingml/2006/main">
              <a:ext uri="{FF2B5EF4-FFF2-40B4-BE49-F238E27FC236}">
                <a16:creationId xmlns:a16="http://schemas.microsoft.com/office/drawing/2014/main" id="{B64EBD68-6C7C-E1E5-F754-A2CABD28D4B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The BFS time argument</a:t>
            </a:r>
            <a:endParaRPr/>
          </a:p>
        </p:txBody>
      </p:sp>
      <p:sp>
        <p:nvSpPr>
          <p:cNvPr id="10" name="Content Placeholder 9">
            <a:extLst xmlns:a="http://schemas.openxmlformats.org/drawingml/2006/main">
              <a:ext uri="{FF2B5EF4-FFF2-40B4-BE49-F238E27FC236}">
                <a16:creationId xmlns:a16="http://schemas.microsoft.com/office/drawing/2014/main" id="{E8352425-466B-B7C0-4556-B12F3F4F6DB3}"/>
              </a:ext>
            </a:extLst>
          </p:cNvPr>
          <p:cNvSpPr>
            <a:spLocks xmlns:a="http://schemas.openxmlformats.org/drawingml/2006/main" noGrp="1"/>
          </p:cNvSpPr>
          <p:nvPr>
            <p:ph idx="4294967295"/>
          </p:nvPr>
        </p:nvSpPr>
        <p:spPr>
          <a:xfrm xmlns:a="http://schemas.openxmlformats.org/drawingml/2006/main">
            <a:off x="702413" y="4900613"/>
            <a:ext cx="2949575" cy="819150"/>
          </a:xfrm>
        </p:spPr>
        <p:txBody>
          <a:bodyPr xmlns:a="http://schemas.openxmlformats.org/drawingml/2006/main">
            <a:normAutofit fontScale="100000"/>
          </a:bodyPr>
          <a:lstStyle xmlns:a="http://schemas.openxmlformats.org/drawingml/2006/main"/>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latin typeface="Helvetica Neue"/>
                <a:ea typeface="Helvetica Neue"/>
                <a:cs typeface="Helvetica Neue"/>
              </a:rPr>
              <a:t>Each vertex is dequeued at most once.</a:t>
            </a:r>
          </a:p>
        </p:txBody>
      </p:sp>
      <p:sp>
        <p:nvSpPr>
          <p:cNvPr id="11" name="Content Placeholder 10">
            <a:extLst xmlns:a="http://schemas.openxmlformats.org/drawingml/2006/main">
              <a:ext uri="{FF2B5EF4-FFF2-40B4-BE49-F238E27FC236}">
                <a16:creationId xmlns:a16="http://schemas.microsoft.com/office/drawing/2014/main" id="{9D1B4876-C319-B371-36B9-745CADB662E1}"/>
              </a:ext>
            </a:extLst>
          </p:cNvPr>
          <p:cNvSpPr>
            <a:spLocks xmlns:a="http://schemas.openxmlformats.org/drawingml/2006/main" noGrp="1"/>
          </p:cNvSpPr>
          <p:nvPr>
            <p:ph idx="4294967295"/>
          </p:nvPr>
        </p:nvSpPr>
        <p:spPr>
          <a:xfrm xmlns:a="http://schemas.openxmlformats.org/drawingml/2006/main">
            <a:off x="8541859" y="4900613"/>
            <a:ext cx="2949575" cy="819150"/>
          </a:xfrm>
        </p:spPr>
        <p:txBody>
          <a:bodyPr xmlns:a="http://schemas.openxmlformats.org/drawingml/2006/main">
            <a:normAutofit fontScale="100000"/>
          </a:bodyPr>
          <a:lstStyle xmlns:a="http://schemas.openxmlformats.org/drawingml/2006/main"/>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latin typeface="Helvetica Neue"/>
                <a:ea typeface="Helvetica Neue"/>
                <a:cs typeface="Helvetica Neue"/>
              </a:rPr>
              <a:t>Maximum cost expansion in the certificate adapter.</a:t>
            </a:r>
          </a:p>
        </p:txBody>
      </p:sp>
      <p:sp>
        <p:nvSpPr>
          <p:cNvPr id="12" name="Content Placeholder 11">
            <a:extLst xmlns:a="http://schemas.openxmlformats.org/drawingml/2006/main">
              <a:ext uri="{FF2B5EF4-FFF2-40B4-BE49-F238E27FC236}">
                <a16:creationId xmlns:a16="http://schemas.microsoft.com/office/drawing/2014/main" id="{1BDFAF15-9B61-BA2E-0381-0DE8F578A81F}"/>
              </a:ext>
            </a:extLst>
          </p:cNvPr>
          <p:cNvSpPr>
            <a:spLocks xmlns:a="http://schemas.openxmlformats.org/drawingml/2006/main" noGrp="1"/>
          </p:cNvSpPr>
          <p:nvPr>
            <p:ph idx="4294967295"/>
          </p:nvPr>
        </p:nvSpPr>
        <p:spPr>
          <a:xfrm xmlns:a="http://schemas.openxmlformats.org/drawingml/2006/main">
            <a:off x="4621211" y="4900613"/>
            <a:ext cx="2949575" cy="819150"/>
          </a:xfrm>
        </p:spPr>
        <p:txBody>
          <a:bodyPr xmlns:a="http://schemas.openxmlformats.org/drawingml/2006/main">
            <a:normAutofit fontScale="100000"/>
          </a:bodyPr>
          <a:lstStyle xmlns:a="http://schemas.openxmlformats.org/drawingml/2006/main"/>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latin typeface="Helvetica Neue"/>
                <a:ea typeface="Helvetica Neue"/>
                <a:cs typeface="Helvetica Neue"/>
              </a:rPr>
              <a:t>At most two stored incidences per labelled edge.</a:t>
            </a:r>
          </a:p>
        </p:txBody>
      </p:sp>
      <p:sp>
        <p:nvSpPr>
          <p:cNvPr id="13" name="Content Placeholder 9">
            <a:extLst xmlns:a="http://schemas.openxmlformats.org/drawingml/2006/main">
              <a:ext uri="{FF2B5EF4-FFF2-40B4-BE49-F238E27FC236}">
                <a16:creationId xmlns:a16="http://schemas.microsoft.com/office/drawing/2014/main" id="{EDBA9068-3E52-4988-B608-4CED930E45CC}"/>
              </a:ext>
            </a:extLst>
          </p:cNvPr>
          <p:cNvSpPr>
            <a:spLocks xmlns:a="http://schemas.openxmlformats.org/drawingml/2006/main" noGrp="1"/>
          </p:cNvSpPr>
          <p:nvPr/>
        </p:nvSpPr>
        <p:spPr>
          <a:xfrm xmlns:a="http://schemas.openxmlformats.org/drawingml/2006/main">
            <a:off x="702413" y="3429000"/>
            <a:ext cx="2940124" cy="1359356"/>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7500" b="0" i="0" u="none" cap="none" spc="0">
                <a:ln>
                  <a:noFill/>
                </a:ln>
                <a:latin typeface="Helvetica Neue"/>
                <a:ea typeface="Helvetica Neue"/>
                <a:cs typeface="Helvetica Neue"/>
              </a:rPr>
              <a:t>1×</a:t>
            </a:r>
            <a:endParaRPr sz="7500"/>
          </a:p>
        </p:txBody>
      </p:sp>
      <p:sp>
        <p:nvSpPr>
          <p:cNvPr id="4" name="Content Placeholder 9">
            <a:extLst xmlns:a="http://schemas.openxmlformats.org/drawingml/2006/main">
              <a:ext uri="{FF2B5EF4-FFF2-40B4-BE49-F238E27FC236}">
                <a16:creationId xmlns:a16="http://schemas.microsoft.com/office/drawing/2014/main" id="{553D01BD-BEDA-E1D7-8112-CCD78E0BB0D4}"/>
              </a:ext>
            </a:extLst>
          </p:cNvPr>
          <p:cNvSpPr>
            <a:spLocks xmlns:a="http://schemas.openxmlformats.org/drawingml/2006/main" noGrp="1"/>
          </p:cNvSpPr>
          <p:nvPr/>
        </p:nvSpPr>
        <p:spPr>
          <a:xfrm xmlns:a="http://schemas.openxmlformats.org/drawingml/2006/main">
            <a:off x="4612932" y="3429000"/>
            <a:ext cx="2940124" cy="1359356"/>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7500" b="0" i="0" u="none" cap="none" spc="0">
                <a:ln>
                  <a:noFill/>
                </a:ln>
                <a:latin typeface="Helvetica Neue"/>
                <a:ea typeface="Helvetica Neue"/>
                <a:cs typeface="Helvetica Neue"/>
              </a:rPr>
              <a:t>2m</a:t>
            </a:r>
            <a:endParaRPr sz="7500"/>
          </a:p>
        </p:txBody>
      </p:sp>
      <p:sp>
        <p:nvSpPr>
          <p:cNvPr id="5" name="Content Placeholder 9">
            <a:extLst xmlns:a="http://schemas.openxmlformats.org/drawingml/2006/main">
              <a:ext uri="{FF2B5EF4-FFF2-40B4-BE49-F238E27FC236}">
                <a16:creationId xmlns:a16="http://schemas.microsoft.com/office/drawing/2014/main" id="{5AE7C386-15B3-0C22-BD29-DB00B9F7FAA9}"/>
              </a:ext>
            </a:extLst>
          </p:cNvPr>
          <p:cNvSpPr>
            <a:spLocks xmlns:a="http://schemas.openxmlformats.org/drawingml/2006/main" noGrp="1"/>
          </p:cNvSpPr>
          <p:nvPr/>
        </p:nvSpPr>
        <p:spPr>
          <a:xfrm xmlns:a="http://schemas.openxmlformats.org/drawingml/2006/main">
            <a:off x="8562362" y="3429000"/>
            <a:ext cx="2940124" cy="1359356"/>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7500" b="0" i="0" u="none" cap="none" spc="0">
                <a:ln>
                  <a:noFill/>
                </a:ln>
                <a:latin typeface="Helvetica Neue"/>
                <a:ea typeface="Helvetica Neue"/>
                <a:cs typeface="Helvetica Neue"/>
              </a:rPr>
              <a:t>5×</a:t>
            </a:r>
            <a:endParaRPr sz="7500"/>
          </a:p>
        </p:txBody>
      </p:sp>
      <p:sp>
        <p:nvSpPr>
          <p:cNvPr id="14" name="Content Placeholder 15">
            <a:extLst xmlns:a="http://schemas.openxmlformats.org/drawingml/2006/main">
              <a:ext uri="{FF2B5EF4-FFF2-40B4-BE49-F238E27FC236}">
                <a16:creationId xmlns:a16="http://schemas.microsoft.com/office/drawing/2014/main" id="{45E38982-B0CA-BEBE-C656-B7F62835ADB0}"/>
              </a:ext>
            </a:extLst>
          </p:cNvPr>
          <p:cNvSpPr>
            <a:spLocks xmlns:a="http://schemas.openxmlformats.org/drawingml/2006/main" noGrp="1"/>
          </p:cNvSpPr>
          <p:nvPr/>
        </p:nvSpPr>
        <p:spPr>
          <a:xfrm xmlns:a="http://schemas.openxmlformats.org/drawingml/2006/main">
            <a:off x="393700" y="1138300"/>
            <a:ext cx="11404599" cy="1599406"/>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pPr>
            <a:r>
              <a:rPr sz="1800">
                <a:latin typeface="Helvetica Neue Medium"/>
                <a:ea typeface="Helvetica Neue Medium"/>
                <a:cs typeface="Helvetica Neue Medium"/>
              </a:rPr>
              <a:t>Pay once for each row</a:t>
            </a:r>
          </a:p>
          <a:p xmlns:a="http://schemas.openxmlformats.org/drawingml/2006/main">
            <a:pPr>
              <a:lnSpc>
                <a:spcPct val="114000"/>
              </a:lnSpc>
              <a:spcBef>
                <a:spcPts val="0"/>
              </a:spcBef>
              <a:spcAft>
                <a:spcPts val="600"/>
              </a:spcAft>
              <a:buNone/>
            </a:pPr>
            <a:r>
              <a:rPr>
                <a:latin typeface="Helvetica Neue"/>
                <a:ea typeface="Helvetica Neue"/>
                <a:cs typeface="Helvetica Neue"/>
              </a:rPr>
              <a:t>The potential sums 8 + 16·degree(v) over unprocessed vertices in the instruction certificate. The verified adapter accounts for the typed source expressions.</a:t>
            </a:r>
          </a:p>
        </p:txBody>
      </p:sp>
      <p:sp>
        <p:nvSpPr>
          <p:cNvPr id="9" name="Footer Placeholder 6">
            <a:extLst xmlns:a="http://schemas.openxmlformats.org/drawingml/2006/main">
              <a:ext uri="{FF2B5EF4-FFF2-40B4-BE49-F238E27FC236}">
                <a16:creationId xmlns:a16="http://schemas.microsoft.com/office/drawing/2014/main" id="{7472BC53-6948-EE0F-E8E5-5488EF53DFE8}"/>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36961682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41655C29-3D04-D88C-395C-E6000B5894F9}"/>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F29587C6-818E-614C-4E8F-CD264BB5DD4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20</a:t>
            </a:fld>
            <a:endParaRPr/>
          </a:p>
        </p:txBody>
      </p:sp>
      <p:sp>
        <p:nvSpPr>
          <p:cNvPr id="533" name="Google Shape;533;p58">
            <a:extLst xmlns:a="http://schemas.openxmlformats.org/drawingml/2006/main">
              <a:ext uri="{FF2B5EF4-FFF2-40B4-BE49-F238E27FC236}">
                <a16:creationId xmlns:a16="http://schemas.microsoft.com/office/drawing/2014/main" id="{E3FE1DBC-074A-B31C-7363-7F3B8444370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Adapter costs</a:t>
            </a:r>
          </a:p>
        </p:txBody>
      </p:sp>
      <p:sp>
        <p:nvSpPr>
          <p:cNvPr id="7" name="Rounded Rectangle 6">
            <a:extLst xmlns:a="http://schemas.openxmlformats.org/drawingml/2006/main">
              <a:ext uri="{FF2B5EF4-FFF2-40B4-BE49-F238E27FC236}">
                <a16:creationId xmlns:a16="http://schemas.microsoft.com/office/drawing/2014/main" id="{D0871A73-A37A-1E7C-6089-9D4D7E091093}"/>
              </a:ext>
            </a:extLst>
          </p:cNvPr>
          <p:cNvSpPr>
            <a:spLocks xmlns:a="http://schemas.openxmlformats.org/drawingml/2006/main" noGrp="1"/>
          </p:cNvSpPr>
          <p:nvPr/>
        </p:nvSpPr>
        <p:spPr>
          <a:xfrm xmlns:a="http://schemas.openxmlformats.org/drawingml/2006/main">
            <a:off x="6264412" y="2369856"/>
            <a:ext cx="5533887" cy="16383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Content Placeholder 10">
            <a:extLst xmlns:a="http://schemas.openxmlformats.org/drawingml/2006/main">
              <a:ext uri="{FF2B5EF4-FFF2-40B4-BE49-F238E27FC236}">
                <a16:creationId xmlns:a16="http://schemas.microsoft.com/office/drawing/2014/main" id="{1C7B8C8B-F20A-31B8-CB9E-D406AEA7CEF5}"/>
              </a:ext>
            </a:extLst>
          </p:cNvPr>
          <p:cNvSpPr>
            <a:spLocks xmlns:a="http://schemas.openxmlformats.org/drawingml/2006/main" noGrp="1"/>
          </p:cNvSpPr>
          <p:nvPr/>
        </p:nvSpPr>
        <p:spPr>
          <a:xfrm xmlns:a="http://schemas.openxmlformats.org/drawingml/2006/main">
            <a:off x="6561647" y="2664788"/>
            <a:ext cx="4986886" cy="1048436"/>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800">
                <a:latin typeface="Helvetica Neue"/>
                <a:ea typeface="Helvetica Neue"/>
                <a:cs typeface="Helvetica Neue"/>
              </a:rPr>
              <a:t>Expression work is paid</a:t>
            </a:r>
          </a:p>
          <a:p xmlns:a="http://schemas.openxmlformats.org/drawingml/2006/main">
            <a:pPr marL="0" indent="0">
              <a:lnSpc>
                <a:spcPct val="100000"/>
              </a:lnSpc>
              <a:spcBef>
                <a:spcPts val="1300"/>
              </a:spcBef>
              <a:spcAft>
                <a:spcPts val="1300"/>
              </a:spcAft>
              <a:buFontTx/>
              <a:buNone/>
            </a:pPr>
            <a:r>
              <a:rPr sz="1800">
                <a:latin typeface="Helvetica Neue"/>
                <a:ea typeface="Helvetica Neue"/>
                <a:cs typeface="Helvetica Neue"/>
              </a:rPr>
              <a:t>Loads and stores include address evaluation. Arithmetic includes evaluation of both operands.</a:t>
            </a:r>
          </a:p>
        </p:txBody>
      </p:sp>
      <p:sp>
        <p:nvSpPr>
          <p:cNvPr id="9" name="Rounded Rectangle 8">
            <a:extLst xmlns:a="http://schemas.openxmlformats.org/drawingml/2006/main">
              <a:ext uri="{FF2B5EF4-FFF2-40B4-BE49-F238E27FC236}">
                <a16:creationId xmlns:a16="http://schemas.microsoft.com/office/drawing/2014/main" id="{506E7539-B6D2-84FE-7719-21D73815654C}"/>
              </a:ext>
            </a:extLst>
          </p:cNvPr>
          <p:cNvSpPr>
            <a:spLocks xmlns:a="http://schemas.openxmlformats.org/drawingml/2006/main" noGrp="1"/>
          </p:cNvSpPr>
          <p:nvPr/>
        </p:nvSpPr>
        <p:spPr>
          <a:xfrm xmlns:a="http://schemas.openxmlformats.org/drawingml/2006/main">
            <a:off x="6264413" y="393700"/>
            <a:ext cx="5533887" cy="16383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Content Placeholder 10">
            <a:extLst xmlns:a="http://schemas.openxmlformats.org/drawingml/2006/main">
              <a:ext uri="{FF2B5EF4-FFF2-40B4-BE49-F238E27FC236}">
                <a16:creationId xmlns:a16="http://schemas.microsoft.com/office/drawing/2014/main" id="{B50BFF6E-013F-2CA5-21F9-98283DFCB4AE}"/>
              </a:ext>
            </a:extLst>
          </p:cNvPr>
          <p:cNvSpPr>
            <a:spLocks xmlns:a="http://schemas.openxmlformats.org/drawingml/2006/main" noGrp="1"/>
          </p:cNvSpPr>
          <p:nvPr/>
        </p:nvSpPr>
        <p:spPr>
          <a:xfrm xmlns:a="http://schemas.openxmlformats.org/drawingml/2006/main">
            <a:off x="6561648" y="688632"/>
            <a:ext cx="4986886" cy="1048436"/>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800">
                <a:latin typeface="Helvetica Neue"/>
                <a:ea typeface="Helvetica Neue"/>
                <a:cs typeface="Helvetica Neue"/>
              </a:rPr>
              <a:t>Exact primitive costs</a:t>
            </a:r>
          </a:p>
          <a:p xmlns:a="http://schemas.openxmlformats.org/drawingml/2006/main">
            <a:pPr marL="0" indent="0">
              <a:lnSpc>
                <a:spcPct val="100000"/>
              </a:lnSpc>
              <a:spcBef>
                <a:spcPts val="1300"/>
              </a:spcBef>
              <a:spcAft>
                <a:spcPts val="1300"/>
              </a:spcAft>
              <a:buFontTx/>
              <a:buNone/>
            </a:pPr>
            <a:r>
              <a:rPr sz="1800">
                <a:latin typeface="Helvetica Neue"/>
                <a:ea typeface="Helvetica Neue"/>
                <a:cs typeface="Helvetica Neue"/>
              </a:rPr>
              <a:t>The chart compares one certificate instruction with its lifted source command.</a:t>
            </a:r>
          </a:p>
        </p:txBody>
      </p:sp>
      <p:sp>
        <p:nvSpPr>
          <p:cNvPr id="2" name="Rounded Rectangle 1">
            <a:extLst xmlns:a="http://schemas.openxmlformats.org/drawingml/2006/main">
              <a:ext uri="{FF2B5EF4-FFF2-40B4-BE49-F238E27FC236}">
                <a16:creationId xmlns:a16="http://schemas.microsoft.com/office/drawing/2014/main" id="{C4E18E5B-6405-1268-D0C6-02B9E1F83EA8}"/>
              </a:ext>
            </a:extLst>
          </p:cNvPr>
          <p:cNvSpPr>
            <a:spLocks xmlns:a="http://schemas.openxmlformats.org/drawingml/2006/main" noGrp="1"/>
          </p:cNvSpPr>
          <p:nvPr/>
        </p:nvSpPr>
        <p:spPr>
          <a:xfrm xmlns:a="http://schemas.openxmlformats.org/drawingml/2006/main">
            <a:off x="6264412" y="4381536"/>
            <a:ext cx="5533887" cy="1638300"/>
          </a:xfrm>
          <a:prstGeom xmlns:a="http://schemas.openxmlformats.org/drawingml/2006/main" prst="roundRect">
            <a:avLst>
              <a:gd name="adj" fmla="val 3585"/>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Content Placeholder 10">
            <a:extLst xmlns:a="http://schemas.openxmlformats.org/drawingml/2006/main">
              <a:ext uri="{FF2B5EF4-FFF2-40B4-BE49-F238E27FC236}">
                <a16:creationId xmlns:a16="http://schemas.microsoft.com/office/drawing/2014/main" id="{CF7239E1-4EF6-5723-3651-1149031AE671}"/>
              </a:ext>
            </a:extLst>
          </p:cNvPr>
          <p:cNvSpPr>
            <a:spLocks xmlns:a="http://schemas.openxmlformats.org/drawingml/2006/main" noGrp="1"/>
          </p:cNvSpPr>
          <p:nvPr/>
        </p:nvSpPr>
        <p:spPr>
          <a:xfrm xmlns:a="http://schemas.openxmlformats.org/drawingml/2006/main">
            <a:off x="6561647" y="4676468"/>
            <a:ext cx="4986886" cy="1048436"/>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800">
                <a:latin typeface="Helvetica Neue"/>
                <a:ea typeface="Helvetica Neue"/>
                <a:cs typeface="Helvetica Neue"/>
              </a:rPr>
              <a:t>A conservative bound</a:t>
            </a:r>
          </a:p>
          <a:p xmlns:a="http://schemas.openxmlformats.org/drawingml/2006/main">
            <a:pPr marL="0" indent="0">
              <a:lnSpc>
                <a:spcPct val="100000"/>
              </a:lnSpc>
              <a:spcBef>
                <a:spcPts val="1300"/>
              </a:spcBef>
              <a:spcAft>
                <a:spcPts val="1300"/>
              </a:spcAft>
              <a:buFontTx/>
              <a:buNone/>
            </a:pPr>
            <a:r>
              <a:rPr sz="1800">
                <a:latin typeface="Helvetica Neue"/>
                <a:ea typeface="Helvetica Neue"/>
                <a:cs typeface="Helvetica Neue"/>
              </a:rPr>
              <a:t>Every supported instruction lifts with cost at most five. Guard lifting is also proved.</a:t>
            </a:r>
          </a:p>
        </p:txBody>
      </p:sp>
      <p:graphicFrame>
        <p:nvGraphicFramePr>
          <p:cNvPr id="544" name="Chart"/>
          <p:cNvGraphicFramePr/>
          <p:nvPr/>
        </p:nvGraphicFramePr>
        <p:xfrm>
          <a:off xmlns:a="http://schemas.openxmlformats.org/drawingml/2006/main" x="408718" y="1244632"/>
          <a:ext xmlns:a="http://schemas.openxmlformats.org/drawingml/2006/main" cx="5124164" cy="5213890"/>
        </p:xfrm>
        <a:graphic xmlns:a="http://schemas.openxmlformats.org/drawingml/2006/main">
          <a:graphicData uri="http://schemas.openxmlformats.org/drawingml/2006/chart">
            <c:chart xmlns:r="http://schemas.openxmlformats.org/officeDocument/2006/relationships" xmlns:c="http://schemas.openxmlformats.org/drawingml/2006/chart" r:id="R25118ee5e1b94721"/>
          </a:graphicData>
        </a:graphic>
      </p:graphicFrame>
    </p:spTree>
    <p:extLst>
      <p:ext uri="{BB962C8B-B14F-4D97-AF65-F5344CB8AC3E}">
        <p14:creationId xmlns:p14="http://schemas.microsoft.com/office/powerpoint/2010/main" val="314597529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CA82F118-C6BB-3BC4-35D2-F1406F35370D}"/>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D3D601CC-90EA-4B7E-D56D-42EF2FCCABE3}"/>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fld id="{8574A810-7A8E-054F-9F6B-09E9C694ECF9}" type="slidenum">
              <a:t>21</a:t>
            </a:fld>
            <a:endParaRPr/>
          </a:p>
        </p:txBody>
      </p:sp>
      <p:sp>
        <p:nvSpPr>
          <p:cNvPr id="11" name="Title 10">
            <a:extLst xmlns:a="http://schemas.openxmlformats.org/drawingml/2006/main">
              <a:ext uri="{FF2B5EF4-FFF2-40B4-BE49-F238E27FC236}">
                <a16:creationId xmlns:a16="http://schemas.microsoft.com/office/drawing/2014/main" id="{4AEA3A7D-DBCA-D3E4-FBE6-7DFA3D3F5D94}"/>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t>Sorting upper bounds</a:t>
            </a:r>
          </a:p>
        </p:txBody>
      </p:sp>
      <p:sp>
        <p:nvSpPr>
          <p:cNvPr id="37" name="Rounded Rectangle 36">
            <a:extLst xmlns:a="http://schemas.openxmlformats.org/drawingml/2006/main">
              <a:ext uri="{FF2B5EF4-FFF2-40B4-BE49-F238E27FC236}">
                <a16:creationId xmlns:a16="http://schemas.microsoft.com/office/drawing/2014/main" id="{AD9F0FEC-2745-EA90-4350-ECA0139679CC}"/>
              </a:ext>
            </a:extLst>
          </p:cNvPr>
          <p:cNvSpPr>
            <a:spLocks xmlns:a="http://schemas.openxmlformats.org/drawingml/2006/main" noGrp="1"/>
          </p:cNvSpPr>
          <p:nvPr/>
        </p:nvSpPr>
        <p:spPr>
          <a:xfrm xmlns:a="http://schemas.openxmlformats.org/drawingml/2006/main">
            <a:off x="6271986" y="3360085"/>
            <a:ext cx="2581975" cy="2656541"/>
          </a:xfrm>
          <a:prstGeom xmlns:a="http://schemas.openxmlformats.org/drawingml/2006/main" prst="roundRect">
            <a:avLst>
              <a:gd name="adj" fmla="val 6087"/>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Content Placeholder 9">
            <a:extLst xmlns:a="http://schemas.openxmlformats.org/drawingml/2006/main">
              <a:ext uri="{FF2B5EF4-FFF2-40B4-BE49-F238E27FC236}">
                <a16:creationId xmlns:a16="http://schemas.microsoft.com/office/drawing/2014/main" id="{9F2C50E3-28B0-6CBB-D0C2-A884FA6A0F1E}"/>
              </a:ext>
            </a:extLst>
          </p:cNvPr>
          <p:cNvSpPr>
            <a:spLocks xmlns:a="http://schemas.openxmlformats.org/drawingml/2006/main" noGrp="1"/>
          </p:cNvSpPr>
          <p:nvPr/>
        </p:nvSpPr>
        <p:spPr>
          <a:xfrm xmlns:a="http://schemas.openxmlformats.org/drawingml/2006/main">
            <a:off x="6509338" y="3579974"/>
            <a:ext cx="2133315" cy="1155819"/>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5000" u="none" cap="none" spc="0">
                <a:ln>
                  <a:noFill/>
                </a:ln>
                <a:latin typeface="Helvetica Neue"/>
                <a:ea typeface="Helvetica Neue"/>
                <a:cs typeface="Helvetica Neue"/>
              </a:rPr>
              <a:t>20</a:t>
            </a:r>
            <a:endParaRPr sz="5000">
              <a:latin typeface="Helvetica Neue"/>
              <a:ea typeface="Helvetica Neue"/>
              <a:cs typeface="Helvetica Neue"/>
            </a:endParaRPr>
          </a:p>
        </p:txBody>
      </p:sp>
      <p:sp>
        <p:nvSpPr>
          <p:cNvPr id="39" name="Content Placeholder 15">
            <a:extLst xmlns:a="http://schemas.openxmlformats.org/drawingml/2006/main">
              <a:ext uri="{FF2B5EF4-FFF2-40B4-BE49-F238E27FC236}">
                <a16:creationId xmlns:a16="http://schemas.microsoft.com/office/drawing/2014/main" id="{57309BA0-73E7-AB92-9FFA-3CB6E7D29885}"/>
              </a:ext>
            </a:extLst>
          </p:cNvPr>
          <p:cNvSpPr>
            <a:spLocks xmlns:a="http://schemas.openxmlformats.org/drawingml/2006/main" noGrp="1"/>
          </p:cNvSpPr>
          <p:nvPr/>
        </p:nvSpPr>
        <p:spPr>
          <a:xfrm xmlns:a="http://schemas.openxmlformats.org/drawingml/2006/main">
            <a:off x="6575956" y="5068235"/>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Leading coefficient</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of 20n² + 40n + 10</a:t>
            </a:r>
            <a:endParaRPr sz="1400">
              <a:latin typeface="Helvetica Neue"/>
              <a:ea typeface="Helvetica Neue"/>
              <a:cs typeface="Helvetica Neue"/>
            </a:endParaRPr>
          </a:p>
        </p:txBody>
      </p:sp>
      <p:sp>
        <p:nvSpPr>
          <p:cNvPr id="40" name="Rounded Rectangle 39">
            <a:extLst xmlns:a="http://schemas.openxmlformats.org/drawingml/2006/main">
              <a:ext uri="{FF2B5EF4-FFF2-40B4-BE49-F238E27FC236}">
                <a16:creationId xmlns:a16="http://schemas.microsoft.com/office/drawing/2014/main" id="{5BFE1F75-4AAC-629D-4488-BAAF31013984}"/>
              </a:ext>
            </a:extLst>
          </p:cNvPr>
          <p:cNvSpPr>
            <a:spLocks xmlns:a="http://schemas.openxmlformats.org/drawingml/2006/main" noGrp="1"/>
          </p:cNvSpPr>
          <p:nvPr/>
        </p:nvSpPr>
        <p:spPr>
          <a:xfrm xmlns:a="http://schemas.openxmlformats.org/drawingml/2006/main">
            <a:off x="9224191" y="3360085"/>
            <a:ext cx="2581975" cy="2656541"/>
          </a:xfrm>
          <a:prstGeom xmlns:a="http://schemas.openxmlformats.org/drawingml/2006/main" prst="roundRect">
            <a:avLst>
              <a:gd name="adj" fmla="val 4984"/>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Content Placeholder 9">
            <a:extLst xmlns:a="http://schemas.openxmlformats.org/drawingml/2006/main">
              <a:ext uri="{FF2B5EF4-FFF2-40B4-BE49-F238E27FC236}">
                <a16:creationId xmlns:a16="http://schemas.microsoft.com/office/drawing/2014/main" id="{EDD16FA6-BF88-7DA4-7782-F905386C7429}"/>
              </a:ext>
            </a:extLst>
          </p:cNvPr>
          <p:cNvSpPr>
            <a:spLocks xmlns:a="http://schemas.openxmlformats.org/drawingml/2006/main" noGrp="1"/>
          </p:cNvSpPr>
          <p:nvPr/>
        </p:nvSpPr>
        <p:spPr>
          <a:xfrm xmlns:a="http://schemas.openxmlformats.org/drawingml/2006/main">
            <a:off x="9461543" y="3579974"/>
            <a:ext cx="2133315" cy="1155819"/>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5000" u="none" cap="none" spc="0">
                <a:ln>
                  <a:noFill/>
                </a:ln>
                <a:latin typeface="Helvetica Neue"/>
                <a:ea typeface="Helvetica Neue"/>
                <a:cs typeface="Helvetica Neue"/>
              </a:rPr>
              <a:t>70</a:t>
            </a:r>
            <a:endParaRPr sz="5000">
              <a:latin typeface="Helvetica Neue"/>
              <a:ea typeface="Helvetica Neue"/>
              <a:cs typeface="Helvetica Neue"/>
            </a:endParaRPr>
          </a:p>
        </p:txBody>
      </p:sp>
      <p:sp>
        <p:nvSpPr>
          <p:cNvPr id="42" name="Content Placeholder 15">
            <a:extLst xmlns:a="http://schemas.openxmlformats.org/drawingml/2006/main">
              <a:ext uri="{FF2B5EF4-FFF2-40B4-BE49-F238E27FC236}">
                <a16:creationId xmlns:a16="http://schemas.microsoft.com/office/drawing/2014/main" id="{6E0E4F2E-E5BA-848F-0BB2-B4A15FA331A8}"/>
              </a:ext>
            </a:extLst>
          </p:cNvPr>
          <p:cNvSpPr>
            <a:spLocks xmlns:a="http://schemas.openxmlformats.org/drawingml/2006/main" noGrp="1"/>
          </p:cNvSpPr>
          <p:nvPr/>
        </p:nvSpPr>
        <p:spPr>
          <a:xfrm xmlns:a="http://schemas.openxmlformats.org/drawingml/2006/main">
            <a:off x="9528161" y="5068235"/>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Uniform coefficient</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of 70n² for n ≥ 1</a:t>
            </a:r>
            <a:endParaRPr sz="1400">
              <a:latin typeface="Helvetica Neue"/>
              <a:ea typeface="Helvetica Neue"/>
              <a:cs typeface="Helvetica Neue"/>
            </a:endParaRPr>
          </a:p>
        </p:txBody>
      </p:sp>
      <p:sp>
        <p:nvSpPr>
          <p:cNvPr id="43" name="Content Placeholder 2">
            <a:extLst xmlns:a="http://schemas.openxmlformats.org/drawingml/2006/main">
              <a:ext uri="{FF2B5EF4-FFF2-40B4-BE49-F238E27FC236}">
                <a16:creationId xmlns:a16="http://schemas.microsoft.com/office/drawing/2014/main" id="{D1B313AA-3A24-CBDF-D666-09D42298B0B5}"/>
              </a:ext>
            </a:extLst>
          </p:cNvPr>
          <p:cNvSpPr>
            <a:spLocks xmlns:a="http://schemas.openxmlformats.org/drawingml/2006/main" noGrp="1"/>
          </p:cNvSpPr>
          <p:nvPr/>
        </p:nvSpPr>
        <p:spPr>
          <a:xfrm xmlns:a="http://schemas.openxmlformats.org/drawingml/2006/main">
            <a:off x="6261100" y="1955554"/>
            <a:ext cx="5539873" cy="990600"/>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Proved bounds for n = 1, 2, 4, 8. These are upper bounds on RAM steps, not measured execution times.</a:t>
            </a:r>
          </a:p>
        </p:txBody>
      </p:sp>
      <p:graphicFrame>
        <p:nvGraphicFramePr>
          <p:cNvPr id="55" name="Chart"/>
          <p:cNvGraphicFramePr/>
          <p:nvPr/>
        </p:nvGraphicFramePr>
        <p:xfrm>
          <a:off xmlns:a="http://schemas.openxmlformats.org/drawingml/2006/main" x="385858" y="1445228"/>
          <a:ext xmlns:a="http://schemas.openxmlformats.org/drawingml/2006/main" cx="5534216" cy="4786408"/>
        </p:xfrm>
        <a:graphic xmlns:a="http://schemas.openxmlformats.org/drawingml/2006/main">
          <a:graphicData uri="http://schemas.openxmlformats.org/drawingml/2006/chart">
            <c:chart xmlns:r="http://schemas.openxmlformats.org/officeDocument/2006/relationships" xmlns:c="http://schemas.openxmlformats.org/drawingml/2006/chart" r:id="Reb310718678f4bd6"/>
          </a:graphicData>
        </a:graphic>
      </p:graphicFrame>
    </p:spTree>
    <p:extLst>
      <p:ext uri="{BB962C8B-B14F-4D97-AF65-F5344CB8AC3E}">
        <p14:creationId xmlns:p14="http://schemas.microsoft.com/office/powerpoint/2010/main" val="377680918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0" name="Footer Placeholder 9">
            <a:extLst xmlns:a="http://schemas.openxmlformats.org/drawingml/2006/main">
              <a:ext uri="{FF2B5EF4-FFF2-40B4-BE49-F238E27FC236}">
                <a16:creationId xmlns:a16="http://schemas.microsoft.com/office/drawing/2014/main" id="{86E641B5-9209-3FE0-FF9F-6D9DEC997FE3}"/>
              </a:ext>
            </a:extLst>
          </p:cNvPr>
          <p:cNvSpPr>
            <a:spLocks xmlns:a="http://schemas.openxmlformats.org/drawingml/2006/main" noGrp="1"/>
          </p:cNvSpPr>
          <p:nvPr>
            <p:ph type="ftr" idx="3"/>
          </p:nvPr>
        </p:nvSpPr>
        <p:spPr>
          <a:xfrm xmlns:a="http://schemas.openxmlformats.org/drawingml/2006/main">
            <a:off x="634472" y="6037263"/>
            <a:ext cx="3568700" cy="241300"/>
          </a:xfr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0E4B3D1A-6BB0-A1C9-2A5D-E2CB5C0C28D8}"/>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fld id="{8574A810-7A8E-054F-9F6B-09E9C694ECF9}" type="slidenum">
              <a:t>22</a:t>
            </a:fld>
            <a:endParaRPr/>
          </a:p>
        </p:txBody>
      </p:sp>
      <p:sp>
        <p:nvSpPr>
          <p:cNvPr id="11" name="Title 10">
            <a:extLst xmlns:a="http://schemas.openxmlformats.org/drawingml/2006/main">
              <a:ext uri="{FF2B5EF4-FFF2-40B4-BE49-F238E27FC236}">
                <a16:creationId xmlns:a16="http://schemas.microsoft.com/office/drawing/2014/main" id="{76E542D1-756D-7A52-4319-E7068676CA8C}"/>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t>BFS upper bounds</a:t>
            </a:r>
          </a:p>
        </p:txBody>
      </p:sp>
      <p:sp>
        <p:nvSpPr>
          <p:cNvPr id="38" name="Content Placeholder 9">
            <a:extLst xmlns:a="http://schemas.openxmlformats.org/drawingml/2006/main">
              <a:ext uri="{FF2B5EF4-FFF2-40B4-BE49-F238E27FC236}">
                <a16:creationId xmlns:a16="http://schemas.microsoft.com/office/drawing/2014/main" id="{23EBE22F-0E57-50F2-2730-87B6AA220C40}"/>
              </a:ext>
            </a:extLst>
          </p:cNvPr>
          <p:cNvSpPr>
            <a:spLocks xmlns:a="http://schemas.openxmlformats.org/drawingml/2006/main" noGrp="1"/>
          </p:cNvSpPr>
          <p:nvPr/>
        </p:nvSpPr>
        <p:spPr>
          <a:xfrm xmlns:a="http://schemas.openxmlformats.org/drawingml/2006/main">
            <a:off x="6366176" y="4072340"/>
            <a:ext cx="2133315" cy="903750"/>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5000" u="none" cap="none" spc="0">
                <a:ln>
                  <a:noFill/>
                </a:ln>
                <a:latin typeface="Helvetica Neue"/>
                <a:ea typeface="Helvetica Neue"/>
                <a:cs typeface="Helvetica Neue"/>
              </a:rPr>
              <a:t>n+m</a:t>
            </a:r>
            <a:endParaRPr sz="5000">
              <a:latin typeface="Helvetica Neue"/>
              <a:ea typeface="Helvetica Neue"/>
              <a:cs typeface="Helvetica Neue"/>
            </a:endParaRPr>
          </a:p>
        </p:txBody>
      </p:sp>
      <p:sp>
        <p:nvSpPr>
          <p:cNvPr id="39" name="Content Placeholder 15">
            <a:extLst xmlns:a="http://schemas.openxmlformats.org/drawingml/2006/main">
              <a:ext uri="{FF2B5EF4-FFF2-40B4-BE49-F238E27FC236}">
                <a16:creationId xmlns:a16="http://schemas.microsoft.com/office/drawing/2014/main" id="{321A36F2-8209-5AA9-0D95-01C3D5856CA8}"/>
              </a:ext>
            </a:extLst>
          </p:cNvPr>
          <p:cNvSpPr>
            <a:spLocks xmlns:a="http://schemas.openxmlformats.org/drawingml/2006/main" noGrp="1"/>
          </p:cNvSpPr>
          <p:nvPr/>
        </p:nvSpPr>
        <p:spPr>
          <a:xfrm xmlns:a="http://schemas.openxmlformats.org/drawingml/2006/main">
            <a:off x="6432794" y="5068235"/>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Vertices plus</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labelled edges</a:t>
            </a:r>
            <a:endParaRPr sz="1400">
              <a:latin typeface="Helvetica Neue"/>
              <a:ea typeface="Helvetica Neue"/>
              <a:cs typeface="Helvetica Neue"/>
            </a:endParaRPr>
          </a:p>
        </p:txBody>
      </p:sp>
      <p:sp>
        <p:nvSpPr>
          <p:cNvPr id="41" name="Content Placeholder 9">
            <a:extLst xmlns:a="http://schemas.openxmlformats.org/drawingml/2006/main">
              <a:ext uri="{FF2B5EF4-FFF2-40B4-BE49-F238E27FC236}">
                <a16:creationId xmlns:a16="http://schemas.microsoft.com/office/drawing/2014/main" id="{D26AD9AD-13F4-E1DA-D400-C93C8877BBBD}"/>
              </a:ext>
            </a:extLst>
          </p:cNvPr>
          <p:cNvSpPr>
            <a:spLocks xmlns:a="http://schemas.openxmlformats.org/drawingml/2006/main" noGrp="1"/>
          </p:cNvSpPr>
          <p:nvPr/>
        </p:nvSpPr>
        <p:spPr>
          <a:xfrm xmlns:a="http://schemas.openxmlformats.org/drawingml/2006/main">
            <a:off x="9318381" y="4072340"/>
            <a:ext cx="2133315" cy="903750"/>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5000" u="none" cap="none" spc="0">
                <a:ln>
                  <a:noFill/>
                </a:ln>
                <a:latin typeface="Helvetica Neue"/>
                <a:ea typeface="Helvetica Neue"/>
                <a:cs typeface="Helvetica Neue"/>
              </a:rPr>
              <a:t>160</a:t>
            </a:r>
            <a:endParaRPr sz="5000">
              <a:latin typeface="Helvetica Neue"/>
              <a:ea typeface="Helvetica Neue"/>
              <a:cs typeface="Helvetica Neue"/>
            </a:endParaRPr>
          </a:p>
        </p:txBody>
      </p:sp>
      <p:sp>
        <p:nvSpPr>
          <p:cNvPr id="42" name="Content Placeholder 15">
            <a:extLst xmlns:a="http://schemas.openxmlformats.org/drawingml/2006/main">
              <a:ext uri="{FF2B5EF4-FFF2-40B4-BE49-F238E27FC236}">
                <a16:creationId xmlns:a16="http://schemas.microsoft.com/office/drawing/2014/main" id="{D80012E4-4A17-58AB-7C13-D2FE52FDDB3B}"/>
              </a:ext>
            </a:extLst>
          </p:cNvPr>
          <p:cNvSpPr>
            <a:spLocks xmlns:a="http://schemas.openxmlformats.org/drawingml/2006/main" noGrp="1"/>
          </p:cNvSpPr>
          <p:nvPr/>
        </p:nvSpPr>
        <p:spPr>
          <a:xfrm xmlns:a="http://schemas.openxmlformats.org/drawingml/2006/main">
            <a:off x="9384999" y="5068235"/>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Uniform linear</a:t>
            </a:r>
            <a:endParaRPr sz="14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coefficient</a:t>
            </a:r>
            <a:endParaRPr sz="1400">
              <a:latin typeface="Helvetica Neue"/>
              <a:ea typeface="Helvetica Neue"/>
              <a:cs typeface="Helvetica Neue"/>
            </a:endParaRPr>
          </a:p>
        </p:txBody>
      </p:sp>
      <p:sp>
        <p:nvSpPr>
          <p:cNvPr id="2" name="Rounded Rectangle 1">
            <a:extLst xmlns:a="http://schemas.openxmlformats.org/drawingml/2006/main">
              <a:ext uri="{FF2B5EF4-FFF2-40B4-BE49-F238E27FC236}">
                <a16:creationId xmlns:a16="http://schemas.microsoft.com/office/drawing/2014/main" id="{B9E294EF-928B-660C-B2B3-E78F4ECC5452}"/>
              </a:ext>
            </a:extLst>
          </p:cNvPr>
          <p:cNvSpPr>
            <a:spLocks xmlns:a="http://schemas.openxmlformats.org/drawingml/2006/main" noGrp="1"/>
          </p:cNvSpPr>
          <p:nvPr/>
        </p:nvSpPr>
        <p:spPr>
          <a:xfrm xmlns:a="http://schemas.openxmlformats.org/drawingml/2006/main">
            <a:off x="393700" y="1041400"/>
            <a:ext cx="5526315" cy="5435072"/>
          </a:xfrm>
          <a:prstGeom xmlns:a="http://schemas.openxmlformats.org/drawingml/2006/main" prst="roundRect">
            <a:avLst>
              <a:gd name="adj" fmla="val 0"/>
            </a:avLst>
          </a:prstGeom>
          <a:noFill xmlns:a="http://schemas.openxmlformats.org/drawingml/2006/main"/>
          <a:ln xmlns:a="http://schemas.openxmlformats.org/drawingml/2006/main" w="12700">
            <a:solidFill>
              <a:schemeClr val="tx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Content Placeholder 1">
            <a:extLst xmlns:a="http://schemas.openxmlformats.org/drawingml/2006/main">
              <a:ext uri="{FF2B5EF4-FFF2-40B4-BE49-F238E27FC236}">
                <a16:creationId xmlns:a16="http://schemas.microsoft.com/office/drawing/2014/main" id="{BE261F0F-2359-53ED-9F86-805EC1A3492D}"/>
              </a:ext>
            </a:extLst>
          </p:cNvPr>
          <p:cNvSpPr>
            <a:spLocks xmlns:a="http://schemas.openxmlformats.org/drawingml/2006/main" noGrp="1"/>
          </p:cNvSpPr>
          <p:nvPr/>
        </p:nvSpPr>
        <p:spPr>
          <a:xfrm xmlns:a="http://schemas.openxmlformats.org/drawingml/2006/main">
            <a:off x="6432794" y="1709230"/>
            <a:ext cx="5331640" cy="1614066"/>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latin typeface="Helvetica Neue"/>
                <a:ea typeface="Helvetica Neue"/>
                <a:cs typeface="Helvetica Neue"/>
              </a:rPr>
              <a:t>The same compiled BFS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Four input shapes illustrate the general budget and its simpler linear bound. These are theorem bounds, not benchmarks.</a:t>
            </a:r>
          </a:p>
        </p:txBody>
      </p:sp>
      <p:graphicFrame>
        <p:nvGraphicFramePr>
          <p:cNvPr id="53" name="Chart"/>
          <p:cNvGraphicFramePr/>
          <p:nvPr/>
        </p:nvGraphicFramePr>
        <p:xfrm>
          <a:off xmlns:a="http://schemas.openxmlformats.org/drawingml/2006/main" x="634460" y="1512951"/>
          <a:ext xmlns:a="http://schemas.openxmlformats.org/drawingml/2006/main" cx="5029771" cy="4546473"/>
        </p:xfrm>
        <a:graphic xmlns:a="http://schemas.openxmlformats.org/drawingml/2006/main">
          <a:graphicData uri="http://schemas.openxmlformats.org/drawingml/2006/chart">
            <c:chart xmlns:r="http://schemas.openxmlformats.org/officeDocument/2006/relationships" xmlns:c="http://schemas.openxmlformats.org/drawingml/2006/chart" r:id="R0a71455917714d2f"/>
          </a:graphicData>
        </a:graphic>
      </p:graphicFrame>
    </p:spTree>
    <p:extLst>
      <p:ext uri="{BB962C8B-B14F-4D97-AF65-F5344CB8AC3E}">
        <p14:creationId xmlns:p14="http://schemas.microsoft.com/office/powerpoint/2010/main" val="1126433058"/>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0538F830-7B9C-051B-DC12-9F0215005DD9}"/>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BB6D1D8A-CA3D-A434-0754-9F35315A7625}"/>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fld id="{8574A810-7A8E-054F-9F6B-09E9C694ECF9}" type="slidenum">
              <a:t>23</a:t>
            </a:fld>
            <a:endParaRPr/>
          </a:p>
        </p:txBody>
      </p:sp>
      <p:sp>
        <p:nvSpPr>
          <p:cNvPr id="8" name="Title 7">
            <a:extLst xmlns:a="http://schemas.openxmlformats.org/drawingml/2006/main">
              <a:ext uri="{FF2B5EF4-FFF2-40B4-BE49-F238E27FC236}">
                <a16:creationId xmlns:a16="http://schemas.microsoft.com/office/drawing/2014/main" id="{2C5976F4-A9B2-F2E7-4978-328D7E79FEDB}"/>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t>Public algorithm contracts</a:t>
            </a:r>
          </a:p>
        </p:txBody>
      </p:sp>
      <p:sp>
        <p:nvSpPr>
          <p:cNvPr id="5" name="Rounded Rectangle 4">
            <a:extLst xmlns:a="http://schemas.openxmlformats.org/drawingml/2006/main">
              <a:ext uri="{FF2B5EF4-FFF2-40B4-BE49-F238E27FC236}">
                <a16:creationId xmlns:a16="http://schemas.microsoft.com/office/drawing/2014/main" id="{7D69EA21-5FE9-B469-0E69-244150409D7E}"/>
              </a:ext>
            </a:extLst>
          </p:cNvPr>
          <p:cNvSpPr>
            <a:spLocks xmlns:a="http://schemas.openxmlformats.org/drawingml/2006/main" noGrp="1"/>
          </p:cNvSpPr>
          <p:nvPr/>
        </p:nvSpPr>
        <p:spPr>
          <a:xfrm xmlns:a="http://schemas.openxmlformats.org/drawingml/2006/main">
            <a:off x="393700" y="2032000"/>
            <a:ext cx="3568700" cy="3962400"/>
          </a:xfrm>
          <a:prstGeom xmlns:a="http://schemas.openxmlformats.org/drawingml/2006/main" prst="roundRect">
            <a:avLst>
              <a:gd name="adj" fmla="val 0"/>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Content Placeholder 8">
            <a:extLst xmlns:a="http://schemas.openxmlformats.org/drawingml/2006/main">
              <a:ext uri="{FF2B5EF4-FFF2-40B4-BE49-F238E27FC236}">
                <a16:creationId xmlns:a16="http://schemas.microsoft.com/office/drawing/2014/main" id="{5CF19569-DF26-117A-C6D2-24D6F235C247}"/>
              </a:ext>
            </a:extLst>
          </p:cNvPr>
          <p:cNvSpPr>
            <a:spLocks xmlns:a="http://schemas.openxmlformats.org/drawingml/2006/main" noGrp="1"/>
          </p:cNvSpPr>
          <p:nvPr/>
        </p:nvSpPr>
        <p:spPr>
          <a:xfrm xmlns:a="http://schemas.openxmlformats.org/drawingml/2006/main">
            <a:off x="643731" y="4784271"/>
            <a:ext cx="3068638" cy="21233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Time bound</a:t>
            </a:r>
            <a:endParaRPr sz="1400"/>
          </a:p>
        </p:txBody>
      </p:sp>
      <p:sp>
        <p:nvSpPr>
          <p:cNvPr id="16" name="Content Placeholder 8">
            <a:extLst xmlns:a="http://schemas.openxmlformats.org/drawingml/2006/main">
              <a:ext uri="{FF2B5EF4-FFF2-40B4-BE49-F238E27FC236}">
                <a16:creationId xmlns:a16="http://schemas.microsoft.com/office/drawing/2014/main" id="{E85BCA0B-F11A-3F91-BFDC-60A710EB42E7}"/>
              </a:ext>
            </a:extLst>
          </p:cNvPr>
          <p:cNvSpPr>
            <a:spLocks xmlns:a="http://schemas.openxmlformats.org/drawingml/2006/main" noGrp="1"/>
          </p:cNvSpPr>
          <p:nvPr/>
        </p:nvSpPr>
        <p:spPr>
          <a:xfrm xmlns:a="http://schemas.openxmlformats.org/drawingml/2006/main">
            <a:off x="643731" y="5282152"/>
            <a:ext cx="1705769" cy="481833"/>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latin typeface="Helvetica Neue"/>
                <a:ea typeface="Helvetica Neue"/>
                <a:cs typeface="Helvetica Neue"/>
              </a:rPr>
              <a:t>O(n²)</a:t>
            </a:r>
            <a:endParaRPr/>
          </a:p>
        </p:txBody>
      </p:sp>
      <p:sp>
        <p:nvSpPr>
          <p:cNvPr id="17" name="Content Placeholder 8">
            <a:extLst xmlns:a="http://schemas.openxmlformats.org/drawingml/2006/main">
              <a:ext uri="{FF2B5EF4-FFF2-40B4-BE49-F238E27FC236}">
                <a16:creationId xmlns:a16="http://schemas.microsoft.com/office/drawing/2014/main" id="{04A72865-CE67-0213-93F1-FBB87D272977}"/>
              </a:ext>
            </a:extLst>
          </p:cNvPr>
          <p:cNvSpPr>
            <a:spLocks xmlns:a="http://schemas.openxmlformats.org/drawingml/2006/main" noGrp="1"/>
          </p:cNvSpPr>
          <p:nvPr/>
        </p:nvSpPr>
        <p:spPr>
          <a:xfrm xmlns:a="http://schemas.openxmlformats.org/drawingml/2006/main">
            <a:off x="2349500" y="5424772"/>
            <a:ext cx="1362869" cy="21233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r">
              <a:lnSpc>
                <a:spcPct val="114000"/>
              </a:lnSpc>
              <a:spcBef>
                <a:spcPts val="0"/>
              </a:spcBef>
              <a:spcAft>
                <a:spcPts val="800"/>
              </a:spcAft>
              <a:buFont typeface="Arial"/>
              <a:buNone/>
            </a:pPr>
            <a:r>
              <a:rPr sz="1400">
                <a:latin typeface="Helvetica Neue"/>
                <a:ea typeface="Helvetica Neue"/>
                <a:cs typeface="Helvetica Neue"/>
              </a:rPr>
              <a:t>n ≥ 1</a:t>
            </a:r>
            <a:endParaRPr sz="1400"/>
          </a:p>
        </p:txBody>
      </p:sp>
      <p:sp>
        <p:nvSpPr>
          <p:cNvPr id="19" name="Straight Connector 18">
            <a:extLst xmlns:a="http://schemas.openxmlformats.org/drawingml/2006/main">
              <a:ext uri="{FF2B5EF4-FFF2-40B4-BE49-F238E27FC236}">
                <a16:creationId xmlns:a16="http://schemas.microsoft.com/office/drawing/2014/main" id="{B28F352F-2D02-464C-A9C3-7E5CE1C15555}"/>
              </a:ext>
            </a:extLst>
          </p:cNvPr>
          <p:cNvSpPr>
            <a:spLocks xmlns:a="http://schemas.openxmlformats.org/drawingml/2006/main" noGrp="1"/>
          </p:cNvSpPr>
          <p:nvPr/>
        </p:nvSpPr>
        <p:spPr>
          <a:xfrm xmlns:a="http://schemas.openxmlformats.org/drawingml/2006/main">
            <a:off x="660060" y="5071312"/>
            <a:ext cx="3069772" cy="0"/>
          </a:xfrm>
          <a:prstGeom xmlns:a="http://schemas.openxmlformats.org/drawingml/2006/main" prst="line">
            <a:avLst/>
          </a:prstGeom>
          <a:ln xmlns:a="http://schemas.openxmlformats.org/drawingml/2006/main" w="9525">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 name="Rounded Rectangle 1">
            <a:extLst xmlns:a="http://schemas.openxmlformats.org/drawingml/2006/main">
              <a:ext uri="{FF2B5EF4-FFF2-40B4-BE49-F238E27FC236}">
                <a16:creationId xmlns:a16="http://schemas.microsoft.com/office/drawing/2014/main" id="{8DF5D157-47FC-7EDC-1523-10F26CA23894}"/>
              </a:ext>
            </a:extLst>
          </p:cNvPr>
          <p:cNvSpPr>
            <a:spLocks xmlns:a="http://schemas.openxmlformats.org/drawingml/2006/main" noGrp="1"/>
          </p:cNvSpPr>
          <p:nvPr/>
        </p:nvSpPr>
        <p:spPr>
          <a:xfrm xmlns:a="http://schemas.openxmlformats.org/drawingml/2006/main">
            <a:off x="4305300" y="2032000"/>
            <a:ext cx="3568700" cy="3962400"/>
          </a:xfrm>
          <a:prstGeom xmlns:a="http://schemas.openxmlformats.org/drawingml/2006/main" prst="roundRect">
            <a:avLst>
              <a:gd name="adj" fmla="val 0"/>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Content Placeholder 8">
            <a:extLst xmlns:a="http://schemas.openxmlformats.org/drawingml/2006/main">
              <a:ext uri="{FF2B5EF4-FFF2-40B4-BE49-F238E27FC236}">
                <a16:creationId xmlns:a16="http://schemas.microsoft.com/office/drawing/2014/main" id="{6989FC58-6651-988F-2173-E553A2622332}"/>
              </a:ext>
            </a:extLst>
          </p:cNvPr>
          <p:cNvSpPr>
            <a:spLocks xmlns:a="http://schemas.openxmlformats.org/drawingml/2006/main" noGrp="1"/>
          </p:cNvSpPr>
          <p:nvPr/>
        </p:nvSpPr>
        <p:spPr>
          <a:xfrm xmlns:a="http://schemas.openxmlformats.org/drawingml/2006/main">
            <a:off x="4555331" y="2316048"/>
            <a:ext cx="3068638" cy="2040052"/>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100">
                <a:latin typeface="Helvetica Neue Medium"/>
                <a:ea typeface="Helvetica Neue Medium"/>
                <a:cs typeface="Helvetica Neue Medium"/>
              </a:rPr>
              <a:t>BFS reachability</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Input: encoded graph and source</a:t>
            </a:r>
            <a:endParaRPr sz="1600"/>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Output: visited bitmap and steps</a:t>
            </a:r>
            <a:endParaRPr sz="1600"/>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Guarantee: exactly reachable</a:t>
            </a:r>
            <a:endParaRPr sz="1600"/>
          </a:p>
        </p:txBody>
      </p:sp>
      <p:sp>
        <p:nvSpPr>
          <p:cNvPr id="7" name="Content Placeholder 8">
            <a:extLst xmlns:a="http://schemas.openxmlformats.org/drawingml/2006/main">
              <a:ext uri="{FF2B5EF4-FFF2-40B4-BE49-F238E27FC236}">
                <a16:creationId xmlns:a16="http://schemas.microsoft.com/office/drawing/2014/main" id="{3E66672F-F530-8131-AE17-7D8B0C4598C8}"/>
              </a:ext>
            </a:extLst>
          </p:cNvPr>
          <p:cNvSpPr>
            <a:spLocks xmlns:a="http://schemas.openxmlformats.org/drawingml/2006/main" noGrp="1"/>
          </p:cNvSpPr>
          <p:nvPr/>
        </p:nvSpPr>
        <p:spPr>
          <a:xfrm xmlns:a="http://schemas.openxmlformats.org/drawingml/2006/main">
            <a:off x="4555331" y="4784271"/>
            <a:ext cx="3068638" cy="21233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Time bound</a:t>
            </a:r>
            <a:endParaRPr sz="1400"/>
          </a:p>
        </p:txBody>
      </p:sp>
      <p:sp>
        <p:nvSpPr>
          <p:cNvPr id="10" name="Content Placeholder 8">
            <a:extLst xmlns:a="http://schemas.openxmlformats.org/drawingml/2006/main">
              <a:ext uri="{FF2B5EF4-FFF2-40B4-BE49-F238E27FC236}">
                <a16:creationId xmlns:a16="http://schemas.microsoft.com/office/drawing/2014/main" id="{E695EE02-BC3C-19F6-65E7-0966804A6EE9}"/>
              </a:ext>
            </a:extLst>
          </p:cNvPr>
          <p:cNvSpPr>
            <a:spLocks xmlns:a="http://schemas.openxmlformats.org/drawingml/2006/main" noGrp="1"/>
          </p:cNvSpPr>
          <p:nvPr/>
        </p:nvSpPr>
        <p:spPr>
          <a:xfrm xmlns:a="http://schemas.openxmlformats.org/drawingml/2006/main">
            <a:off x="4555331" y="5282152"/>
            <a:ext cx="1705769" cy="481833"/>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latin typeface="Helvetica Neue"/>
                <a:ea typeface="Helvetica Neue"/>
                <a:cs typeface="Helvetica Neue"/>
              </a:rPr>
              <a:t>O(n+m)</a:t>
            </a:r>
            <a:endParaRPr/>
          </a:p>
        </p:txBody>
      </p:sp>
      <p:sp>
        <p:nvSpPr>
          <p:cNvPr id="11" name="Content Placeholder 8">
            <a:extLst xmlns:a="http://schemas.openxmlformats.org/drawingml/2006/main">
              <a:ext uri="{FF2B5EF4-FFF2-40B4-BE49-F238E27FC236}">
                <a16:creationId xmlns:a16="http://schemas.microsoft.com/office/drawing/2014/main" id="{932C659A-53B8-CC59-46D1-4E699E1956E1}"/>
              </a:ext>
            </a:extLst>
          </p:cNvPr>
          <p:cNvSpPr>
            <a:spLocks xmlns:a="http://schemas.openxmlformats.org/drawingml/2006/main" noGrp="1"/>
          </p:cNvSpPr>
          <p:nvPr/>
        </p:nvSpPr>
        <p:spPr>
          <a:xfrm xmlns:a="http://schemas.openxmlformats.org/drawingml/2006/main">
            <a:off x="6261100" y="5424772"/>
            <a:ext cx="1362869" cy="21233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r">
              <a:lnSpc>
                <a:spcPct val="114000"/>
              </a:lnSpc>
              <a:spcBef>
                <a:spcPts val="0"/>
              </a:spcBef>
              <a:spcAft>
                <a:spcPts val="800"/>
              </a:spcAft>
              <a:buFont typeface="Arial"/>
              <a:buNone/>
            </a:pPr>
            <a:r>
              <a:rPr sz="1400">
                <a:latin typeface="Helvetica Neue"/>
                <a:ea typeface="Helvetica Neue"/>
                <a:cs typeface="Helvetica Neue"/>
              </a:rPr>
              <a:t>valid source</a:t>
            </a:r>
            <a:endParaRPr sz="1400"/>
          </a:p>
        </p:txBody>
      </p:sp>
      <p:sp>
        <p:nvSpPr>
          <p:cNvPr id="12" name="Straight Connector 11">
            <a:extLst xmlns:a="http://schemas.openxmlformats.org/drawingml/2006/main">
              <a:ext uri="{FF2B5EF4-FFF2-40B4-BE49-F238E27FC236}">
                <a16:creationId xmlns:a16="http://schemas.microsoft.com/office/drawing/2014/main" id="{A233B533-8261-4FDB-A0C2-CF3149009314}"/>
              </a:ext>
            </a:extLst>
          </p:cNvPr>
          <p:cNvSpPr>
            <a:spLocks xmlns:a="http://schemas.openxmlformats.org/drawingml/2006/main" noGrp="1"/>
          </p:cNvSpPr>
          <p:nvPr/>
        </p:nvSpPr>
        <p:spPr>
          <a:xfrm xmlns:a="http://schemas.openxmlformats.org/drawingml/2006/main">
            <a:off x="4571660" y="5071312"/>
            <a:ext cx="3069772" cy="0"/>
          </a:xfrm>
          <a:prstGeom xmlns:a="http://schemas.openxmlformats.org/drawingml/2006/main" prst="line">
            <a:avLst/>
          </a:prstGeom>
          <a:ln xmlns:a="http://schemas.openxmlformats.org/drawingml/2006/main" w="9525">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Rounded Rectangle 12">
            <a:extLst xmlns:a="http://schemas.openxmlformats.org/drawingml/2006/main">
              <a:ext uri="{FF2B5EF4-FFF2-40B4-BE49-F238E27FC236}">
                <a16:creationId xmlns:a16="http://schemas.microsoft.com/office/drawing/2014/main" id="{8430AB07-EA64-D93C-CF24-3EDCC4BEB57A}"/>
              </a:ext>
            </a:extLst>
          </p:cNvPr>
          <p:cNvSpPr>
            <a:spLocks xmlns:a="http://schemas.openxmlformats.org/drawingml/2006/main" noGrp="1"/>
          </p:cNvSpPr>
          <p:nvPr/>
        </p:nvSpPr>
        <p:spPr>
          <a:xfrm xmlns:a="http://schemas.openxmlformats.org/drawingml/2006/main">
            <a:off x="8216900" y="2032000"/>
            <a:ext cx="3568700" cy="3962400"/>
          </a:xfrm>
          <a:prstGeom xmlns:a="http://schemas.openxmlformats.org/drawingml/2006/main" prst="roundRect">
            <a:avLst>
              <a:gd name="adj" fmla="val 0"/>
            </a:avLst>
          </a:prstGeom>
          <a:solidFill xmlns:a="http://schemas.openxmlformats.org/drawingml/2006/main">
            <a:schemeClr val="bg1">
              <a:lumMod val="85000"/>
              <a:lumOff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Content Placeholder 8">
            <a:extLst xmlns:a="http://schemas.openxmlformats.org/drawingml/2006/main">
              <a:ext uri="{FF2B5EF4-FFF2-40B4-BE49-F238E27FC236}">
                <a16:creationId xmlns:a16="http://schemas.microsoft.com/office/drawing/2014/main" id="{6D411AC2-1983-F431-63FB-933A18032744}"/>
              </a:ext>
            </a:extLst>
          </p:cNvPr>
          <p:cNvSpPr>
            <a:spLocks xmlns:a="http://schemas.openxmlformats.org/drawingml/2006/main" noGrp="1"/>
          </p:cNvSpPr>
          <p:nvPr/>
        </p:nvSpPr>
        <p:spPr>
          <a:xfrm xmlns:a="http://schemas.openxmlformats.org/drawingml/2006/main">
            <a:off x="8466931" y="2316048"/>
            <a:ext cx="3068638" cy="2040052"/>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100">
                <a:latin typeface="Helvetica Neue Medium"/>
                <a:ea typeface="Helvetica Neue Medium"/>
                <a:cs typeface="Helvetica Neue Medium"/>
              </a:rPr>
              <a:t>Connectivity</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Input: the same BFS result</a:t>
            </a:r>
            <a:endParaRPr sz="1600"/>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Check: every vertex is marked</a:t>
            </a:r>
            <a:endParaRPr sz="1600"/>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Guarantee: iff graph connected</a:t>
            </a:r>
            <a:endParaRPr sz="1600"/>
          </a:p>
        </p:txBody>
      </p:sp>
      <p:sp>
        <p:nvSpPr>
          <p:cNvPr id="18" name="Content Placeholder 8">
            <a:extLst xmlns:a="http://schemas.openxmlformats.org/drawingml/2006/main">
              <a:ext uri="{FF2B5EF4-FFF2-40B4-BE49-F238E27FC236}">
                <a16:creationId xmlns:a16="http://schemas.microsoft.com/office/drawing/2014/main" id="{C334A3E4-1071-DA4F-DDF0-F8AB2F67CD18}"/>
              </a:ext>
            </a:extLst>
          </p:cNvPr>
          <p:cNvSpPr>
            <a:spLocks xmlns:a="http://schemas.openxmlformats.org/drawingml/2006/main" noGrp="1"/>
          </p:cNvSpPr>
          <p:nvPr/>
        </p:nvSpPr>
        <p:spPr>
          <a:xfrm xmlns:a="http://schemas.openxmlformats.org/drawingml/2006/main">
            <a:off x="8466931" y="4784271"/>
            <a:ext cx="3068638" cy="21233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400">
                <a:latin typeface="Helvetica Neue"/>
                <a:ea typeface="Helvetica Neue"/>
                <a:cs typeface="Helvetica Neue"/>
              </a:rPr>
              <a:t>Derived theorem</a:t>
            </a:r>
            <a:endParaRPr sz="1400"/>
          </a:p>
        </p:txBody>
      </p:sp>
      <p:sp>
        <p:nvSpPr>
          <p:cNvPr id="20" name="Content Placeholder 8">
            <a:extLst xmlns:a="http://schemas.openxmlformats.org/drawingml/2006/main">
              <a:ext uri="{FF2B5EF4-FFF2-40B4-BE49-F238E27FC236}">
                <a16:creationId xmlns:a16="http://schemas.microsoft.com/office/drawing/2014/main" id="{AAC48D9A-ED1F-3DF8-29B1-38FC259FEB4D}"/>
              </a:ext>
            </a:extLst>
          </p:cNvPr>
          <p:cNvSpPr>
            <a:spLocks xmlns:a="http://schemas.openxmlformats.org/drawingml/2006/main" noGrp="1"/>
          </p:cNvSpPr>
          <p:nvPr/>
        </p:nvSpPr>
        <p:spPr>
          <a:xfrm xmlns:a="http://schemas.openxmlformats.org/drawingml/2006/main">
            <a:off x="8466931" y="5282152"/>
            <a:ext cx="1705769" cy="481833"/>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latin typeface="Helvetica Neue"/>
                <a:ea typeface="Helvetica Neue"/>
                <a:cs typeface="Helvetica Neue"/>
              </a:rPr>
              <a:t>↔</a:t>
            </a:r>
            <a:endParaRPr/>
          </a:p>
        </p:txBody>
      </p:sp>
      <p:sp>
        <p:nvSpPr>
          <p:cNvPr id="21" name="Content Placeholder 8">
            <a:extLst xmlns:a="http://schemas.openxmlformats.org/drawingml/2006/main">
              <a:ext uri="{FF2B5EF4-FFF2-40B4-BE49-F238E27FC236}">
                <a16:creationId xmlns:a16="http://schemas.microsoft.com/office/drawing/2014/main" id="{8D7AA20E-1806-08EF-DC79-F624261548F4}"/>
              </a:ext>
            </a:extLst>
          </p:cNvPr>
          <p:cNvSpPr>
            <a:spLocks xmlns:a="http://schemas.openxmlformats.org/drawingml/2006/main" noGrp="1"/>
          </p:cNvSpPr>
          <p:nvPr/>
        </p:nvSpPr>
        <p:spPr>
          <a:xfrm xmlns:a="http://schemas.openxmlformats.org/drawingml/2006/main">
            <a:off x="10172700" y="5424772"/>
            <a:ext cx="1362869" cy="21233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r">
              <a:lnSpc>
                <a:spcPct val="114000"/>
              </a:lnSpc>
              <a:spcBef>
                <a:spcPts val="0"/>
              </a:spcBef>
              <a:spcAft>
                <a:spcPts val="800"/>
              </a:spcAft>
              <a:buFont typeface="Arial"/>
              <a:buNone/>
            </a:pPr>
            <a:r>
              <a:rPr sz="1400">
                <a:latin typeface="Helvetica Neue"/>
                <a:ea typeface="Helvetica Neue"/>
                <a:cs typeface="Helvetica Neue"/>
              </a:rPr>
              <a:t>connected</a:t>
            </a:r>
            <a:endParaRPr sz="1400"/>
          </a:p>
        </p:txBody>
      </p:sp>
      <p:sp>
        <p:nvSpPr>
          <p:cNvPr id="22" name="Straight Connector 21">
            <a:extLst xmlns:a="http://schemas.openxmlformats.org/drawingml/2006/main">
              <a:ext uri="{FF2B5EF4-FFF2-40B4-BE49-F238E27FC236}">
                <a16:creationId xmlns:a16="http://schemas.microsoft.com/office/drawing/2014/main" id="{B7A04A1A-753E-4B37-BB0C-4D9BAF8E77C0}"/>
              </a:ext>
            </a:extLst>
          </p:cNvPr>
          <p:cNvSpPr>
            <a:spLocks xmlns:a="http://schemas.openxmlformats.org/drawingml/2006/main" noGrp="1"/>
          </p:cNvSpPr>
          <p:nvPr/>
        </p:nvSpPr>
        <p:spPr>
          <a:xfrm xmlns:a="http://schemas.openxmlformats.org/drawingml/2006/main">
            <a:off x="8483260" y="5071312"/>
            <a:ext cx="3069772" cy="0"/>
          </a:xfrm>
          <a:prstGeom xmlns:a="http://schemas.openxmlformats.org/drawingml/2006/main" prst="line">
            <a:avLst/>
          </a:prstGeom>
          <a:ln xmlns:a="http://schemas.openxmlformats.org/drawingml/2006/main" w="9525">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9" name="Content Placeholder 8">
            <a:extLst xmlns:a="http://schemas.openxmlformats.org/drawingml/2006/main">
              <a:ext uri="{FF2B5EF4-FFF2-40B4-BE49-F238E27FC236}">
                <a16:creationId xmlns:a16="http://schemas.microsoft.com/office/drawing/2014/main" id="{141939D6-9D6D-42BA-25A5-C8039DC2C624}"/>
              </a:ext>
            </a:extLst>
          </p:cNvPr>
          <p:cNvSpPr>
            <a:spLocks xmlns:a="http://schemas.openxmlformats.org/drawingml/2006/main" noGrp="1"/>
          </p:cNvSpPr>
          <p:nvPr>
            <p:ph idx="4294967295"/>
          </p:nvPr>
        </p:nvSpPr>
        <p:spPr>
          <a:xfrm xmlns:a="http://schemas.openxmlformats.org/drawingml/2006/main">
            <a:off x="642144" y="2316163"/>
            <a:ext cx="3070225" cy="2039937"/>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pPr>
            <a:r>
              <a:rPr sz="2100" u="none" cap="none" spc="0">
                <a:ln>
                  <a:noFill/>
                </a:ln>
                <a:latin typeface="Helvetica Neue Medium"/>
                <a:ea typeface="Helvetica Neue Medium"/>
                <a:cs typeface="Helvetica Neue Medium"/>
              </a:rPr>
              <a:t>Insertion sort</a:t>
            </a:r>
          </a:p>
          <a:p xmlns:a="http://schemas.openxmlformats.org/drawingml/2006/main">
            <a:pPr marL="0" marR="0" lvl="0" indent="0" algn="l" defTabSz="914400">
              <a:lnSpc>
                <a:spcPct val="114000"/>
              </a:lnSpc>
              <a:spcBef>
                <a:spcPts val="0"/>
              </a:spcBef>
              <a:spcAft>
                <a:spcPts val="800"/>
              </a:spcAft>
              <a:buClrTx/>
              <a:buSzTx/>
              <a:buFont typeface="Arial"/>
              <a:buNone/>
            </a:pPr>
            <a:r>
              <a:rPr sz="1600" b="0" i="0" u="none" cap="none" spc="0">
                <a:ln>
                  <a:noFill/>
                </a:ln>
                <a:latin typeface="Helvetica Neue"/>
                <a:ea typeface="Helvetica Neue"/>
                <a:cs typeface="Helvetica Neue"/>
              </a:rPr>
              <a:t>Input: list of words</a:t>
            </a:r>
            <a:endParaRPr sz="1600"/>
          </a:p>
          <a:p xmlns:a="http://schemas.openxmlformats.org/drawingml/2006/main">
            <a:pPr marL="0" marR="0" lvl="0" indent="0" algn="l" defTabSz="914400">
              <a:lnSpc>
                <a:spcPct val="114000"/>
              </a:lnSpc>
              <a:spcBef>
                <a:spcPts val="0"/>
              </a:spcBef>
              <a:spcAft>
                <a:spcPts val="800"/>
              </a:spcAft>
              <a:buClrTx/>
              <a:buSzTx/>
              <a:buFont typeface="Arial"/>
              <a:buNone/>
            </a:pPr>
            <a:r>
              <a:rPr sz="1600" b="0" i="0" u="none" cap="none" spc="0">
                <a:ln>
                  <a:noFill/>
                </a:ln>
                <a:latin typeface="Helvetica Neue"/>
                <a:ea typeface="Helvetica Neue"/>
                <a:cs typeface="Helvetica Neue"/>
              </a:rPr>
              <a:t>Output: sorted values and steps</a:t>
            </a:r>
            <a:endParaRPr sz="1600"/>
          </a:p>
          <a:p xmlns:a="http://schemas.openxmlformats.org/drawingml/2006/main">
            <a:pPr marL="0" marR="0" lvl="0" indent="0" algn="l" defTabSz="914400">
              <a:lnSpc>
                <a:spcPct val="114000"/>
              </a:lnSpc>
              <a:spcBef>
                <a:spcPts val="0"/>
              </a:spcBef>
              <a:spcAft>
                <a:spcPts val="800"/>
              </a:spcAft>
              <a:buClrTx/>
              <a:buSzTx/>
              <a:buFont typeface="Arial"/>
              <a:buNone/>
            </a:pPr>
            <a:r>
              <a:rPr sz="1600" b="0" i="0" u="none" cap="none" spc="0">
                <a:ln>
                  <a:noFill/>
                </a:ln>
                <a:latin typeface="Helvetica Neue"/>
                <a:ea typeface="Helvetica Neue"/>
                <a:cs typeface="Helvetica Neue"/>
              </a:rPr>
              <a:t>Guarantee: sorted permutation</a:t>
            </a:r>
            <a:endParaRPr sz="1600"/>
          </a:p>
        </p:txBody>
      </p:sp>
    </p:spTree>
    <p:extLst>
      <p:ext uri="{BB962C8B-B14F-4D97-AF65-F5344CB8AC3E}">
        <p14:creationId xmlns:p14="http://schemas.microsoft.com/office/powerpoint/2010/main" val="3475360469"/>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1" name="Footer Placeholder 10">
            <a:extLst xmlns:a="http://schemas.openxmlformats.org/drawingml/2006/main">
              <a:ext uri="{FF2B5EF4-FFF2-40B4-BE49-F238E27FC236}">
                <a16:creationId xmlns:a16="http://schemas.microsoft.com/office/drawing/2014/main" id="{F06ADB7A-E0CB-A418-3590-620B0C5F17E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9EE8A1CA-4617-FF10-E8D0-B582B7F48A83}"/>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24</a:t>
            </a:fld>
            <a:endParaRPr/>
          </a:p>
        </p:txBody>
      </p:sp>
      <p:sp>
        <p:nvSpPr>
          <p:cNvPr id="533" name="Google Shape;533;p58">
            <a:extLst xmlns:a="http://schemas.openxmlformats.org/drawingml/2006/main">
              <a:ext uri="{FF2B5EF4-FFF2-40B4-BE49-F238E27FC236}">
                <a16:creationId xmlns:a16="http://schemas.microsoft.com/office/drawing/2014/main" id="{68499D35-F61B-DF1C-10A6-EA04E8D00662}"/>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Component dependencies</a:t>
            </a:r>
          </a:p>
        </p:txBody>
      </p:sp>
      <p:graphicFrame>
        <p:nvGraphicFramePr>
          <p:cNvPr id="538" name="Google Shape;953;p80"/>
          <p:cNvGraphicFramePr/>
          <p:nvPr/>
        </p:nvGraphicFramePr>
        <p:xfrm>
          <a:off xmlns:a="http://schemas.openxmlformats.org/drawingml/2006/main" x="393699" y="1379875"/>
          <a:ext xmlns:a="http://schemas.openxmlformats.org/drawingml/2006/main" cx="11404600" cy="4614525"/>
        </p:xfrm>
        <a:graphic xmlns:a="http://schemas.openxmlformats.org/drawingml/2006/main">
          <a:graphicData uri="http://schemas.openxmlformats.org/drawingml/2006/table">
            <a:tbl>
              <a:tblPr/>
              <a:tblGrid>
                <a:gridCol w="2280920"/>
                <a:gridCol w="2280920"/>
                <a:gridCol w="2280920"/>
                <a:gridCol w="2280920"/>
                <a:gridCol w="2280920"/>
              </a:tblGrid>
              <a:tr h="4614525">
                <a:tc>
                  <a:txBody>
                    <a:bodyPr/>
                    <a:lstStyle/>
                    <a:p>
                      <a:pPr marL="0" lvl="0" indent="0" algn="l">
                        <a:spcBef>
                          <a:spcPts val="0"/>
                        </a:spcBef>
                        <a:spcAft>
                          <a:spcPts val="0"/>
                        </a:spcAft>
                        <a:buNone/>
                      </a:pPr>
                      <a:r>
                        <a:rPr sz="1600">
                          <a:solidFill>
                            <a:schemeClr val="tx1"/>
                          </a:solidFill>
                        </a:rPr>
                        <a:t>Specification</a:t>
                      </a:r>
                      <a:endParaRPr sz="1600">
                        <a:solidFill>
                          <a:schemeClr val="tx1"/>
                        </a:solidFill>
                      </a:endParaRPr>
                    </a:p>
                  </a:txBody>
                  <a:tcPr marL="137150" marR="91425" marT="0" marB="91425">
                    <a:lnL w="12700" cmpd="sng">
                      <a:solidFill>
                        <a:schemeClr val="tx1"/>
                      </a:solidFill>
                      <a:prstDash val="solid"/>
                    </a:lnL>
                    <a:lnR w="12700" cmpd="sng">
                      <a:solidFill>
                        <a:schemeClr val="tx1"/>
                      </a:solidFill>
                      <a:prstDash val="solid"/>
                    </a:lnR>
                    <a:lnT w="9525" cmpd="sng">
                      <a:solidFill>
                        <a:srgbClr val="9E9E9E">
                          <a:alpha val="0"/>
                        </a:srgbClr>
                      </a:solidFill>
                      <a:prstDash val="solid"/>
                    </a:lnT>
                    <a:lnB w="9525" cmpd="sng">
                      <a:solidFill>
                        <a:srgbClr val="9E9E9E">
                          <a:alpha val="0"/>
                        </a:srgbClr>
                      </a:solidFill>
                      <a:prstDash val="solid"/>
                    </a:lnB>
                  </a:tcPr>
                </a:tc>
                <a:tc>
                  <a:txBody>
                    <a:bodyPr/>
                    <a:lstStyle/>
                    <a:p>
                      <a:pPr marL="0" lvl="0" indent="0" algn="l">
                        <a:spcBef>
                          <a:spcPts val="0"/>
                        </a:spcBef>
                        <a:spcAft>
                          <a:spcPts val="0"/>
                        </a:spcAft>
                        <a:buNone/>
                      </a:pPr>
                      <a:r>
                        <a:rPr sz="1600">
                          <a:solidFill>
                            <a:schemeClr val="tx1"/>
                          </a:solidFill>
                        </a:rPr>
                        <a:t>Library</a:t>
                      </a:r>
                      <a:endParaRPr sz="1600">
                        <a:solidFill>
                          <a:schemeClr val="tx1"/>
                        </a:solidFill>
                      </a:endParaRPr>
                    </a:p>
                  </a:txBody>
                  <a:tcPr marL="137150" marR="91425" marT="0" marB="91425">
                    <a:lnL w="12700" cmpd="sng">
                      <a:solidFill>
                        <a:schemeClr val="tx1"/>
                      </a:solidFill>
                      <a:prstDash val="solid"/>
                    </a:lnL>
                    <a:lnR w="12700" cmpd="sng">
                      <a:solidFill>
                        <a:schemeClr val="tx1"/>
                      </a:solidFill>
                      <a:prstDash val="solid"/>
                    </a:lnR>
                    <a:lnT w="9525" cmpd="sng">
                      <a:solidFill>
                        <a:srgbClr val="9E9E9E">
                          <a:alpha val="0"/>
                        </a:srgbClr>
                      </a:solidFill>
                      <a:prstDash val="solid"/>
                    </a:lnT>
                    <a:lnB w="9525" cmpd="sng">
                      <a:solidFill>
                        <a:srgbClr val="9E9E9E">
                          <a:alpha val="0"/>
                        </a:srgbClr>
                      </a:solidFill>
                      <a:prstDash val="solid"/>
                    </a:lnB>
                  </a:tcPr>
                </a:tc>
                <a:tc>
                  <a:txBody>
                    <a:bodyPr/>
                    <a:lstStyle/>
                    <a:p>
                      <a:pPr marL="0" lvl="0" indent="0" algn="l">
                        <a:spcBef>
                          <a:spcPts val="0"/>
                        </a:spcBef>
                        <a:spcAft>
                          <a:spcPts val="0"/>
                        </a:spcAft>
                        <a:buNone/>
                      </a:pPr>
                      <a:r>
                        <a:rPr sz="1600">
                          <a:solidFill>
                            <a:schemeClr val="tx1"/>
                          </a:solidFill>
                        </a:rPr>
                        <a:t>Source + VCs</a:t>
                      </a:r>
                      <a:endParaRPr sz="1600">
                        <a:solidFill>
                          <a:schemeClr val="tx1"/>
                        </a:solidFill>
                      </a:endParaRPr>
                    </a:p>
                  </a:txBody>
                  <a:tcPr marL="137150" marR="91425" marT="0" marB="91425">
                    <a:lnL w="12700" cmpd="sng">
                      <a:solidFill>
                        <a:schemeClr val="tx1"/>
                      </a:solidFill>
                      <a:prstDash val="solid"/>
                    </a:lnL>
                    <a:lnR w="12700" cmpd="sng">
                      <a:solidFill>
                        <a:schemeClr val="tx1"/>
                      </a:solidFill>
                      <a:prstDash val="solid"/>
                    </a:lnR>
                    <a:lnT w="9525" cmpd="sng">
                      <a:solidFill>
                        <a:srgbClr val="9E9E9E">
                          <a:alpha val="0"/>
                        </a:srgbClr>
                      </a:solidFill>
                      <a:prstDash val="solid"/>
                    </a:lnT>
                    <a:lnB w="9525" cmpd="sng">
                      <a:solidFill>
                        <a:srgbClr val="9E9E9E">
                          <a:alpha val="0"/>
                        </a:srgbClr>
                      </a:solidFill>
                      <a:prstDash val="solid"/>
                    </a:lnB>
                  </a:tcPr>
                </a:tc>
                <a:tc>
                  <a:txBody>
                    <a:bodyPr/>
                    <a:lstStyle/>
                    <a:p>
                      <a:pPr marL="0" lvl="0" indent="0" algn="l">
                        <a:spcBef>
                          <a:spcPts val="0"/>
                        </a:spcBef>
                        <a:spcAft>
                          <a:spcPts val="0"/>
                        </a:spcAft>
                        <a:buNone/>
                      </a:pPr>
                      <a:r>
                        <a:rPr sz="1600">
                          <a:solidFill>
                            <a:schemeClr val="tx1"/>
                          </a:solidFill>
                        </a:rPr>
                        <a:t>Compilation</a:t>
                      </a:r>
                      <a:endParaRPr sz="1600">
                        <a:solidFill>
                          <a:schemeClr val="tx1"/>
                        </a:solidFill>
                      </a:endParaRPr>
                    </a:p>
                  </a:txBody>
                  <a:tcPr marL="137150" marR="91425" marT="0" marB="91425">
                    <a:lnL w="12700" cmpd="sng">
                      <a:solidFill>
                        <a:schemeClr val="tx1"/>
                      </a:solidFill>
                      <a:prstDash val="solid"/>
                    </a:lnL>
                    <a:lnR w="12700" cmpd="sng">
                      <a:solidFill>
                        <a:schemeClr val="tx1"/>
                      </a:solidFill>
                      <a:prstDash val="solid"/>
                    </a:lnR>
                    <a:lnT w="9525" cmpd="sng">
                      <a:solidFill>
                        <a:srgbClr val="9E9E9E">
                          <a:alpha val="0"/>
                        </a:srgbClr>
                      </a:solidFill>
                      <a:prstDash val="solid"/>
                    </a:lnT>
                    <a:lnB w="9525" cmpd="sng">
                      <a:solidFill>
                        <a:srgbClr val="9E9E9E">
                          <a:alpha val="0"/>
                        </a:srgbClr>
                      </a:solidFill>
                      <a:prstDash val="solid"/>
                    </a:lnB>
                  </a:tcPr>
                </a:tc>
                <a:tc>
                  <a:txBody>
                    <a:bodyPr/>
                    <a:lstStyle/>
                    <a:p>
                      <a:pPr marL="0" lvl="0" indent="0" algn="l">
                        <a:spcBef>
                          <a:spcPts val="0"/>
                        </a:spcBef>
                        <a:spcAft>
                          <a:spcPts val="0"/>
                        </a:spcAft>
                        <a:buNone/>
                      </a:pPr>
                      <a:r>
                        <a:rPr sz="1600">
                          <a:solidFill>
                            <a:schemeClr val="tx1"/>
                          </a:solidFill>
                        </a:rPr>
                        <a:t>Execution</a:t>
                      </a:r>
                      <a:endParaRPr sz="1600">
                        <a:solidFill>
                          <a:schemeClr val="tx1"/>
                        </a:solidFill>
                      </a:endParaRPr>
                    </a:p>
                  </a:txBody>
                  <a:tcPr marL="137150" marR="91425" marT="0" marB="91425">
                    <a:lnL w="12700" cmpd="sng">
                      <a:solidFill>
                        <a:schemeClr val="tx1"/>
                      </a:solidFill>
                      <a:prstDash val="solid"/>
                    </a:lnL>
                    <a:lnR w="12700" cmpd="sng">
                      <a:solidFill>
                        <a:schemeClr val="tx1"/>
                      </a:solidFill>
                      <a:prstDash val="solid"/>
                    </a:lnR>
                    <a:lnT w="9525" cmpd="sng">
                      <a:solidFill>
                        <a:srgbClr val="9E9E9E">
                          <a:alpha val="0"/>
                        </a:srgbClr>
                      </a:solidFill>
                      <a:prstDash val="solid"/>
                    </a:lnT>
                    <a:lnB w="9525" cmpd="sng">
                      <a:solidFill>
                        <a:srgbClr val="9E9E9E">
                          <a:alpha val="0"/>
                        </a:srgbClr>
                      </a:solidFill>
                      <a:prstDash val="solid"/>
                    </a:lnB>
                  </a:tcPr>
                </a:tc>
              </a:tr>
            </a:tbl>
          </a:graphicData>
        </a:graphic>
      </p:graphicFrame>
      <p:sp>
        <p:nvSpPr>
          <p:cNvPr id="5" name="Google Shape;955;p80">
            <a:extLst xmlns:a="http://schemas.openxmlformats.org/drawingml/2006/main">
              <a:ext uri="{FF2B5EF4-FFF2-40B4-BE49-F238E27FC236}">
                <a16:creationId xmlns:a16="http://schemas.microsoft.com/office/drawing/2014/main" id="{EA32D89C-6778-2FE2-6D40-ABA6EAAD7EC1}"/>
              </a:ext>
            </a:extLst>
          </p:cNvPr>
          <p:cNvSpPr>
            <a:spLocks xmlns:a="http://schemas.openxmlformats.org/drawingml/2006/main" noGrp="1"/>
          </p:cNvSpPr>
          <p:nvPr/>
        </p:nvSpPr>
        <p:spPr>
          <a:xfrm xmlns:a="http://schemas.openxmlformats.org/drawingml/2006/main">
            <a:off x="4721718" y="4107740"/>
            <a:ext cx="4562665" cy="513300"/>
          </a:xfrm>
          <a:prstGeom xmlns:a="http://schemas.openxmlformats.org/drawingml/2006/main" prst="roundRect">
            <a:avLst>
              <a:gd name="adj" fmla="val 11479"/>
            </a:avLst>
          </a:prstGeom>
          <a:solidFill xmlns:a="http://schemas.openxmlformats.org/drawingml/2006/main">
            <a:schemeClr val="bg1">
              <a:lumMod val="75000"/>
              <a:lumOff val="25000"/>
            </a:schemeClr>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a:latin typeface="Helvetica Neue"/>
                <a:ea typeface="Helvetica Neue"/>
                <a:cs typeface="Helvetica Neue"/>
              </a:rPr>
              <a:t>Algorithm invariant certificates</a:t>
            </a:r>
          </a:p>
        </p:txBody>
      </p:sp>
      <p:sp>
        <p:nvSpPr>
          <p:cNvPr id="6" name="Google Shape;957;p80">
            <a:extLst xmlns:a="http://schemas.openxmlformats.org/drawingml/2006/main">
              <a:ext uri="{FF2B5EF4-FFF2-40B4-BE49-F238E27FC236}">
                <a16:creationId xmlns:a16="http://schemas.microsoft.com/office/drawing/2014/main" id="{D5359B3A-662D-9283-F7D8-9D5DCD655B5B}"/>
              </a:ext>
            </a:extLst>
          </p:cNvPr>
          <p:cNvSpPr>
            <a:spLocks xmlns:a="http://schemas.openxmlformats.org/drawingml/2006/main" noGrp="1"/>
          </p:cNvSpPr>
          <p:nvPr/>
        </p:nvSpPr>
        <p:spPr>
          <a:xfrm xmlns:a="http://schemas.openxmlformats.org/drawingml/2006/main">
            <a:off x="584093" y="5478390"/>
            <a:ext cx="11026708" cy="513300"/>
          </a:xfrm>
          <a:prstGeom xmlns:a="http://schemas.openxmlformats.org/drawingml/2006/main" prst="roundRect">
            <a:avLst>
              <a:gd name="adj" fmla="val 11479"/>
            </a:avLst>
          </a:prstGeom>
          <a:solidFill xmlns:a="http://schemas.openxmlformats.org/drawingml/2006/main">
            <a:schemeClr val="bg1">
              <a:lumMod val="95000"/>
            </a:schemeClr>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a:latin typeface="Helvetica Neue"/>
                <a:ea typeface="Helvetica Neue"/>
                <a:cs typeface="Helvetica Neue"/>
              </a:rPr>
              <a:t>Public run: input → compiled RAM → output + steps</a:t>
            </a:r>
            <a:endParaRPr sz="1500">
              <a:latin typeface="Helvetica Neue"/>
              <a:ea typeface="Helvetica Neue"/>
              <a:cs typeface="Helvetica Neue"/>
            </a:endParaRPr>
          </a:p>
        </p:txBody>
      </p:sp>
      <p:sp>
        <p:nvSpPr>
          <p:cNvPr id="7" name="Google Shape;960;p80">
            <a:extLst xmlns:a="http://schemas.openxmlformats.org/drawingml/2006/main">
              <a:ext uri="{FF2B5EF4-FFF2-40B4-BE49-F238E27FC236}">
                <a16:creationId xmlns:a16="http://schemas.microsoft.com/office/drawing/2014/main" id="{2293B6C0-CD6E-C9F0-68F7-73F7B726A1EF}"/>
              </a:ext>
            </a:extLst>
          </p:cNvPr>
          <p:cNvSpPr>
            <a:spLocks xmlns:a="http://schemas.openxmlformats.org/drawingml/2006/main" noGrp="1"/>
          </p:cNvSpPr>
          <p:nvPr/>
        </p:nvSpPr>
        <p:spPr>
          <a:xfrm xmlns:a="http://schemas.openxmlformats.org/drawingml/2006/main">
            <a:off x="7522794" y="4754965"/>
            <a:ext cx="4088008" cy="513300"/>
          </a:xfrm>
          <a:prstGeom xmlns:a="http://schemas.openxmlformats.org/drawingml/2006/main" prst="roundRect">
            <a:avLst>
              <a:gd name="adj" fmla="val 11479"/>
            </a:avLst>
          </a:prstGeom>
          <a:solidFill xmlns:a="http://schemas.openxmlformats.org/drawingml/2006/main">
            <a:schemeClr val="bg1">
              <a:lumMod val="75000"/>
              <a:lumOff val="25000"/>
            </a:schemeClr>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a:latin typeface="Helvetica Neue"/>
                <a:ea typeface="Helvetica Neue"/>
                <a:cs typeface="Helvetica Neue"/>
              </a:rPr>
              <a:t>Compiler preservation theorem</a:t>
            </a:r>
          </a:p>
        </p:txBody>
      </p:sp>
      <p:sp>
        <p:nvSpPr>
          <p:cNvPr id="8" name="Google Shape;963;p80">
            <a:extLst xmlns:a="http://schemas.openxmlformats.org/drawingml/2006/main">
              <a:ext uri="{FF2B5EF4-FFF2-40B4-BE49-F238E27FC236}">
                <a16:creationId xmlns:a16="http://schemas.microsoft.com/office/drawing/2014/main" id="{0F4F3439-EC29-4518-4A3E-7436F8578035}"/>
              </a:ext>
            </a:extLst>
          </p:cNvPr>
          <p:cNvSpPr>
            <a:spLocks xmlns:a="http://schemas.openxmlformats.org/drawingml/2006/main" noGrp="1"/>
          </p:cNvSpPr>
          <p:nvPr/>
        </p:nvSpPr>
        <p:spPr>
          <a:xfrm xmlns:a="http://schemas.openxmlformats.org/drawingml/2006/main">
            <a:off x="2819968" y="3403140"/>
            <a:ext cx="8790833" cy="513300"/>
          </a:xfrm>
          <a:prstGeom xmlns:a="http://schemas.openxmlformats.org/drawingml/2006/main" prst="roundRect">
            <a:avLst>
              <a:gd name="adj" fmla="val 11479"/>
            </a:avLst>
          </a:prstGeom>
          <a:solidFill xmlns:a="http://schemas.openxmlformats.org/drawingml/2006/main">
            <a:schemeClr val="bg1">
              <a:lumMod val="75000"/>
              <a:lumOff val="25000"/>
            </a:schemeClr>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a:latin typeface="Helvetica Neue"/>
                <a:ea typeface="Helvetica Neue"/>
                <a:cs typeface="Helvetica Neue"/>
              </a:rPr>
              <a:t>Typed program and compositional VCs</a:t>
            </a:r>
          </a:p>
        </p:txBody>
      </p:sp>
      <p:sp>
        <p:nvSpPr>
          <p:cNvPr id="9" name="Google Shape;966;p80">
            <a:extLst xmlns:a="http://schemas.openxmlformats.org/drawingml/2006/main">
              <a:ext uri="{FF2B5EF4-FFF2-40B4-BE49-F238E27FC236}">
                <a16:creationId xmlns:a16="http://schemas.microsoft.com/office/drawing/2014/main" id="{1D07E5FD-0BEC-93D6-2CF5-BC908A51553C}"/>
              </a:ext>
            </a:extLst>
          </p:cNvPr>
          <p:cNvSpPr>
            <a:spLocks xmlns:a="http://schemas.openxmlformats.org/drawingml/2006/main" noGrp="1"/>
          </p:cNvSpPr>
          <p:nvPr/>
        </p:nvSpPr>
        <p:spPr>
          <a:xfrm xmlns:a="http://schemas.openxmlformats.org/drawingml/2006/main">
            <a:off x="2819968" y="2698515"/>
            <a:ext cx="6408538" cy="513300"/>
          </a:xfrm>
          <a:prstGeom xmlns:a="http://schemas.openxmlformats.org/drawingml/2006/main" prst="roundRect">
            <a:avLst>
              <a:gd name="adj" fmla="val 11479"/>
            </a:avLst>
          </a:prstGeom>
          <a:solidFill xmlns:a="http://schemas.openxmlformats.org/drawingml/2006/main">
            <a:schemeClr val="bg1">
              <a:lumMod val="75000"/>
              <a:lumOff val="25000"/>
            </a:schemeClr>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a:latin typeface="Helvetica Neue"/>
                <a:ea typeface="Helvetica Neue"/>
                <a:cs typeface="Helvetica Neue"/>
              </a:rPr>
              <a:t>Memory representations and library contracts</a:t>
            </a:r>
          </a:p>
        </p:txBody>
      </p:sp>
      <p:sp>
        <p:nvSpPr>
          <p:cNvPr id="10" name="Google Shape;969;p80">
            <a:extLst xmlns:a="http://schemas.openxmlformats.org/drawingml/2006/main">
              <a:ext uri="{FF2B5EF4-FFF2-40B4-BE49-F238E27FC236}">
                <a16:creationId xmlns:a16="http://schemas.microsoft.com/office/drawing/2014/main" id="{0AB147C5-D3F9-0847-C2A5-2A90154B1A3C}"/>
              </a:ext>
            </a:extLst>
          </p:cNvPr>
          <p:cNvSpPr>
            <a:spLocks xmlns:a="http://schemas.openxmlformats.org/drawingml/2006/main" noGrp="1"/>
          </p:cNvSpPr>
          <p:nvPr/>
        </p:nvSpPr>
        <p:spPr>
          <a:xfrm xmlns:a="http://schemas.openxmlformats.org/drawingml/2006/main">
            <a:off x="507893" y="1975090"/>
            <a:ext cx="4185180" cy="513300"/>
          </a:xfrm>
          <a:prstGeom xmlns:a="http://schemas.openxmlformats.org/drawingml/2006/main" prst="roundRect">
            <a:avLst>
              <a:gd name="adj" fmla="val 11479"/>
            </a:avLst>
          </a:prstGeom>
          <a:solidFill xmlns:a="http://schemas.openxmlformats.org/drawingml/2006/main">
            <a:schemeClr val="bg1">
              <a:lumMod val="75000"/>
              <a:lumOff val="25000"/>
            </a:schemeClr>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a:latin typeface="Helvetica Neue"/>
                <a:ea typeface="Helvetica Neue"/>
                <a:cs typeface="Helvetica Neue"/>
              </a:rPr>
              <a:t>Graph and list specifications</a:t>
            </a:r>
            <a:endParaRPr sz="1500">
              <a:latin typeface="Helvetica Neue"/>
              <a:ea typeface="Helvetica Neue"/>
              <a:cs typeface="Helvetica Neue"/>
            </a:endParaRPr>
          </a:p>
        </p:txBody>
      </p:sp>
    </p:spTree>
    <p:extLst>
      <p:ext uri="{BB962C8B-B14F-4D97-AF65-F5344CB8AC3E}">
        <p14:creationId xmlns:p14="http://schemas.microsoft.com/office/powerpoint/2010/main" val="2435171538"/>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3" name="Footer Placeholder 22">
            <a:extLst xmlns:a="http://schemas.openxmlformats.org/drawingml/2006/main">
              <a:ext uri="{FF2B5EF4-FFF2-40B4-BE49-F238E27FC236}">
                <a16:creationId xmlns:a16="http://schemas.microsoft.com/office/drawing/2014/main" id="{AD97F9EA-012C-21EB-B59E-E7F4EA1900FE}"/>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0AF45DF-4338-2F83-4089-BDD958131658}"/>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25</a:t>
            </a:fld>
            <a:endParaRPr/>
          </a:p>
        </p:txBody>
      </p:sp>
      <p:sp>
        <p:nvSpPr>
          <p:cNvPr id="533" name="Google Shape;533;p58">
            <a:extLst xmlns:a="http://schemas.openxmlformats.org/drawingml/2006/main">
              <a:ext uri="{FF2B5EF4-FFF2-40B4-BE49-F238E27FC236}">
                <a16:creationId xmlns:a16="http://schemas.microsoft.com/office/drawing/2014/main" id="{E4D2BBD2-B9DC-C05C-151C-46086B5BA514}"/>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Repository reading routes</a:t>
            </a:r>
          </a:p>
        </p:txBody>
      </p:sp>
      <p:graphicFrame>
        <p:nvGraphicFramePr>
          <p:cNvPr id="538" name="Google Shape;953;p80"/>
          <p:cNvGraphicFramePr/>
          <p:nvPr/>
        </p:nvGraphicFramePr>
        <p:xfrm>
          <a:off xmlns:a="http://schemas.openxmlformats.org/drawingml/2006/main" x="393700" y="822085"/>
          <a:ext xmlns:a="http://schemas.openxmlformats.org/drawingml/2006/main" cx="11404600" cy="5350115"/>
        </p:xfrm>
        <a:graphic xmlns:a="http://schemas.openxmlformats.org/drawingml/2006/main">
          <a:graphicData uri="http://schemas.openxmlformats.org/drawingml/2006/table">
            <a:tbl>
              <a:tblPr/>
              <a:tblGrid>
                <a:gridCol w="2280920"/>
                <a:gridCol w="2280920"/>
                <a:gridCol w="2280920"/>
                <a:gridCol w="2280920"/>
                <a:gridCol w="2280920"/>
              </a:tblGrid>
              <a:tr h="449963">
                <a:tc>
                  <a:txBody>
                    <a:bodyPr/>
                    <a:lstStyle/>
                    <a:p>
                      <a:pPr marL="0" lvl="0" indent="0" algn="ctr">
                        <a:spcBef>
                          <a:spcPts val="0"/>
                        </a:spcBef>
                        <a:spcAft>
                          <a:spcPts val="0"/>
                        </a:spcAft>
                        <a:buNone/>
                      </a:pPr>
                      <a:r>
                        <a:rPr sz="1200">
                          <a:solidFill>
                            <a:schemeClr val="tx1"/>
                          </a:solidFill>
                        </a:rPr>
                        <a:t>Overview</a:t>
                      </a:r>
                      <a:endParaRPr sz="1200">
                        <a:solidFill>
                          <a:schemeClr val="tx1"/>
                        </a:solidFill>
                      </a:endParaRPr>
                    </a:p>
                  </a:txBody>
                  <a:tcPr marL="0" marR="0" marT="91440" marB="91425">
                    <a:lnL w="12700" cmpd="sng">
                      <a:noFill/>
                      <a:prstDash val="solid"/>
                    </a:lnL>
                    <a:lnR w="12700" cmpd="sng">
                      <a:noFill/>
                      <a:prstDash val="solid"/>
                    </a:lnR>
                    <a:lnT w="12700" cmpd="sng">
                      <a:noFill/>
                      <a:prstDash val="solid"/>
                    </a:lnT>
                    <a:lnB w="12700" cmpd="sng">
                      <a:solidFill>
                        <a:schemeClr val="tx1"/>
                      </a:solidFill>
                      <a:prstDash val="solid"/>
                    </a:lnB>
                  </a:tcPr>
                </a:tc>
                <a:tc>
                  <a:txBody>
                    <a:bodyPr/>
                    <a:lstStyle/>
                    <a:p>
                      <a:pPr marL="0" lvl="0" indent="0" algn="ctr">
                        <a:spcBef>
                          <a:spcPts val="0"/>
                        </a:spcBef>
                        <a:spcAft>
                          <a:spcPts val="0"/>
                        </a:spcAft>
                        <a:buNone/>
                      </a:pPr>
                      <a:r>
                        <a:rPr sz="1200">
                          <a:solidFill>
                            <a:schemeClr val="tx1"/>
                          </a:solidFill>
                        </a:rPr>
                        <a:t>Algorithms</a:t>
                      </a:r>
                      <a:endParaRPr sz="1200">
                        <a:solidFill>
                          <a:schemeClr val="tx1"/>
                        </a:solidFill>
                      </a:endParaRPr>
                    </a:p>
                  </a:txBody>
                  <a:tcPr marL="0" marR="0" marT="91440" marB="91425">
                    <a:lnL w="12700" cmpd="sng">
                      <a:noFill/>
                      <a:prstDash val="solid"/>
                    </a:lnL>
                    <a:lnR w="12700" cmpd="sng">
                      <a:noFill/>
                      <a:prstDash val="solid"/>
                    </a:lnR>
                    <a:lnT w="12700" cmpd="sng">
                      <a:noFill/>
                      <a:prstDash val="solid"/>
                    </a:lnT>
                    <a:lnB w="12700" cmpd="sng">
                      <a:solidFill>
                        <a:schemeClr val="tx1"/>
                      </a:solidFill>
                      <a:prstDash val="solid"/>
                    </a:lnB>
                  </a:tcPr>
                </a:tc>
                <a:tc>
                  <a:txBody>
                    <a:bodyPr/>
                    <a:lstStyle/>
                    <a:p>
                      <a:pPr marL="0" lvl="0" indent="0" algn="ctr">
                        <a:spcBef>
                          <a:spcPts val="0"/>
                        </a:spcBef>
                        <a:spcAft>
                          <a:spcPts val="0"/>
                        </a:spcAft>
                        <a:buNone/>
                      </a:pPr>
                      <a:r>
                        <a:rPr sz="1200">
                          <a:solidFill>
                            <a:schemeClr val="tx1"/>
                          </a:solidFill>
                        </a:rPr>
                        <a:t>Language</a:t>
                      </a:r>
                      <a:endParaRPr sz="1200">
                        <a:solidFill>
                          <a:schemeClr val="tx1"/>
                        </a:solidFill>
                      </a:endParaRPr>
                    </a:p>
                  </a:txBody>
                  <a:tcPr marL="0" marR="0" marT="91440" marB="91425">
                    <a:lnL w="12700" cmpd="sng">
                      <a:noFill/>
                      <a:prstDash val="solid"/>
                    </a:lnL>
                    <a:lnR w="12700" cmpd="sng">
                      <a:noFill/>
                      <a:prstDash val="solid"/>
                    </a:lnR>
                    <a:lnT w="12700" cmpd="sng">
                      <a:noFill/>
                      <a:prstDash val="solid"/>
                    </a:lnT>
                    <a:lnB w="12700" cmpd="sng">
                      <a:solidFill>
                        <a:schemeClr val="tx1"/>
                      </a:solidFill>
                      <a:prstDash val="solid"/>
                    </a:lnB>
                  </a:tcPr>
                </a:tc>
                <a:tc>
                  <a:txBody>
                    <a:bodyPr/>
                    <a:lstStyle/>
                    <a:p>
                      <a:pPr marL="0" lvl="0" indent="0" algn="ctr">
                        <a:spcBef>
                          <a:spcPts val="0"/>
                        </a:spcBef>
                        <a:spcAft>
                          <a:spcPts val="0"/>
                        </a:spcAft>
                        <a:buNone/>
                      </a:pPr>
                      <a:r>
                        <a:rPr sz="1200">
                          <a:solidFill>
                            <a:schemeClr val="tx1"/>
                          </a:solidFill>
                        </a:rPr>
                        <a:t>Library</a:t>
                      </a:r>
                      <a:endParaRPr sz="1200">
                        <a:solidFill>
                          <a:schemeClr val="tx1"/>
                        </a:solidFill>
                      </a:endParaRPr>
                    </a:p>
                  </a:txBody>
                  <a:tcPr marL="0" marR="0" marT="91440" marB="91425">
                    <a:lnL w="12700" cmpd="sng">
                      <a:noFill/>
                      <a:prstDash val="solid"/>
                    </a:lnL>
                    <a:lnR w="12700" cmpd="sng">
                      <a:noFill/>
                      <a:prstDash val="solid"/>
                    </a:lnR>
                    <a:lnT w="12700" cmpd="sng">
                      <a:noFill/>
                      <a:prstDash val="solid"/>
                    </a:lnT>
                    <a:lnB w="12700" cmpd="sng">
                      <a:solidFill>
                        <a:schemeClr val="tx1"/>
                      </a:solidFill>
                      <a:prstDash val="solid"/>
                    </a:lnB>
                  </a:tcPr>
                </a:tc>
                <a:tc>
                  <a:txBody>
                    <a:bodyPr/>
                    <a:lstStyle/>
                    <a:p>
                      <a:pPr marL="0" lvl="0" indent="0" algn="ctr">
                        <a:spcBef>
                          <a:spcPts val="0"/>
                        </a:spcBef>
                        <a:spcAft>
                          <a:spcPts val="0"/>
                        </a:spcAft>
                        <a:buNone/>
                      </a:pPr>
                      <a:r>
                        <a:rPr sz="1200">
                          <a:solidFill>
                            <a:schemeClr val="tx1"/>
                          </a:solidFill>
                        </a:rPr>
                        <a:t>Core / proofs</a:t>
                      </a:r>
                      <a:endParaRPr sz="1200">
                        <a:solidFill>
                          <a:schemeClr val="tx1"/>
                        </a:solidFill>
                      </a:endParaRPr>
                    </a:p>
                  </a:txBody>
                  <a:tcPr marL="0" marR="0" marT="91440" marB="91425">
                    <a:lnL w="12700" cmpd="sng">
                      <a:noFill/>
                      <a:prstDash val="solid"/>
                    </a:lnL>
                    <a:lnR w="12700" cmpd="sng">
                      <a:noFill/>
                      <a:prstDash val="solid"/>
                    </a:lnR>
                    <a:lnT w="12700" cmpd="sng">
                      <a:noFill/>
                      <a:prstDash val="solid"/>
                    </a:lnT>
                    <a:lnB w="12700" cmpd="sng">
                      <a:solidFill>
                        <a:schemeClr val="tx1"/>
                      </a:solidFill>
                      <a:prstDash val="solid"/>
                    </a:lnB>
                  </a:tcPr>
                </a:tc>
              </a:tr>
              <a:tr h="1225038">
                <a:tc>
                  <a:txBody>
                    <a:bodyPr/>
                    <a:lstStyle/>
                    <a:p>
                      <a:pPr marL="0" marR="0" lvl="0" indent="0" algn="l" defTabSz="914400">
                        <a:lnSpc>
                          <a:spcPct val="100000"/>
                        </a:lnSpc>
                        <a:spcBef>
                          <a:spcPts val="0"/>
                        </a:spcBef>
                        <a:spcAft>
                          <a:spcPts val="0"/>
                        </a:spcAft>
                        <a:buClrTx/>
                        <a:buSzTx/>
                        <a:buFontTx/>
                        <a:buNone/>
                      </a:pPr>
                      <a:r>
                        <a:rPr sz="1500" b="0" i="0" u="none" cap="none" spc="0">
                          <a:ln>
                            <a:noFill/>
                          </a:ln>
                          <a:solidFill>
                            <a:srgbClr val="FFFFFF"/>
                          </a:solidFill>
                          <a:latin typeface="Helvetica Neue"/>
                          <a:ea typeface="Helvetica Neue"/>
                          <a:cs typeface="Helvetica Neue"/>
                        </a:rPr>
                        <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500" b="0" i="0" u="none" cap="none" spc="0">
                          <a:ln>
                            <a:noFill/>
                          </a:ln>
                          <a:solidFill>
                            <a:srgbClr val="FFFFFF"/>
                          </a:solidFill>
                          <a:latin typeface="Helvetica Neue"/>
                          <a:ea typeface="Helvetica Neue"/>
                          <a:cs typeface="Helvetica Neue"/>
                        </a:rPr>
                        <a:t>Examples</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500" b="0" i="0" u="none" cap="none" spc="0">
                          <a:ln>
                            <a:noFill/>
                          </a:ln>
                          <a:solidFill>
                            <a:srgbClr val="FFFFFF"/>
                          </a:solidFill>
                          <a:latin typeface="Helvetica Neue"/>
                          <a:ea typeface="Helvetica Neue"/>
                          <a:cs typeface="Helvetica Neue"/>
                        </a:rPr>
                        <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500" b="0" i="0" u="none" cap="none" spc="0">
                          <a:ln>
                            <a:noFill/>
                          </a:ln>
                          <a:solidFill>
                            <a:srgbClr val="FFFFFF"/>
                          </a:solidFill>
                          <a:latin typeface="Helvetica Neue"/>
                          <a:ea typeface="Helvetica Neue"/>
                          <a:cs typeface="Helvetica Neue"/>
                        </a:rPr>
                        <a:t>Array</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500" b="0" i="0" u="none" cap="none" spc="0">
                          <a:ln>
                            <a:noFill/>
                          </a:ln>
                          <a:solidFill>
                            <a:srgbClr val="FFFFFF"/>
                          </a:solidFill>
                          <a:latin typeface="Helvetica Neue"/>
                          <a:ea typeface="Helvetica Neue"/>
                          <a:cs typeface="Helvetica Neue"/>
                        </a:rPr>
                        <a:t>Machine</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225038">
                <a:tc>
                  <a:txBody>
                    <a:bodyPr/>
                    <a:lstStyle/>
                    <a:p>
                      <a:pPr marL="0" marR="0" lvl="0" indent="0" algn="l" defTabSz="914400">
                        <a:lnSpc>
                          <a:spcPct val="100000"/>
                        </a:lnSpc>
                        <a:spcBef>
                          <a:spcPts val="0"/>
                        </a:spcBef>
                        <a:spcAft>
                          <a:spcPts val="0"/>
                        </a:spcAft>
                        <a:buClrTx/>
                        <a:buSzTx/>
                        <a:buFontTx/>
                        <a:buNone/>
                      </a:pPr>
                      <a:r>
                        <a:rPr sz="1500" b="0" i="0" u="none" cap="none" spc="0">
                          <a:ln>
                            <a:noFill/>
                          </a:ln>
                          <a:solidFill>
                            <a:srgbClr val="FFFFFF"/>
                          </a:solidFill>
                          <a:latin typeface="Helvetica Neue"/>
                          <a:ea typeface="Helvetica Neue"/>
                          <a:cs typeface="Helvetica Neue"/>
                        </a:rPr>
                        <a:t>Architecture</a:t>
                      </a: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500" b="0" i="0" u="none" cap="none" spc="0">
                          <a:ln>
                            <a:noFill/>
                          </a:ln>
                          <a:solidFill>
                            <a:srgbClr val="FFFFFF"/>
                          </a:solidFill>
                          <a:latin typeface="Helvetica Neue"/>
                          <a:ea typeface="Helvetica Neue"/>
                          <a:cs typeface="Helvetica Neue"/>
                        </a:rPr>
                        <a:t>InsertionSort</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500" b="0" i="0" u="none" cap="none" spc="0">
                          <a:ln>
                            <a:noFill/>
                          </a:ln>
                          <a:solidFill>
                            <a:srgbClr val="FFFFFF"/>
                          </a:solidFill>
                          <a:latin typeface="Helvetica Neue"/>
                          <a:ea typeface="Helvetica Neue"/>
                          <a:cs typeface="Helvetica Neue"/>
                        </a:rPr>
                        <a:t>Basic</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500" b="0" i="0" u="none" cap="none" spc="0">
                          <a:ln>
                            <a:noFill/>
                          </a:ln>
                          <a:solidFill>
                            <a:srgbClr val="FFFFFF"/>
                          </a:solidFill>
                          <a:latin typeface="Helvetica Neue"/>
                          <a:ea typeface="Helvetica Neue"/>
                          <a:cs typeface="Helvetica Neue"/>
                        </a:rPr>
                        <a:t>Sequences</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500" b="0" i="0" u="none" cap="none" spc="0">
                          <a:ln>
                            <a:noFill/>
                          </a:ln>
                          <a:solidFill>
                            <a:srgbClr val="FFFFFF"/>
                          </a:solidFill>
                          <a:latin typeface="Helvetica Neue"/>
                          <a:ea typeface="Helvetica Neue"/>
                          <a:cs typeface="Helvetica Neue"/>
                        </a:rPr>
                        <a:t>Runner</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225038">
                <a:tc>
                  <a:txBody>
                    <a:bodyPr/>
                    <a:lstStyle/>
                    <a:p>
                      <a:pPr marL="0" marR="0" lvl="0" indent="0" algn="l" defTabSz="914400">
                        <a:lnSpc>
                          <a:spcPct val="100000"/>
                        </a:lnSpc>
                        <a:spcBef>
                          <a:spcPts val="0"/>
                        </a:spcBef>
                        <a:spcAft>
                          <a:spcPts val="0"/>
                        </a:spcAft>
                        <a:buClrTx/>
                        <a:buSzTx/>
                        <a:buFontTx/>
                        <a:buNone/>
                      </a:pPr>
                      <a:r>
                        <a:rPr sz="1500" b="0" i="0" u="none" cap="none" spc="0">
                          <a:ln>
                            <a:noFill/>
                          </a:ln>
                          <a:solidFill>
                            <a:srgbClr val="FFFFFF"/>
                          </a:solidFill>
                          <a:latin typeface="Helvetica Neue"/>
                          <a:ea typeface="Helvetica Neue"/>
                          <a:cs typeface="Helvetica Neue"/>
                        </a:rPr>
                        <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500" b="0" i="0" u="none" cap="none" spc="0">
                          <a:ln>
                            <a:noFill/>
                          </a:ln>
                          <a:solidFill>
                            <a:srgbClr val="FFFFFF"/>
                          </a:solidFill>
                          <a:latin typeface="Helvetica Neue"/>
                          <a:ea typeface="Helvetica Neue"/>
                          <a:cs typeface="Helvetica Neue"/>
                        </a:rPr>
                        <a:t>BFS</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500" b="0" i="0" u="none" cap="none" spc="0">
                          <a:ln>
                            <a:noFill/>
                          </a:ln>
                          <a:solidFill>
                            <a:srgbClr val="FFFFFF"/>
                          </a:solidFill>
                          <a:latin typeface="Helvetica Neue"/>
                          <a:ea typeface="Helvetica Neue"/>
                          <a:cs typeface="Helvetica Neue"/>
                        </a:rPr>
                        <a:t>VC</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500" b="0" i="0" u="none" cap="none" spc="0">
                          <a:ln>
                            <a:noFill/>
                          </a:ln>
                          <a:solidFill>
                            <a:srgbClr val="FFFFFF"/>
                          </a:solidFill>
                          <a:latin typeface="Helvetica Neue"/>
                          <a:ea typeface="Helvetica Neue"/>
                          <a:cs typeface="Helvetica Neue"/>
                        </a:rPr>
                        <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500" b="0" i="0" u="none" cap="none" spc="0">
                          <a:ln>
                            <a:noFill/>
                          </a:ln>
                          <a:solidFill>
                            <a:srgbClr val="FFFFFF"/>
                          </a:solidFill>
                          <a:latin typeface="Helvetica Neue"/>
                          <a:ea typeface="Helvetica Neue"/>
                          <a:cs typeface="Helvetica Neue"/>
                        </a:rPr>
                        <a:t>Output</a:t>
                      </a: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225038">
                <a:tc>
                  <a:txBody>
                    <a:bodyPr/>
                    <a:lstStyle/>
                    <a:p>
                      <a:pPr marL="0" marR="0" lvl="0" indent="0" algn="l" defTabSz="914400">
                        <a:lnSpc>
                          <a:spcPct val="100000"/>
                        </a:lnSpc>
                        <a:spcBef>
                          <a:spcPts val="0"/>
                        </a:spcBef>
                        <a:spcAft>
                          <a:spcPts val="0"/>
                        </a:spcAft>
                        <a:buClrTx/>
                        <a:buSzTx/>
                        <a:buFontTx/>
                        <a:buNone/>
                      </a:pPr>
                      <a:r>
                        <a:rPr sz="1500" b="0" i="0" u="none" cap="none" spc="0">
                          <a:ln>
                            <a:noFill/>
                          </a:ln>
                          <a:solidFill>
                            <a:srgbClr val="FFFFFF"/>
                          </a:solidFill>
                          <a:latin typeface="Helvetica Neue"/>
                          <a:ea typeface="Helvetica Neue"/>
                          <a:cs typeface="Helvetica Neue"/>
                        </a:rPr>
                        <a:t>Migration</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500" b="0" i="0" u="none" cap="none" spc="0">
                          <a:ln>
                            <a:noFill/>
                          </a:ln>
                          <a:solidFill>
                            <a:srgbClr val="FFFFFF"/>
                          </a:solidFill>
                          <a:latin typeface="Helvetica Neue"/>
                          <a:ea typeface="Helvetica Neue"/>
                          <a:cs typeface="Helvetica Neue"/>
                        </a:rPr>
                        <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500" b="0" i="0" u="none" cap="none" spc="0">
                          <a:ln>
                            <a:noFill/>
                          </a:ln>
                          <a:solidFill>
                            <a:srgbClr val="FFFFFF"/>
                          </a:solidFill>
                          <a:latin typeface="Helvetica Neue"/>
                          <a:ea typeface="Helvetica Neue"/>
                          <a:cs typeface="Helvetica Neue"/>
                        </a:rPr>
                        <a:t>Compiler</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500" b="0" i="0" u="none" cap="none" spc="0">
                          <a:ln>
                            <a:noFill/>
                          </a:ln>
                          <a:solidFill>
                            <a:srgbClr val="FFFFFF"/>
                          </a:solidFill>
                          <a:latin typeface="Helvetica Neue"/>
                          <a:ea typeface="Helvetica Neue"/>
                          <a:cs typeface="Helvetica Neue"/>
                        </a:rPr>
                        <a:t>GraphInput</a:t>
                      </a:r>
                      <a:endParaRPr sz="1200" b="0" i="0" u="none" kern="1200" cap="none" spc="0" baseline="0">
                        <a:ln>
                          <a:noFill/>
                        </a:ln>
                        <a:solidFill>
                          <a:prstClr val="black"/>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500" b="0" i="0" u="none" cap="none" spc="0">
                          <a:ln>
                            <a:noFill/>
                          </a:ln>
                          <a:solidFill>
                            <a:srgbClr val="FFFFFF"/>
                          </a:solidFill>
                          <a:latin typeface="Helvetica Neue"/>
                          <a:ea typeface="Helvetica Neue"/>
                          <a:cs typeface="Helvetica Neue"/>
                        </a:rPr>
                        <a:t>Proofs/BFS</a:t>
                      </a: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2" name="Google Shape;969;p80">
            <a:extLst xmlns:a="http://schemas.openxmlformats.org/drawingml/2006/main">
              <a:ext uri="{FF2B5EF4-FFF2-40B4-BE49-F238E27FC236}">
                <a16:creationId xmlns:a16="http://schemas.microsoft.com/office/drawing/2014/main" id="{A122CFB3-561F-F57A-0D76-5F64F78E6566}"/>
              </a:ext>
            </a:extLst>
          </p:cNvPr>
          <p:cNvSpPr>
            <a:spLocks xmlns:a="http://schemas.openxmlformats.org/drawingml/2006/main" noGrp="1"/>
          </p:cNvSpPr>
          <p:nvPr/>
        </p:nvSpPr>
        <p:spPr>
          <a:xfrm xmlns:a="http://schemas.openxmlformats.org/drawingml/2006/main">
            <a:off x="535946" y="1633394"/>
            <a:ext cx="2004054" cy="339939"/>
          </a:xfrm>
          <a:prstGeom xmlns:a="http://schemas.openxmlformats.org/drawingml/2006/main" prst="roundRect">
            <a:avLst>
              <a:gd name="adj" fmla="val 11479"/>
            </a:avLst>
          </a:prstGeom>
          <a:solidFill xmlns:a="http://schemas.openxmlformats.org/drawingml/2006/main">
            <a:schemeClr val="bg1">
              <a:lumMod val="75000"/>
              <a:lumOff val="25000"/>
            </a:schemeClr>
          </a:solidFill>
          <a:ln xmlns:a="http://schemas.openxmlformats.org/drawingml/2006/main">
            <a:noFill/>
          </a:ln>
        </p:spPr>
        <p:txBody>
          <a:bodyPr xmlns:a="http://schemas.openxmlformats.org/drawingml/2006/main" spcFirstLastPara="1" wrap="square" lIns="118872" tIns="121875" rIns="121875" bIns="121875" anchor="ctr">
            <a:noAutofit/>
          </a:bodyPr>
          <a:lstStyle xmlns:a="http://schemas.openxmlformats.org/drawingml/2006/main"/>
          <a:p xmlns:a="http://schemas.openxmlformats.org/drawingml/2006/main">
            <a:pPr algn="ctr">
              <a:buNone/>
            </a:pPr>
            <a:r>
              <a:rPr sz="1100"/>
              <a:t>Start: README</a:t>
            </a:r>
          </a:p>
        </p:txBody>
      </p:sp>
      <p:sp>
        <p:nvSpPr>
          <p:cNvPr id="5" name="Google Shape;969;p80">
            <a:extLst xmlns:a="http://schemas.openxmlformats.org/drawingml/2006/main">
              <a:ext uri="{FF2B5EF4-FFF2-40B4-BE49-F238E27FC236}">
                <a16:creationId xmlns:a16="http://schemas.microsoft.com/office/drawing/2014/main" id="{C931B0DD-E0CC-3A4D-1652-DEF41244CC5E}"/>
              </a:ext>
            </a:extLst>
          </p:cNvPr>
          <p:cNvSpPr>
            <a:spLocks xmlns:a="http://schemas.openxmlformats.org/drawingml/2006/main" noGrp="1"/>
          </p:cNvSpPr>
          <p:nvPr/>
        </p:nvSpPr>
        <p:spPr>
          <a:xfrm xmlns:a="http://schemas.openxmlformats.org/drawingml/2006/main">
            <a:off x="535946" y="2039794"/>
            <a:ext cx="2004054" cy="339939"/>
          </a:xfrm>
          <a:prstGeom xmlns:a="http://schemas.openxmlformats.org/drawingml/2006/main" prst="roundRect">
            <a:avLst>
              <a:gd name="adj" fmla="val 11479"/>
            </a:avLst>
          </a:prstGeom>
          <a:solidFill xmlns:a="http://schemas.openxmlformats.org/drawingml/2006/main">
            <a:schemeClr val="bg1">
              <a:lumMod val="75000"/>
              <a:lumOff val="25000"/>
            </a:schemeClr>
          </a:solidFill>
          <a:ln xmlns:a="http://schemas.openxmlformats.org/drawingml/2006/main">
            <a:noFill/>
          </a:ln>
        </p:spPr>
        <p:txBody>
          <a:bodyPr xmlns:a="http://schemas.openxmlformats.org/drawingml/2006/main" spcFirstLastPara="1" wrap="square" lIns="118872" tIns="121875" rIns="121875" bIns="121875" anchor="ctr">
            <a:noAutofit/>
          </a:bodyPr>
          <a:lstStyle xmlns:a="http://schemas.openxmlformats.org/drawingml/2006/main"/>
          <a:p xmlns:a="http://schemas.openxmlformats.org/drawingml/2006/main">
            <a:pPr algn="ctr">
              <a:buNone/>
            </a:pPr>
            <a:r>
              <a:rPr sz="1100"/>
              <a:t>Then: Examples</a:t>
            </a:r>
          </a:p>
        </p:txBody>
      </p:sp>
      <p:sp>
        <p:nvSpPr>
          <p:cNvPr id="6" name="Google Shape;969;p80">
            <a:extLst xmlns:a="http://schemas.openxmlformats.org/drawingml/2006/main">
              <a:ext uri="{FF2B5EF4-FFF2-40B4-BE49-F238E27FC236}">
                <a16:creationId xmlns:a16="http://schemas.microsoft.com/office/drawing/2014/main" id="{55193150-005D-DDAC-ACAE-A50653E1B6CE}"/>
              </a:ext>
            </a:extLst>
          </p:cNvPr>
          <p:cNvSpPr>
            <a:spLocks xmlns:a="http://schemas.openxmlformats.org/drawingml/2006/main" noGrp="1"/>
          </p:cNvSpPr>
          <p:nvPr/>
        </p:nvSpPr>
        <p:spPr>
          <a:xfrm xmlns:a="http://schemas.openxmlformats.org/drawingml/2006/main">
            <a:off x="5095246" y="1788470"/>
            <a:ext cx="2004054" cy="339939"/>
          </a:xfrm>
          <a:prstGeom xmlns:a="http://schemas.openxmlformats.org/drawingml/2006/main" prst="roundRect">
            <a:avLst>
              <a:gd name="adj" fmla="val 11479"/>
            </a:avLst>
          </a:prstGeom>
          <a:solidFill xmlns:a="http://schemas.openxmlformats.org/drawingml/2006/main">
            <a:schemeClr val="bg1">
              <a:lumMod val="75000"/>
              <a:lumOff val="25000"/>
            </a:schemeClr>
          </a:solidFill>
          <a:ln xmlns:a="http://schemas.openxmlformats.org/drawingml/2006/main">
            <a:noFill/>
          </a:ln>
        </p:spPr>
        <p:txBody>
          <a:bodyPr xmlns:a="http://schemas.openxmlformats.org/drawingml/2006/main" spcFirstLastPara="1" wrap="square" lIns="118872" tIns="121875" rIns="121875" bIns="121875" anchor="ctr">
            <a:noAutofit/>
          </a:bodyPr>
          <a:lstStyle xmlns:a="http://schemas.openxmlformats.org/drawingml/2006/main"/>
          <a:p xmlns:a="http://schemas.openxmlformats.org/drawingml/2006/main">
            <a:pPr algn="ctr">
              <a:buNone/>
            </a:pPr>
            <a:r>
              <a:rPr sz="1100">
                <a:latin typeface="Helvetica Neue"/>
                <a:ea typeface="Helvetica Neue"/>
                <a:cs typeface="Helvetica Neue"/>
              </a:rPr>
              <a:t>DSL: Syntax</a:t>
            </a:r>
            <a:endParaRPr sz="1100">
              <a:latin typeface="Helvetica Neue"/>
              <a:ea typeface="Helvetica Neue"/>
              <a:cs typeface="Helvetica Neue"/>
            </a:endParaRPr>
          </a:p>
        </p:txBody>
      </p:sp>
      <p:sp>
        <p:nvSpPr>
          <p:cNvPr id="9" name="Google Shape;969;p80">
            <a:extLst xmlns:a="http://schemas.openxmlformats.org/drawingml/2006/main">
              <a:ext uri="{FF2B5EF4-FFF2-40B4-BE49-F238E27FC236}">
                <a16:creationId xmlns:a16="http://schemas.microsoft.com/office/drawing/2014/main" id="{E6450C44-6EBB-C6EE-22ED-5AD1B7978C9A}"/>
              </a:ext>
            </a:extLst>
          </p:cNvPr>
          <p:cNvSpPr>
            <a:spLocks xmlns:a="http://schemas.openxmlformats.org/drawingml/2006/main" noGrp="1"/>
          </p:cNvSpPr>
          <p:nvPr/>
        </p:nvSpPr>
        <p:spPr>
          <a:xfrm xmlns:a="http://schemas.openxmlformats.org/drawingml/2006/main">
            <a:off x="535946" y="4257498"/>
            <a:ext cx="2004054" cy="339939"/>
          </a:xfrm>
          <a:prstGeom xmlns:a="http://schemas.openxmlformats.org/drawingml/2006/main" prst="roundRect">
            <a:avLst>
              <a:gd name="adj" fmla="val 11479"/>
            </a:avLst>
          </a:prstGeom>
          <a:solidFill xmlns:a="http://schemas.openxmlformats.org/drawingml/2006/main">
            <a:schemeClr val="bg1">
              <a:lumMod val="75000"/>
              <a:lumOff val="25000"/>
            </a:schemeClr>
          </a:solidFill>
          <a:ln xmlns:a="http://schemas.openxmlformats.org/drawingml/2006/main">
            <a:noFill/>
          </a:ln>
        </p:spPr>
        <p:txBody>
          <a:bodyPr xmlns:a="http://schemas.openxmlformats.org/drawingml/2006/main" spcFirstLastPara="1" wrap="square" lIns="118872" tIns="121875" rIns="121875" bIns="121875" anchor="ctr">
            <a:noAutofit/>
          </a:bodyPr>
          <a:lstStyle xmlns:a="http://schemas.openxmlformats.org/drawingml/2006/main"/>
          <a:p xmlns:a="http://schemas.openxmlformats.org/drawingml/2006/main">
            <a:pPr algn="ctr">
              <a:buNone/>
            </a:pPr>
            <a:r>
              <a:rPr sz="1100"/>
              <a:t>Math: Graph</a:t>
            </a:r>
          </a:p>
        </p:txBody>
      </p:sp>
      <p:sp>
        <p:nvSpPr>
          <p:cNvPr id="10" name="Google Shape;969;p80">
            <a:extLst xmlns:a="http://schemas.openxmlformats.org/drawingml/2006/main">
              <a:ext uri="{FF2B5EF4-FFF2-40B4-BE49-F238E27FC236}">
                <a16:creationId xmlns:a16="http://schemas.microsoft.com/office/drawing/2014/main" id="{514ABA49-AA4D-75E4-06B4-7B2D65B6A93C}"/>
              </a:ext>
            </a:extLst>
          </p:cNvPr>
          <p:cNvSpPr>
            <a:spLocks xmlns:a="http://schemas.openxmlformats.org/drawingml/2006/main" noGrp="1"/>
          </p:cNvSpPr>
          <p:nvPr/>
        </p:nvSpPr>
        <p:spPr>
          <a:xfrm xmlns:a="http://schemas.openxmlformats.org/drawingml/2006/main">
            <a:off x="7368546" y="4257498"/>
            <a:ext cx="2004054" cy="339939"/>
          </a:xfrm>
          <a:prstGeom xmlns:a="http://schemas.openxmlformats.org/drawingml/2006/main" prst="roundRect">
            <a:avLst>
              <a:gd name="adj" fmla="val 11479"/>
            </a:avLst>
          </a:prstGeom>
          <a:solidFill xmlns:a="http://schemas.openxmlformats.org/drawingml/2006/main">
            <a:schemeClr val="bg1">
              <a:lumMod val="75000"/>
              <a:lumOff val="25000"/>
            </a:schemeClr>
          </a:solidFill>
          <a:ln xmlns:a="http://schemas.openxmlformats.org/drawingml/2006/main">
            <a:noFill/>
          </a:ln>
        </p:spPr>
        <p:txBody>
          <a:bodyPr xmlns:a="http://schemas.openxmlformats.org/drawingml/2006/main" spcFirstLastPara="1" wrap="square" lIns="118872" tIns="121875" rIns="121875" bIns="121875" anchor="ctr">
            <a:noAutofit/>
          </a:bodyPr>
          <a:lstStyle xmlns:a="http://schemas.openxmlformats.org/drawingml/2006/main"/>
          <a:p xmlns:a="http://schemas.openxmlformats.org/drawingml/2006/main">
            <a:pPr algn="ctr">
              <a:buNone/>
            </a:pPr>
            <a:r>
              <a:rPr sz="1100"/>
              <a:t>GraphMemory</a:t>
            </a:r>
          </a:p>
        </p:txBody>
      </p:sp>
      <p:sp>
        <p:nvSpPr>
          <p:cNvPr id="14" name="Google Shape;969;p80">
            <a:extLst xmlns:a="http://schemas.openxmlformats.org/drawingml/2006/main">
              <a:ext uri="{FF2B5EF4-FFF2-40B4-BE49-F238E27FC236}">
                <a16:creationId xmlns:a16="http://schemas.microsoft.com/office/drawing/2014/main" id="{0A803CC6-DD7B-E7CD-2227-ACC292A5C399}"/>
              </a:ext>
            </a:extLst>
          </p:cNvPr>
          <p:cNvSpPr>
            <a:spLocks xmlns:a="http://schemas.openxmlformats.org/drawingml/2006/main" noGrp="1"/>
          </p:cNvSpPr>
          <p:nvPr/>
        </p:nvSpPr>
        <p:spPr>
          <a:xfrm xmlns:a="http://schemas.openxmlformats.org/drawingml/2006/main">
            <a:off x="2821946" y="5458770"/>
            <a:ext cx="2004054" cy="339939"/>
          </a:xfrm>
          <a:prstGeom xmlns:a="http://schemas.openxmlformats.org/drawingml/2006/main" prst="roundRect">
            <a:avLst>
              <a:gd name="adj" fmla="val 11479"/>
            </a:avLst>
          </a:prstGeom>
          <a:solidFill xmlns:a="http://schemas.openxmlformats.org/drawingml/2006/main">
            <a:schemeClr val="bg1">
              <a:lumMod val="75000"/>
              <a:lumOff val="25000"/>
            </a:schemeClr>
          </a:solidFill>
          <a:ln xmlns:a="http://schemas.openxmlformats.org/drawingml/2006/main">
            <a:noFill/>
          </a:ln>
        </p:spPr>
        <p:txBody>
          <a:bodyPr xmlns:a="http://schemas.openxmlformats.org/drawingml/2006/main" spcFirstLastPara="1" wrap="square" lIns="118872" tIns="121875" rIns="121875" bIns="121875" anchor="ctr">
            <a:noAutofit/>
          </a:bodyPr>
          <a:lstStyle xmlns:a="http://schemas.openxmlformats.org/drawingml/2006/main"/>
          <a:p xmlns:a="http://schemas.openxmlformats.org/drawingml/2006/main">
            <a:pPr algn="ctr">
              <a:buNone/>
            </a:pPr>
            <a:r>
              <a:rPr sz="1100"/>
              <a:t>Check: lake build</a:t>
            </a:r>
          </a:p>
        </p:txBody>
      </p:sp>
    </p:spTree>
    <p:extLst>
      <p:ext uri="{BB962C8B-B14F-4D97-AF65-F5344CB8AC3E}">
        <p14:creationId xmlns:p14="http://schemas.microsoft.com/office/powerpoint/2010/main" val="4291209019"/>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979AC8B6-148F-970D-D8DE-AD2E0AB19BC8}"/>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a:noAutofit/>
          </a:bodyPr>
          <a:lstStyle xmlns:a="http://schemas.openxmlformats.org/drawingml/2006/main"/>
          <a:p xmlns:a="http://schemas.openxmlformats.org/drawingml/2006/main">
            <a:r>
              <a:rPr sz="7200"/>
              <a:t>Read the program</a:t>
            </a:r>
          </a:p>
          <a:p xmlns:a="http://schemas.openxmlformats.org/drawingml/2006/main">
            <a:r>
              <a:rPr sz="7200"/>
              <a:t>Follow the theorem</a:t>
            </a:r>
          </a:p>
        </p:txBody>
      </p:sp>
      <p:sp>
        <p:nvSpPr>
          <p:cNvPr id="5" name="Subtitle 4">
            <a:extLst xmlns:a="http://schemas.openxmlformats.org/drawingml/2006/main">
              <a:ext uri="{FF2B5EF4-FFF2-40B4-BE49-F238E27FC236}">
                <a16:creationId xmlns:a16="http://schemas.microsoft.com/office/drawing/2014/main" id="{A8E1F2E1-786A-48AE-5E52-007228284270}"/>
              </a:ext>
            </a:extLst>
          </p:cNvPr>
          <p:cNvSpPr>
            <a:spLocks xmlns:a="http://schemas.openxmlformats.org/drawingml/2006/main" noGrp="1"/>
          </p:cNvSpPr>
          <p:nvPr>
            <p:ph type="subTitle" idx="1"/>
          </p:nvPr>
        </p:nvSpPr>
        <p:spPr>
          <a:xfrm xmlns:a="http://schemas.openxmlformats.org/drawingml/2006/main">
            <a:off x="393700" y="4973320"/>
            <a:ext cx="3568700" cy="1080246"/>
          </a:xfrm>
        </p:spPr>
        <p:txBody>
          <a:bodyPr xmlns:a="http://schemas.openxmlformats.org/drawingml/2006/main">
            <a:noAutofit/>
          </a:bodyPr>
          <a:lstStyle xmlns:a="http://schemas.openxmlformats.org/drawingml/2006/main"/>
          <a:p xmlns:a="http://schemas.openxmlformats.org/drawingml/2006/main">
            <a:r>
              <a:rPr sz="2000"/>
              <a:t>README.md</a:t>
            </a:r>
          </a:p>
          <a:p xmlns:a="http://schemas.openxmlformats.org/drawingml/2006/main">
            <a:r>
              <a:rPr sz="2000"/>
              <a:t>Architecture guide</a:t>
            </a:r>
          </a:p>
          <a:p xmlns:a="http://schemas.openxmlformats.org/drawingml/2006/main">
            <a:r>
              <a:rPr sz="2000"/>
              <a:t>Executable examples</a:t>
            </a:r>
          </a:p>
        </p:txBody>
      </p:sp>
      <p:sp>
        <p:nvSpPr>
          <p:cNvPr id="6" name="Subtitle 4">
            <a:extLst xmlns:a="http://schemas.openxmlformats.org/drawingml/2006/main">
              <a:ext uri="{FF2B5EF4-FFF2-40B4-BE49-F238E27FC236}">
                <a16:creationId xmlns:a16="http://schemas.microsoft.com/office/drawing/2014/main" id="{A94AB779-D110-4562-575A-800C929A77DB}"/>
              </a:ext>
            </a:extLst>
          </p:cNvPr>
          <p:cNvSpPr>
            <a:spLocks xmlns:a="http://schemas.openxmlformats.org/drawingml/2006/main" noGrp="1"/>
          </p:cNvSpPr>
          <p:nvPr/>
        </p:nvSpPr>
        <p:spPr>
          <a:xfrm xmlns:a="http://schemas.openxmlformats.org/drawingml/2006/main">
            <a:off x="393700" y="392241"/>
            <a:ext cx="16129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800"/>
              <a:t>AlgoLib</a:t>
            </a:r>
          </a:p>
        </p:txBody>
      </p:sp>
    </p:spTree>
    <p:extLst>
      <p:ext uri="{BB962C8B-B14F-4D97-AF65-F5344CB8AC3E}">
        <p14:creationId xmlns:p14="http://schemas.microsoft.com/office/powerpoint/2010/main" val="3653678558"/>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2026-09-05T15:05:11.6050000Z</dcterms:created>
  <dcterms:modified xsi:type="dcterms:W3CDTF">2026-09-05T15:05:11.6050000Z</dcterms:modified>
</coreProperties>
</file>